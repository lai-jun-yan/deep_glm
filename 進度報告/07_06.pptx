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9D09AC-6EE0-4C9B-8D66-F50E2368F803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D7F6D-8C4A-48BB-995B-32A95E4677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3288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309114-AC9C-36DF-72F6-17098792D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49A0242-9A9E-A890-34D0-E574CC102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75F624-E4C5-D318-0BE8-D3E117016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131D6-A238-4338-A765-DC2B1BFFF06D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D753DAC-D562-FF3A-1740-68BAA471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9F87DE-FA6F-2F24-CB0E-503E32F9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3994-8423-4205-BAB8-B4DE6E4FA6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674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84D2E1-8B42-58BF-50E0-816D4627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CF4ED9-C7E4-5153-3E58-E4BB1B99E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A4AA55-5B77-E81E-19BC-38D71BDD6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63AE6-FC65-4E73-A051-DA0D98DB2E65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4F3152-A78D-A3C9-3C88-2035926A7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BA0762-5BF0-3A5A-4326-3670906D6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3994-8423-4205-BAB8-B4DE6E4FA6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7772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A017F-6FCC-5A33-FAA8-67CF8EEB8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F1D5300-ACC5-8B81-2648-622B30086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EAB1AD-7155-3E3E-BAEA-010F50DC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47FF-EC50-46CC-9190-52089E779FF8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0E07D7-9695-73A3-C0B9-277B2C654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619C10-31CB-F7E1-9890-AB46D52C9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3994-8423-4205-BAB8-B4DE6E4FA6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4861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C92A3D-49F0-2F4C-7C93-6B38E56B3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D5DD7E-9F3E-A7AE-97CD-269E548541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9EE3087-BEBC-18A6-A51E-66C79BF00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BE5617E-5237-7650-00BC-263EA33A1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175D1-8680-4075-A1E7-77EB0AEE3825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F77BB6A-F1D6-68D7-8ECD-D2DF8F074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C940E4-FDCC-7898-1060-E07ECD7CC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3994-8423-4205-BAB8-B4DE6E4FA6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7129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144EB7-5714-D873-78B7-07CA6533D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24CC1B0-1229-A14E-51A8-57F3585A9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C7C9CCF-01F3-A7D4-1564-0B5886C4E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B727E94-4A61-CBE9-A440-2546E495B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FCBBBD3-5716-F84D-8C4C-AED36BD8F9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217D9E8-C5C5-3051-31BD-BD39D80FB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C4E76-EF19-47FA-8D8C-33748322837C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582666B-35C2-4D65-C754-B80438B34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0EFD0F2-199E-8F99-677F-874B45259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3994-8423-4205-BAB8-B4DE6E4FA6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995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68E960-028E-2928-A16C-75F5D7D7A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60C935F-8418-6CD9-9239-1ECBF0CAC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B9F2B-945D-4B52-8063-ACF1AAD13824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6D51840-9A2A-CC9F-2A5C-29B2F5C59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79BA5DB-5C3E-6DA3-645F-5DEE5DE66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3994-8423-4205-BAB8-B4DE6E4FA6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0103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9E399EA-F585-50B4-4B7A-8618C4AD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17938-E43F-4A30-99B1-96EF33A02F68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4C734B1-B916-F27A-8D87-EBC7E5C90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145B67-F062-FF57-2D52-C58BBBDFA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3994-8423-4205-BAB8-B4DE6E4FA6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0546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2BA0C5-1B00-EAE5-3A87-A97FC42C5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C1F578-A4EC-8D43-B920-5719D3DA6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6F2975F-B32D-45C2-D0E6-DF9DB222D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371AC0D-20B1-934D-3681-79D396D02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2DBD-76B4-4B03-A84F-AC46D7803494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7DEB4A2-6921-D8CA-7702-311EB3905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CB95A7A-16FC-033B-4C37-44ACEB93F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3994-8423-4205-BAB8-B4DE6E4FA6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3095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DDA34B-A263-7D19-FF7C-DEB3EB588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138B653-4672-3FC0-A0CF-0673CF8ACB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5CFA8B1-5AE8-1A70-6009-D7070F6D6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21AAE7E-D90D-58F3-362E-376C0BC81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D3A9-2CC8-40C7-A91F-5DA602AECE4B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EA43507-9ED4-220C-99AE-52382313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7339129-8ECE-1646-5D76-9F5EEF5F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3994-8423-4205-BAB8-B4DE6E4FA6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9929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491491-4F2C-EC2A-0B9B-43B52F077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4142D81-10A6-0605-E3D5-9330BC50F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FCF102-E9D3-FDC4-825D-E4791BD9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97145-2100-41F8-8E3C-EED0445BAF41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9D2944-3444-9E44-A8D7-EF0787214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F658BD-C1BF-8844-F552-F78D1A3DD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3994-8423-4205-BAB8-B4DE6E4FA6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7770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E70B07E-42BA-9D5F-9F54-E1FC7AFFFA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270B8A5-301A-A3BB-62F8-394A13C3D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FF0105-2F8B-7DF1-3D55-05B0B2E57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4C43-15A4-43DD-A642-C85027DFA24D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5F8670-09A5-A7CD-1F8B-0715AB1B0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DE7574-6FEE-93F0-0B6D-EDD505E6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3994-8423-4205-BAB8-B4DE6E4FA6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8895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2607C68-226F-532D-52D4-A5CD75A0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8D51C42-CB1B-8561-67F5-1D336CE39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C56482-1185-CFEF-B494-11481E11F8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AEE9B-8E7C-4130-BF4B-25198BAEE2E4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4F2B19-A426-C860-82DE-6B78E1F230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C6B87B-EB18-E293-9733-246A18DBC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A3994-8423-4205-BAB8-B4DE6E4FA6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153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83D266-0079-ABA4-2A7B-E12CF9DD93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5400" dirty="0">
                <a:latin typeface="標楷體" panose="03000509000000000000" pitchFamily="65" charset="-120"/>
                <a:ea typeface="標楷體" panose="03000509000000000000" pitchFamily="65" charset="-120"/>
              </a:rPr>
              <a:t>碩論進度報告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27878B6-DC64-367C-E133-96B7DCB2A7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2026.07.06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287791-D575-50CC-A471-24BFDDFF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3994-8423-4205-BAB8-B4DE6E4FA69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890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A903C3-E817-F10F-7B9E-0DE921EDA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計畫目標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CA238C5-D737-40EC-F58E-23DCDE31051A}"/>
              </a:ext>
            </a:extLst>
          </p:cNvPr>
          <p:cNvSpPr txBox="1"/>
          <p:nvPr/>
        </p:nvSpPr>
        <p:spPr>
          <a:xfrm>
            <a:off x="1528092" y="1832529"/>
            <a:ext cx="8511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將</a:t>
            </a:r>
            <a:r>
              <a:rPr lang="en-US" altLang="zh-TW" sz="2000" dirty="0">
                <a:latin typeface="+mn-ea"/>
              </a:rPr>
              <a:t>GLM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模型套入</a:t>
            </a:r>
            <a:r>
              <a:rPr lang="en-US" altLang="zh-TW" sz="2000" dirty="0">
                <a:latin typeface="+mn-ea"/>
              </a:rPr>
              <a:t>attention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機制，希望透過機器學習的方式，提升預測能力之外，也能保持傳統統計模型的可解釋性。</a:t>
            </a:r>
            <a:endParaRPr lang="zh-TW" altLang="en-US" sz="20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14D2F80-12F8-7FA2-49E3-81018CFB7131}"/>
              </a:ext>
            </a:extLst>
          </p:cNvPr>
          <p:cNvSpPr txBox="1"/>
          <p:nvPr/>
        </p:nvSpPr>
        <p:spPr>
          <a:xfrm>
            <a:off x="2037455" y="3186451"/>
            <a:ext cx="908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---------</a:t>
            </a:r>
            <a:endParaRPr lang="zh-TW" altLang="en-US" dirty="0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F207D19B-6876-3991-08A2-E122EEABE916}"/>
              </a:ext>
            </a:extLst>
          </p:cNvPr>
          <p:cNvCxnSpPr/>
          <p:nvPr/>
        </p:nvCxnSpPr>
        <p:spPr>
          <a:xfrm>
            <a:off x="1742883" y="2837209"/>
            <a:ext cx="0" cy="33426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3555A708-5E70-17A5-F613-91E9119A7D85}"/>
              </a:ext>
            </a:extLst>
          </p:cNvPr>
          <p:cNvSpPr txBox="1"/>
          <p:nvPr/>
        </p:nvSpPr>
        <p:spPr>
          <a:xfrm>
            <a:off x="3025498" y="3186451"/>
            <a:ext cx="2712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+mn-ea"/>
              </a:rPr>
              <a:t>GLM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模型的</a:t>
            </a:r>
            <a:r>
              <a:rPr lang="en-US" altLang="zh-TW" dirty="0">
                <a:latin typeface="+mn-ea"/>
              </a:rPr>
              <a:t>input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是甚麼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BC096E8-B84E-17F8-6467-75B6C96F5826}"/>
              </a:ext>
            </a:extLst>
          </p:cNvPr>
          <p:cNvSpPr txBox="1"/>
          <p:nvPr/>
        </p:nvSpPr>
        <p:spPr>
          <a:xfrm>
            <a:off x="2037455" y="4201819"/>
            <a:ext cx="908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---------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FA0E81D-119F-508F-3DB5-14F7DDA26305}"/>
              </a:ext>
            </a:extLst>
          </p:cNvPr>
          <p:cNvSpPr txBox="1"/>
          <p:nvPr/>
        </p:nvSpPr>
        <p:spPr>
          <a:xfrm>
            <a:off x="3025498" y="4201819"/>
            <a:ext cx="4627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+mn-ea"/>
              </a:rPr>
              <a:t>Attention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的機制扮演什麼角色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E2A18DE-FD33-DFBF-6249-AEA9BE6DEC7E}"/>
              </a:ext>
            </a:extLst>
          </p:cNvPr>
          <p:cNvSpPr txBox="1"/>
          <p:nvPr/>
        </p:nvSpPr>
        <p:spPr>
          <a:xfrm>
            <a:off x="2037455" y="5342262"/>
            <a:ext cx="908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---------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AEAE3D6-4977-0033-19D1-3675640239D2}"/>
              </a:ext>
            </a:extLst>
          </p:cNvPr>
          <p:cNvSpPr txBox="1"/>
          <p:nvPr/>
        </p:nvSpPr>
        <p:spPr>
          <a:xfrm>
            <a:off x="3025499" y="5342262"/>
            <a:ext cx="232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模型最後的長相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1EEA459B-FF71-81A1-55AF-A2AEF934E227}"/>
              </a:ext>
            </a:extLst>
          </p:cNvPr>
          <p:cNvCxnSpPr/>
          <p:nvPr/>
        </p:nvCxnSpPr>
        <p:spPr>
          <a:xfrm>
            <a:off x="6044860" y="3413658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199F8FB-B471-434F-3353-75386A7ACD22}"/>
              </a:ext>
            </a:extLst>
          </p:cNvPr>
          <p:cNvSpPr txBox="1"/>
          <p:nvPr/>
        </p:nvSpPr>
        <p:spPr>
          <a:xfrm>
            <a:off x="7302927" y="3186451"/>
            <a:ext cx="3727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不同類型變數的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embedding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問題</a:t>
            </a:r>
            <a:endParaRPr lang="en-US" altLang="zh-TW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CEB27A54-9FE6-B22C-EBA2-2635424C8F24}"/>
              </a:ext>
            </a:extLst>
          </p:cNvPr>
          <p:cNvCxnSpPr/>
          <p:nvPr/>
        </p:nvCxnSpPr>
        <p:spPr>
          <a:xfrm>
            <a:off x="6388527" y="4399271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3EF9A6FF-5C1D-689C-B3C2-B9BB00DAB380}"/>
              </a:ext>
            </a:extLst>
          </p:cNvPr>
          <p:cNvSpPr txBox="1"/>
          <p:nvPr/>
        </p:nvSpPr>
        <p:spPr>
          <a:xfrm>
            <a:off x="7553517" y="4201819"/>
            <a:ext cx="3727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模型解釋性的問題</a:t>
            </a:r>
            <a:endParaRPr lang="en-US" altLang="zh-TW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53B2DDD9-EB3F-9D1E-9730-65733B3DEBFE}"/>
              </a:ext>
            </a:extLst>
          </p:cNvPr>
          <p:cNvCxnSpPr/>
          <p:nvPr/>
        </p:nvCxnSpPr>
        <p:spPr>
          <a:xfrm>
            <a:off x="5280813" y="5558125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A05331D-8F1D-0860-F8CF-B36A95CD3FA7}"/>
              </a:ext>
            </a:extLst>
          </p:cNvPr>
          <p:cNvSpPr txBox="1"/>
          <p:nvPr/>
        </p:nvSpPr>
        <p:spPr>
          <a:xfrm>
            <a:off x="6656505" y="5342262"/>
            <a:ext cx="3727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+mn-ea"/>
              </a:rPr>
              <a:t>GLM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模型各項係數的統計意義</a:t>
            </a:r>
            <a:endParaRPr lang="en-US" altLang="zh-TW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" name="投影片編號版面配置區 29">
            <a:extLst>
              <a:ext uri="{FF2B5EF4-FFF2-40B4-BE49-F238E27FC236}">
                <a16:creationId xmlns:a16="http://schemas.microsoft.com/office/drawing/2014/main" id="{8A104490-FCBF-24BE-A77B-14A655CA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3994-8423-4205-BAB8-B4DE6E4FA69D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5326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30FC5-936B-1E67-351C-9EEBC9C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45FCEF-91E0-56FE-692B-EB9BEA9BF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文獻回顧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—</a:t>
            </a:r>
            <a:r>
              <a:rPr lang="zh-TW" altLang="zh-TW" dirty="0"/>
              <a:t>Kuo &amp; Richman 2021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8669462-7794-2B75-A5EE-CC24F9EA2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3994-8423-4205-BAB8-B4DE6E4FA69D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372C8051-909B-0F68-AA72-86A0F716C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718" y="3788749"/>
            <a:ext cx="5941610" cy="1991564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4EEDB129-510F-5EFB-1C9C-3EA57C9CA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328" y="4675166"/>
            <a:ext cx="4537734" cy="995969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BA06BD7C-DF88-576B-2D0D-4812A9A1F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247" y="3935021"/>
            <a:ext cx="2303068" cy="593873"/>
          </a:xfrm>
          <a:prstGeom prst="rect">
            <a:avLst/>
          </a:prstGeom>
        </p:spPr>
      </p:pic>
      <p:sp>
        <p:nvSpPr>
          <p:cNvPr id="31" name="文字方塊 30">
            <a:extLst>
              <a:ext uri="{FF2B5EF4-FFF2-40B4-BE49-F238E27FC236}">
                <a16:creationId xmlns:a16="http://schemas.microsoft.com/office/drawing/2014/main" id="{08D4D5FF-6B15-C4C8-3030-2A502FF5C065}"/>
              </a:ext>
            </a:extLst>
          </p:cNvPr>
          <p:cNvSpPr txBox="1"/>
          <p:nvPr/>
        </p:nvSpPr>
        <p:spPr>
          <a:xfrm>
            <a:off x="999347" y="2134424"/>
            <a:ext cx="5457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Model3:</a:t>
            </a:r>
            <a:r>
              <a:rPr lang="zh-TW" altLang="en-US" dirty="0"/>
              <a:t> </a:t>
            </a:r>
            <a:r>
              <a:rPr lang="zh-TW" altLang="zh-TW" dirty="0"/>
              <a:t>GLM</a:t>
            </a:r>
            <a:r>
              <a:rPr lang="zh-TW" altLang="en-US" dirty="0"/>
              <a:t> </a:t>
            </a:r>
            <a:r>
              <a:rPr lang="zh-TW" altLang="zh-TW" dirty="0"/>
              <a:t>with</a:t>
            </a:r>
            <a:r>
              <a:rPr lang="zh-TW" altLang="en-US" dirty="0"/>
              <a:t> </a:t>
            </a:r>
            <a:r>
              <a:rPr lang="zh-TW" altLang="zh-TW" dirty="0"/>
              <a:t>Neural</a:t>
            </a:r>
            <a:r>
              <a:rPr lang="zh-TW" altLang="en-US" dirty="0"/>
              <a:t> </a:t>
            </a:r>
            <a:r>
              <a:rPr lang="zh-TW" altLang="zh-TW" dirty="0"/>
              <a:t>Network</a:t>
            </a:r>
            <a:r>
              <a:rPr lang="zh-TW" altLang="en-US" dirty="0"/>
              <a:t> </a:t>
            </a:r>
            <a:r>
              <a:rPr lang="zh-TW" altLang="zh-TW" dirty="0"/>
              <a:t>Embeddings</a:t>
            </a:r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34DB83D4-716D-ACB7-FAA9-B1C8913CCE5D}"/>
              </a:ext>
            </a:extLst>
          </p:cNvPr>
          <p:cNvSpPr txBox="1"/>
          <p:nvPr/>
        </p:nvSpPr>
        <p:spPr>
          <a:xfrm>
            <a:off x="6878328" y="4025437"/>
            <a:ext cx="1396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變數數量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677EBD2-2B48-DC31-4009-6B4C3EE25561}"/>
              </a:ext>
            </a:extLst>
          </p:cNvPr>
          <p:cNvSpPr txBox="1"/>
          <p:nvPr/>
        </p:nvSpPr>
        <p:spPr>
          <a:xfrm>
            <a:off x="999347" y="2827980"/>
            <a:ext cx="5021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如果模型只針對類別變數做</a:t>
            </a:r>
            <a:r>
              <a:rPr lang="en-US" altLang="zh-TW" dirty="0">
                <a:latin typeface="+mn-ea"/>
              </a:rPr>
              <a:t>u</a:t>
            </a:r>
            <a:r>
              <a:rPr lang="zh-TW" altLang="zh-TW" dirty="0">
                <a:latin typeface="+mn-ea"/>
              </a:rPr>
              <a:t>nidimensional</a:t>
            </a:r>
            <a:r>
              <a:rPr lang="en-US" altLang="zh-TW" dirty="0">
                <a:latin typeface="+mn-ea"/>
              </a:rPr>
              <a:t> embeddings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，且套用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MLP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，流程圖如下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1A1CA2B-D867-DA74-6CDB-F868516C04D9}"/>
              </a:ext>
            </a:extLst>
          </p:cNvPr>
          <p:cNvSpPr/>
          <p:nvPr/>
        </p:nvSpPr>
        <p:spPr>
          <a:xfrm>
            <a:off x="9519781" y="3980228"/>
            <a:ext cx="713983" cy="5034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38AF201E-E81A-6B8B-96E3-30940BCB6F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224" y="2134424"/>
            <a:ext cx="4537735" cy="145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50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F101E-43D2-1405-6A34-581B93617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20318D-FBCB-756C-6703-8BBF49128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文獻回顧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—</a:t>
            </a:r>
            <a:r>
              <a:rPr lang="zh-TW" altLang="zh-TW" dirty="0"/>
              <a:t>Kuo &amp; Richman 2021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AF62A86-6192-7480-E5C2-627F2DC60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3994-8423-4205-BAB8-B4DE6E4FA69D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E972F33-75C7-CEEB-D263-104F11DF1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615" y="2213908"/>
            <a:ext cx="5152569" cy="329121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F38E2E6-36A1-AACB-42C2-A4DB812D4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32" y="3236720"/>
            <a:ext cx="5069264" cy="1421725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1F8BE351-CF79-9167-CED5-3B6748E2F767}"/>
              </a:ext>
            </a:extLst>
          </p:cNvPr>
          <p:cNvSpPr txBox="1"/>
          <p:nvPr/>
        </p:nvSpPr>
        <p:spPr>
          <a:xfrm>
            <a:off x="838200" y="2464495"/>
            <a:ext cx="5021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如果模型針對類別變數做</a:t>
            </a:r>
            <a:r>
              <a:rPr lang="en-US" altLang="zh-TW" dirty="0">
                <a:latin typeface="+mn-ea"/>
                <a:ea typeface="標楷體" panose="03000509000000000000" pitchFamily="65" charset="-120"/>
              </a:rPr>
              <a:t>m</a:t>
            </a:r>
            <a:r>
              <a:rPr lang="zh-TW" altLang="zh-TW" dirty="0">
                <a:latin typeface="+mn-ea"/>
              </a:rPr>
              <a:t>ultidimensional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embeddings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en-US" altLang="zh-TW" dirty="0">
                <a:latin typeface="+mn-ea"/>
              </a:rPr>
              <a:t>MLP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訓練，表如下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456E10B-832D-2CF2-E2D7-BC1115A33731}"/>
              </a:ext>
            </a:extLst>
          </p:cNvPr>
          <p:cNvSpPr txBox="1"/>
          <p:nvPr/>
        </p:nvSpPr>
        <p:spPr>
          <a:xfrm>
            <a:off x="4378099" y="5833130"/>
            <a:ext cx="3262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變數無法直觀解釋</a:t>
            </a:r>
            <a:endParaRPr lang="en-US" altLang="zh-TW" sz="28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4A1897F-6C85-A13F-FC13-AB8DDCAAC27C}"/>
              </a:ext>
            </a:extLst>
          </p:cNvPr>
          <p:cNvSpPr txBox="1"/>
          <p:nvPr/>
        </p:nvSpPr>
        <p:spPr>
          <a:xfrm>
            <a:off x="6656018" y="1567577"/>
            <a:ext cx="35339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>
                <a:latin typeface="+mn-ea"/>
              </a:rPr>
              <a:t>Attention based modeling</a:t>
            </a:r>
            <a:r>
              <a:rPr lang="zh-TW" altLang="en-US" dirty="0"/>
              <a:t>，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更新之</a:t>
            </a:r>
            <a:r>
              <a:rPr lang="en-US" altLang="zh-TW" dirty="0">
                <a:latin typeface="+mn-ea"/>
              </a:rPr>
              <a:t>embedding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不會套入</a:t>
            </a:r>
            <a:r>
              <a:rPr lang="en-US" altLang="zh-TW" dirty="0">
                <a:latin typeface="+mn-ea"/>
              </a:rPr>
              <a:t>GLM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1969004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53D41-5277-1818-1CC7-BE13FD995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FFF25F-8EB5-004F-3368-FC428E4EE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問題一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en-US" altLang="zh-TW" dirty="0">
                <a:latin typeface="+mn-ea"/>
              </a:rPr>
              <a:t>GLM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模型的</a:t>
            </a:r>
            <a:r>
              <a:rPr lang="en-US" altLang="zh-TW" dirty="0">
                <a:latin typeface="+mn-ea"/>
              </a:rPr>
              <a:t>input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是甚麼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905A667-A8EC-8C53-CAF8-697306A7B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3994-8423-4205-BAB8-B4DE6E4FA69D}" type="slidenum">
              <a:rPr lang="zh-TW" altLang="en-US" smtClean="0"/>
              <a:t>5</a:t>
            </a:fld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8887DA0-3F53-75B2-1AE8-87BD79BD6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71554"/>
              </p:ext>
            </p:extLst>
          </p:nvPr>
        </p:nvGraphicFramePr>
        <p:xfrm>
          <a:off x="475421" y="3720270"/>
          <a:ext cx="5702103" cy="130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701">
                  <a:extLst>
                    <a:ext uri="{9D8B030D-6E8A-4147-A177-3AD203B41FA5}">
                      <a16:colId xmlns:a16="http://schemas.microsoft.com/office/drawing/2014/main" val="2054622038"/>
                    </a:ext>
                  </a:extLst>
                </a:gridCol>
                <a:gridCol w="1900701">
                  <a:extLst>
                    <a:ext uri="{9D8B030D-6E8A-4147-A177-3AD203B41FA5}">
                      <a16:colId xmlns:a16="http://schemas.microsoft.com/office/drawing/2014/main" val="2597303382"/>
                    </a:ext>
                  </a:extLst>
                </a:gridCol>
                <a:gridCol w="1900701">
                  <a:extLst>
                    <a:ext uri="{9D8B030D-6E8A-4147-A177-3AD203B41FA5}">
                      <a16:colId xmlns:a16="http://schemas.microsoft.com/office/drawing/2014/main" val="1393716250"/>
                    </a:ext>
                  </a:extLst>
                </a:gridCol>
              </a:tblGrid>
              <a:tr h="650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X1(</a:t>
                      </a:r>
                      <a:r>
                        <a:rPr lang="zh-TW" altLang="en-US" b="0" dirty="0">
                          <a:solidFill>
                            <a:schemeClr val="tx1"/>
                          </a:solidFill>
                        </a:rPr>
                        <a:t>連續</a:t>
                      </a:r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X2(</a:t>
                      </a:r>
                      <a:r>
                        <a:rPr lang="zh-TW" altLang="en-US" b="0" dirty="0">
                          <a:solidFill>
                            <a:schemeClr val="tx1"/>
                          </a:solidFill>
                        </a:rPr>
                        <a:t>二元</a:t>
                      </a:r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X3(</a:t>
                      </a:r>
                      <a:r>
                        <a:rPr lang="zh-TW" altLang="en-US" b="0" dirty="0">
                          <a:solidFill>
                            <a:schemeClr val="tx1"/>
                          </a:solidFill>
                        </a:rPr>
                        <a:t>三組以上類別</a:t>
                      </a:r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429597"/>
                  </a:ext>
                </a:extLst>
              </a:tr>
              <a:tr h="650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zh-TW" altLang="en-US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~</a:t>
                      </a:r>
                      <a:r>
                        <a:rPr lang="zh-TW" altLang="en-US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255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0/255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0/255</a:t>
                      </a:r>
                      <a:r>
                        <a:rPr lang="zh-TW" altLang="en-US" b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0/255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585401"/>
                  </a:ext>
                </a:extLst>
              </a:tr>
            </a:tbl>
          </a:graphicData>
        </a:graphic>
      </p:graphicFrame>
      <p:sp>
        <p:nvSpPr>
          <p:cNvPr id="13" name="文字方塊 12">
            <a:extLst>
              <a:ext uri="{FF2B5EF4-FFF2-40B4-BE49-F238E27FC236}">
                <a16:creationId xmlns:a16="http://schemas.microsoft.com/office/drawing/2014/main" id="{6CC73471-3786-9016-6E66-F6B7D36656B5}"/>
              </a:ext>
            </a:extLst>
          </p:cNvPr>
          <p:cNvSpPr txBox="1"/>
          <p:nvPr/>
        </p:nvSpPr>
        <p:spPr>
          <a:xfrm>
            <a:off x="4584789" y="5274123"/>
            <a:ext cx="1689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(蕭晴宇 2025)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B7176E26-3FE7-988A-E0FF-E85E04AAE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370" y="2438411"/>
            <a:ext cx="3664138" cy="3816546"/>
          </a:xfrm>
          <a:prstGeom prst="rect">
            <a:avLst/>
          </a:prstGeom>
        </p:spPr>
      </p:pic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ACAA4E29-FF41-0A79-0B30-6C753E0D5A54}"/>
              </a:ext>
            </a:extLst>
          </p:cNvPr>
          <p:cNvCxnSpPr/>
          <p:nvPr/>
        </p:nvCxnSpPr>
        <p:spPr>
          <a:xfrm>
            <a:off x="6629926" y="4719357"/>
            <a:ext cx="91440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2A26003-4586-03BD-2770-E8E62DF5A9CD}"/>
              </a:ext>
            </a:extLst>
          </p:cNvPr>
          <p:cNvSpPr txBox="1"/>
          <p:nvPr/>
        </p:nvSpPr>
        <p:spPr>
          <a:xfrm>
            <a:off x="6390575" y="1690688"/>
            <a:ext cx="5506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轉成灰階影像之後排序的意義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</a:p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排序使用到了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Y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的資訊，該如何避免資料洩漏的問題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D1BBB228-2666-7A6A-9F1C-46129EDEF8CE}"/>
              </a:ext>
            </a:extLst>
          </p:cNvPr>
          <p:cNvSpPr txBox="1"/>
          <p:nvPr/>
        </p:nvSpPr>
        <p:spPr>
          <a:xfrm>
            <a:off x="884931" y="5744969"/>
            <a:ext cx="5857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如果只有一維，不適用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attention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的機制；且此法非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pretrained embeddings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，仍然需要用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NN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更新。</a:t>
            </a:r>
            <a:endParaRPr lang="en-US" altLang="zh-TW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AC04C28-1A55-C59F-7A84-E21FCBE424E0}"/>
              </a:ext>
            </a:extLst>
          </p:cNvPr>
          <p:cNvSpPr txBox="1"/>
          <p:nvPr/>
        </p:nvSpPr>
        <p:spPr>
          <a:xfrm>
            <a:off x="2152032" y="2912870"/>
            <a:ext cx="2803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zh-TW" dirty="0"/>
              <a:t>Kuo &amp; Richman 2021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0" name="圖片 39">
            <a:extLst>
              <a:ext uri="{FF2B5EF4-FFF2-40B4-BE49-F238E27FC236}">
                <a16:creationId xmlns:a16="http://schemas.microsoft.com/office/drawing/2014/main" id="{96060F26-E64A-B216-F4D8-F2024F054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49" y="1556835"/>
            <a:ext cx="3919858" cy="1453773"/>
          </a:xfrm>
          <a:prstGeom prst="rect">
            <a:avLst/>
          </a:prstGeom>
        </p:spPr>
      </p:pic>
      <p:sp>
        <p:nvSpPr>
          <p:cNvPr id="44" name="文字方塊 43">
            <a:extLst>
              <a:ext uri="{FF2B5EF4-FFF2-40B4-BE49-F238E27FC236}">
                <a16:creationId xmlns:a16="http://schemas.microsoft.com/office/drawing/2014/main" id="{E9687972-6C22-CD65-D14F-1201E3B412B7}"/>
              </a:ext>
            </a:extLst>
          </p:cNvPr>
          <p:cNvSpPr txBox="1"/>
          <p:nvPr/>
        </p:nvSpPr>
        <p:spPr>
          <a:xfrm>
            <a:off x="4639507" y="2903243"/>
            <a:ext cx="206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針對</a:t>
            </a:r>
            <a:r>
              <a:rPr lang="en-US" altLang="zh-TW" dirty="0">
                <a:latin typeface="+mn-ea"/>
              </a:rPr>
              <a:t>X3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，其實我覺得可以參考這篇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40008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125B8-D45B-BA62-5C14-6AFF34B9F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AD2C7-7272-E101-997A-33BE8B9B5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文獻回顧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—</a:t>
            </a:r>
            <a:r>
              <a:rPr lang="zh-TW" altLang="zh-TW" dirty="0"/>
              <a:t>Attention Is All You Need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75D0C41-311C-C382-37E6-D81CA4B47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3994-8423-4205-BAB8-B4DE6E4FA69D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49B0180-4029-073B-D641-F4C5DDA77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558" y="1638440"/>
            <a:ext cx="4973165" cy="1252273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9EAE4A67-3355-1304-AFC3-334F4ACEF672}"/>
              </a:ext>
            </a:extLst>
          </p:cNvPr>
          <p:cNvSpPr txBox="1"/>
          <p:nvPr/>
        </p:nvSpPr>
        <p:spPr>
          <a:xfrm>
            <a:off x="1434925" y="3284700"/>
            <a:ext cx="2398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+mn-ea"/>
              </a:rPr>
              <a:t>X1	X2	X3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30F852EA-70C5-B221-BEA3-8B98BF790ECC}"/>
              </a:ext>
            </a:extLst>
          </p:cNvPr>
          <p:cNvGrpSpPr/>
          <p:nvPr/>
        </p:nvGrpSpPr>
        <p:grpSpPr>
          <a:xfrm>
            <a:off x="1278233" y="3859607"/>
            <a:ext cx="636276" cy="1653433"/>
            <a:chOff x="1576888" y="4045909"/>
            <a:chExt cx="636276" cy="1653433"/>
          </a:xfrm>
        </p:grpSpPr>
        <p:sp>
          <p:nvSpPr>
            <p:cNvPr id="16" name="左右中括弧 15">
              <a:extLst>
                <a:ext uri="{FF2B5EF4-FFF2-40B4-BE49-F238E27FC236}">
                  <a16:creationId xmlns:a16="http://schemas.microsoft.com/office/drawing/2014/main" id="{09FEB7D1-011A-8CFA-BC47-7E087F282F8A}"/>
                </a:ext>
              </a:extLst>
            </p:cNvPr>
            <p:cNvSpPr/>
            <p:nvPr/>
          </p:nvSpPr>
          <p:spPr>
            <a:xfrm>
              <a:off x="1672689" y="4045909"/>
              <a:ext cx="444674" cy="1653433"/>
            </a:xfrm>
            <a:prstGeom prst="bracketPair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C3448A7-4F4E-098F-BA07-C3D92091AFEC}"/>
                </a:ext>
              </a:extLst>
            </p:cNvPr>
            <p:cNvSpPr txBox="1"/>
            <p:nvPr/>
          </p:nvSpPr>
          <p:spPr>
            <a:xfrm>
              <a:off x="1576888" y="4094468"/>
              <a:ext cx="636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e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1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B8C194CA-9951-16FF-2066-BB558F9C9937}"/>
                </a:ext>
              </a:extLst>
            </p:cNvPr>
            <p:cNvSpPr txBox="1"/>
            <p:nvPr/>
          </p:nvSpPr>
          <p:spPr>
            <a:xfrm>
              <a:off x="1576888" y="4597951"/>
              <a:ext cx="636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e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2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7C507E46-F8CA-35FB-A0E6-274596428E32}"/>
                </a:ext>
              </a:extLst>
            </p:cNvPr>
            <p:cNvSpPr txBox="1"/>
            <p:nvPr/>
          </p:nvSpPr>
          <p:spPr>
            <a:xfrm>
              <a:off x="1576888" y="5114652"/>
              <a:ext cx="636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e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3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9212BDA7-B534-1FA0-EF2B-52F06C7EA68E}"/>
              </a:ext>
            </a:extLst>
          </p:cNvPr>
          <p:cNvGrpSpPr/>
          <p:nvPr/>
        </p:nvGrpSpPr>
        <p:grpSpPr>
          <a:xfrm>
            <a:off x="2255263" y="3859607"/>
            <a:ext cx="636276" cy="1653433"/>
            <a:chOff x="1576888" y="4045909"/>
            <a:chExt cx="636276" cy="1653433"/>
          </a:xfrm>
        </p:grpSpPr>
        <p:sp>
          <p:nvSpPr>
            <p:cNvPr id="25" name="左右中括弧 24">
              <a:extLst>
                <a:ext uri="{FF2B5EF4-FFF2-40B4-BE49-F238E27FC236}">
                  <a16:creationId xmlns:a16="http://schemas.microsoft.com/office/drawing/2014/main" id="{6ADCF3B1-3E9E-61F3-E7B3-4A45C5A82E30}"/>
                </a:ext>
              </a:extLst>
            </p:cNvPr>
            <p:cNvSpPr/>
            <p:nvPr/>
          </p:nvSpPr>
          <p:spPr>
            <a:xfrm>
              <a:off x="1672689" y="4045909"/>
              <a:ext cx="444674" cy="1653433"/>
            </a:xfrm>
            <a:prstGeom prst="bracketPair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F8A457E4-DE02-A042-2122-ED0C6EA58E73}"/>
                </a:ext>
              </a:extLst>
            </p:cNvPr>
            <p:cNvSpPr txBox="1"/>
            <p:nvPr/>
          </p:nvSpPr>
          <p:spPr>
            <a:xfrm>
              <a:off x="1576888" y="4094468"/>
              <a:ext cx="636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e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1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9BB67478-492D-17EF-337F-4408911E0058}"/>
                </a:ext>
              </a:extLst>
            </p:cNvPr>
            <p:cNvSpPr txBox="1"/>
            <p:nvPr/>
          </p:nvSpPr>
          <p:spPr>
            <a:xfrm>
              <a:off x="1576888" y="4597951"/>
              <a:ext cx="636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e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2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96EEAFC1-E373-AD6A-1EB4-796080BA6134}"/>
                </a:ext>
              </a:extLst>
            </p:cNvPr>
            <p:cNvSpPr txBox="1"/>
            <p:nvPr/>
          </p:nvSpPr>
          <p:spPr>
            <a:xfrm>
              <a:off x="1576888" y="5114652"/>
              <a:ext cx="636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e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3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772BE646-FEC0-C33B-7F7F-97AE0910719E}"/>
              </a:ext>
            </a:extLst>
          </p:cNvPr>
          <p:cNvGrpSpPr/>
          <p:nvPr/>
        </p:nvGrpSpPr>
        <p:grpSpPr>
          <a:xfrm>
            <a:off x="3196919" y="3859607"/>
            <a:ext cx="636276" cy="1653433"/>
            <a:chOff x="1576888" y="4045909"/>
            <a:chExt cx="636276" cy="1653433"/>
          </a:xfrm>
        </p:grpSpPr>
        <p:sp>
          <p:nvSpPr>
            <p:cNvPr id="30" name="左右中括弧 29">
              <a:extLst>
                <a:ext uri="{FF2B5EF4-FFF2-40B4-BE49-F238E27FC236}">
                  <a16:creationId xmlns:a16="http://schemas.microsoft.com/office/drawing/2014/main" id="{EB57EA80-0D07-2D28-D059-C037FB2EA904}"/>
                </a:ext>
              </a:extLst>
            </p:cNvPr>
            <p:cNvSpPr/>
            <p:nvPr/>
          </p:nvSpPr>
          <p:spPr>
            <a:xfrm>
              <a:off x="1672689" y="4045909"/>
              <a:ext cx="444674" cy="1653433"/>
            </a:xfrm>
            <a:prstGeom prst="bracketPair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895156B8-568E-6493-CDE8-F516AE3C3372}"/>
                </a:ext>
              </a:extLst>
            </p:cNvPr>
            <p:cNvSpPr txBox="1"/>
            <p:nvPr/>
          </p:nvSpPr>
          <p:spPr>
            <a:xfrm>
              <a:off x="1576888" y="4094468"/>
              <a:ext cx="636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e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1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7B487347-FF32-77FD-3738-555F38201B65}"/>
                </a:ext>
              </a:extLst>
            </p:cNvPr>
            <p:cNvSpPr txBox="1"/>
            <p:nvPr/>
          </p:nvSpPr>
          <p:spPr>
            <a:xfrm>
              <a:off x="1576888" y="4597951"/>
              <a:ext cx="636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e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2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61A70A5D-331A-561D-110C-B0F3C5115579}"/>
                </a:ext>
              </a:extLst>
            </p:cNvPr>
            <p:cNvSpPr txBox="1"/>
            <p:nvPr/>
          </p:nvSpPr>
          <p:spPr>
            <a:xfrm>
              <a:off x="1576888" y="5114652"/>
              <a:ext cx="636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e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3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54C173B4-F740-E3AB-BABC-3F5BED68691B}"/>
              </a:ext>
            </a:extLst>
          </p:cNvPr>
          <p:cNvSpPr txBox="1"/>
          <p:nvPr/>
        </p:nvSpPr>
        <p:spPr>
          <a:xfrm>
            <a:off x="5976910" y="3356386"/>
            <a:ext cx="2398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+mn-ea"/>
              </a:rPr>
              <a:t>Z1	Z2	Z3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D83589C0-A963-91EB-8AFD-3105F2079E30}"/>
              </a:ext>
            </a:extLst>
          </p:cNvPr>
          <p:cNvGrpSpPr/>
          <p:nvPr/>
        </p:nvGrpSpPr>
        <p:grpSpPr>
          <a:xfrm>
            <a:off x="5852038" y="3859608"/>
            <a:ext cx="636276" cy="1653433"/>
            <a:chOff x="7906590" y="3686731"/>
            <a:chExt cx="636276" cy="1653433"/>
          </a:xfrm>
        </p:grpSpPr>
        <p:sp>
          <p:nvSpPr>
            <p:cNvPr id="52" name="左右中括弧 51">
              <a:extLst>
                <a:ext uri="{FF2B5EF4-FFF2-40B4-BE49-F238E27FC236}">
                  <a16:creationId xmlns:a16="http://schemas.microsoft.com/office/drawing/2014/main" id="{591B08D9-E1BB-4231-E0ED-894EFED7093A}"/>
                </a:ext>
              </a:extLst>
            </p:cNvPr>
            <p:cNvSpPr/>
            <p:nvPr/>
          </p:nvSpPr>
          <p:spPr>
            <a:xfrm>
              <a:off x="8002391" y="3686731"/>
              <a:ext cx="444674" cy="1653433"/>
            </a:xfrm>
            <a:prstGeom prst="bracketPair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6FDAD54B-04C9-13F7-A5C5-306D145573C7}"/>
                </a:ext>
              </a:extLst>
            </p:cNvPr>
            <p:cNvSpPr txBox="1"/>
            <p:nvPr/>
          </p:nvSpPr>
          <p:spPr>
            <a:xfrm>
              <a:off x="7906590" y="3735290"/>
              <a:ext cx="636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e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1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FD8AE4F6-E4D0-403F-389D-FCC5C398540C}"/>
                </a:ext>
              </a:extLst>
            </p:cNvPr>
            <p:cNvSpPr txBox="1"/>
            <p:nvPr/>
          </p:nvSpPr>
          <p:spPr>
            <a:xfrm>
              <a:off x="7906590" y="4238773"/>
              <a:ext cx="636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e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2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9A0C1D2A-AA86-B906-DB40-CD63AA8F11B4}"/>
                </a:ext>
              </a:extLst>
            </p:cNvPr>
            <p:cNvSpPr txBox="1"/>
            <p:nvPr/>
          </p:nvSpPr>
          <p:spPr>
            <a:xfrm>
              <a:off x="7906590" y="4755474"/>
              <a:ext cx="636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e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3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7A581814-FC1D-C28C-BF78-0F34DAC8703F}"/>
              </a:ext>
            </a:extLst>
          </p:cNvPr>
          <p:cNvGrpSpPr/>
          <p:nvPr/>
        </p:nvGrpSpPr>
        <p:grpSpPr>
          <a:xfrm>
            <a:off x="6783428" y="3859607"/>
            <a:ext cx="636276" cy="1653433"/>
            <a:chOff x="7906590" y="3686731"/>
            <a:chExt cx="636276" cy="1653433"/>
          </a:xfrm>
        </p:grpSpPr>
        <p:sp>
          <p:nvSpPr>
            <p:cNvPr id="58" name="左右中括弧 57">
              <a:extLst>
                <a:ext uri="{FF2B5EF4-FFF2-40B4-BE49-F238E27FC236}">
                  <a16:creationId xmlns:a16="http://schemas.microsoft.com/office/drawing/2014/main" id="{683790FD-904B-2534-FB95-AE0EE6303A52}"/>
                </a:ext>
              </a:extLst>
            </p:cNvPr>
            <p:cNvSpPr/>
            <p:nvPr/>
          </p:nvSpPr>
          <p:spPr>
            <a:xfrm>
              <a:off x="8002391" y="3686731"/>
              <a:ext cx="444674" cy="1653433"/>
            </a:xfrm>
            <a:prstGeom prst="bracketPair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7787EDB0-F90A-4149-9A18-FDE6AE764F76}"/>
                </a:ext>
              </a:extLst>
            </p:cNvPr>
            <p:cNvSpPr txBox="1"/>
            <p:nvPr/>
          </p:nvSpPr>
          <p:spPr>
            <a:xfrm>
              <a:off x="7906590" y="3735290"/>
              <a:ext cx="636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e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1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59680F12-5244-6AE5-6DF6-8F15E7A85BA9}"/>
                </a:ext>
              </a:extLst>
            </p:cNvPr>
            <p:cNvSpPr txBox="1"/>
            <p:nvPr/>
          </p:nvSpPr>
          <p:spPr>
            <a:xfrm>
              <a:off x="7906590" y="4238773"/>
              <a:ext cx="636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e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2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DEB77416-3B89-27CF-3CB5-423B3E12A45F}"/>
                </a:ext>
              </a:extLst>
            </p:cNvPr>
            <p:cNvSpPr txBox="1"/>
            <p:nvPr/>
          </p:nvSpPr>
          <p:spPr>
            <a:xfrm>
              <a:off x="7906590" y="4755474"/>
              <a:ext cx="636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e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3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AF45A638-21E9-0EC1-90D9-A4C17E4AD43B}"/>
              </a:ext>
            </a:extLst>
          </p:cNvPr>
          <p:cNvGrpSpPr/>
          <p:nvPr/>
        </p:nvGrpSpPr>
        <p:grpSpPr>
          <a:xfrm>
            <a:off x="7675038" y="3859607"/>
            <a:ext cx="636276" cy="1653433"/>
            <a:chOff x="7906590" y="3686731"/>
            <a:chExt cx="636276" cy="1653433"/>
          </a:xfrm>
        </p:grpSpPr>
        <p:sp>
          <p:nvSpPr>
            <p:cNvPr id="63" name="左右中括弧 62">
              <a:extLst>
                <a:ext uri="{FF2B5EF4-FFF2-40B4-BE49-F238E27FC236}">
                  <a16:creationId xmlns:a16="http://schemas.microsoft.com/office/drawing/2014/main" id="{CD240BAB-1B44-9C89-F059-849CE842A44A}"/>
                </a:ext>
              </a:extLst>
            </p:cNvPr>
            <p:cNvSpPr/>
            <p:nvPr/>
          </p:nvSpPr>
          <p:spPr>
            <a:xfrm>
              <a:off x="8002391" y="3686731"/>
              <a:ext cx="444674" cy="1653433"/>
            </a:xfrm>
            <a:prstGeom prst="bracketPair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47715C22-4280-4A0F-EF4C-FDC158B774ED}"/>
                </a:ext>
              </a:extLst>
            </p:cNvPr>
            <p:cNvSpPr txBox="1"/>
            <p:nvPr/>
          </p:nvSpPr>
          <p:spPr>
            <a:xfrm>
              <a:off x="7906590" y="3735290"/>
              <a:ext cx="636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e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1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EAABFC88-465F-A389-8CB9-21A39A75639D}"/>
                </a:ext>
              </a:extLst>
            </p:cNvPr>
            <p:cNvSpPr txBox="1"/>
            <p:nvPr/>
          </p:nvSpPr>
          <p:spPr>
            <a:xfrm>
              <a:off x="7906590" y="4238773"/>
              <a:ext cx="636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e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2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164F0FC7-B0E2-06E8-3B6A-6923BE41C7BE}"/>
                </a:ext>
              </a:extLst>
            </p:cNvPr>
            <p:cNvSpPr txBox="1"/>
            <p:nvPr/>
          </p:nvSpPr>
          <p:spPr>
            <a:xfrm>
              <a:off x="7906590" y="4755474"/>
              <a:ext cx="636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e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3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56CA327-893C-A785-E04D-8648E0441439}"/>
              </a:ext>
            </a:extLst>
          </p:cNvPr>
          <p:cNvCxnSpPr/>
          <p:nvPr/>
        </p:nvCxnSpPr>
        <p:spPr>
          <a:xfrm>
            <a:off x="4426774" y="4593423"/>
            <a:ext cx="91440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58F6BB08-DEF3-C050-7C00-FCD87918BAF9}"/>
              </a:ext>
            </a:extLst>
          </p:cNvPr>
          <p:cNvSpPr txBox="1"/>
          <p:nvPr/>
        </p:nvSpPr>
        <p:spPr>
          <a:xfrm>
            <a:off x="1278233" y="6009631"/>
            <a:ext cx="8910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  <a:latin typeface="+mn-ea"/>
              </a:rPr>
              <a:t>Self attention</a:t>
            </a:r>
            <a:r>
              <a:rPr lang="zh-TW" altLang="en-US" sz="2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的機制使新的</a:t>
            </a:r>
            <a:r>
              <a:rPr lang="en-US" altLang="zh-TW" sz="2800" dirty="0">
                <a:solidFill>
                  <a:srgbClr val="FF0000"/>
                </a:solidFill>
                <a:latin typeface="+mn-ea"/>
              </a:rPr>
              <a:t>embedding</a:t>
            </a:r>
            <a:r>
              <a:rPr lang="zh-TW" altLang="en-US" sz="2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與原本的意義不同</a:t>
            </a:r>
            <a:endParaRPr lang="en-US" altLang="zh-TW" sz="28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155F8D8A-6371-0DF1-F747-3AADF7A49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138034"/>
              </p:ext>
            </p:extLst>
          </p:nvPr>
        </p:nvGraphicFramePr>
        <p:xfrm>
          <a:off x="8923903" y="2054036"/>
          <a:ext cx="2714532" cy="1599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633">
                  <a:extLst>
                    <a:ext uri="{9D8B030D-6E8A-4147-A177-3AD203B41FA5}">
                      <a16:colId xmlns:a16="http://schemas.microsoft.com/office/drawing/2014/main" val="3100747398"/>
                    </a:ext>
                  </a:extLst>
                </a:gridCol>
                <a:gridCol w="678633">
                  <a:extLst>
                    <a:ext uri="{9D8B030D-6E8A-4147-A177-3AD203B41FA5}">
                      <a16:colId xmlns:a16="http://schemas.microsoft.com/office/drawing/2014/main" val="2054622038"/>
                    </a:ext>
                  </a:extLst>
                </a:gridCol>
                <a:gridCol w="678633">
                  <a:extLst>
                    <a:ext uri="{9D8B030D-6E8A-4147-A177-3AD203B41FA5}">
                      <a16:colId xmlns:a16="http://schemas.microsoft.com/office/drawing/2014/main" val="2597303382"/>
                    </a:ext>
                  </a:extLst>
                </a:gridCol>
                <a:gridCol w="678633">
                  <a:extLst>
                    <a:ext uri="{9D8B030D-6E8A-4147-A177-3AD203B41FA5}">
                      <a16:colId xmlns:a16="http://schemas.microsoft.com/office/drawing/2014/main" val="1393716250"/>
                    </a:ext>
                  </a:extLst>
                </a:gridCol>
              </a:tblGrid>
              <a:tr h="39999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X1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X2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X3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429597"/>
                  </a:ext>
                </a:extLst>
              </a:tr>
              <a:tr h="399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X1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w11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w12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w13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585401"/>
                  </a:ext>
                </a:extLst>
              </a:tr>
              <a:tr h="399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X2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w21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w22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w23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728825"/>
                  </a:ext>
                </a:extLst>
              </a:tr>
              <a:tr h="399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X3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w31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w32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W33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799734"/>
                  </a:ext>
                </a:extLst>
              </a:tr>
            </a:tbl>
          </a:graphicData>
        </a:graphic>
      </p:graphicFrame>
      <p:sp>
        <p:nvSpPr>
          <p:cNvPr id="77" name="文字方塊 76">
            <a:extLst>
              <a:ext uri="{FF2B5EF4-FFF2-40B4-BE49-F238E27FC236}">
                <a16:creationId xmlns:a16="http://schemas.microsoft.com/office/drawing/2014/main" id="{32CCBFD9-C469-083A-3439-B94EBE4F814D}"/>
              </a:ext>
            </a:extLst>
          </p:cNvPr>
          <p:cNvSpPr txBox="1"/>
          <p:nvPr/>
        </p:nvSpPr>
        <p:spPr>
          <a:xfrm>
            <a:off x="9137808" y="1524993"/>
            <a:ext cx="2419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>
                <a:latin typeface="+mn-ea"/>
              </a:rPr>
              <a:t>Attention</a:t>
            </a:r>
            <a:r>
              <a:rPr lang="en-US" altLang="zh-TW" dirty="0">
                <a:latin typeface="+mn-ea"/>
              </a:rPr>
              <a:t> weight matrix </a:t>
            </a:r>
            <a:r>
              <a:rPr lang="zh-TW" altLang="zh-TW" dirty="0">
                <a:latin typeface="+mn-ea"/>
              </a:rPr>
              <a:t> </a:t>
            </a:r>
            <a:endParaRPr lang="zh-TW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8833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8EEF7-E7EB-09DD-B832-39404CE6C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0D0E2B-C142-9692-D7C1-1372AF468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問題二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en-US" altLang="zh-TW" dirty="0">
                <a:latin typeface="+mn-ea"/>
              </a:rPr>
              <a:t>Attention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的機制扮演什麼角色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03DCB42-E0ED-17C4-ADD6-EF6DF2C66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3994-8423-4205-BAB8-B4DE6E4FA69D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C59AD899-7D8C-F358-A01A-F8087F326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28" y="2304189"/>
            <a:ext cx="4516769" cy="1459617"/>
          </a:xfrm>
          <a:prstGeom prst="rect">
            <a:avLst/>
          </a:prstGeom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63882F16-FCF0-4ECE-22C6-A787FB6BB1B8}"/>
              </a:ext>
            </a:extLst>
          </p:cNvPr>
          <p:cNvSpPr txBox="1"/>
          <p:nvPr/>
        </p:nvSpPr>
        <p:spPr>
          <a:xfrm>
            <a:off x="3535893" y="3904462"/>
            <a:ext cx="1673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如何去解釋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Z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  <a:endParaRPr lang="en-US" altLang="zh-TW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C1B4ECB5-DF1A-8CD9-D931-DD3867B28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556" y="2087880"/>
            <a:ext cx="6084109" cy="2018690"/>
          </a:xfrm>
          <a:prstGeom prst="rect">
            <a:avLst/>
          </a:prstGeom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2D3B5E95-BE65-9B33-251E-5FFCF6E22E66}"/>
              </a:ext>
            </a:extLst>
          </p:cNvPr>
          <p:cNvSpPr txBox="1"/>
          <p:nvPr/>
        </p:nvSpPr>
        <p:spPr>
          <a:xfrm>
            <a:off x="8685971" y="3893528"/>
            <a:ext cx="3506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若解釋成交互作用，傳統統計的信賴區間等指估計該如何得出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F154A84C-930D-2FCA-8E2D-22CD27DFA96D}"/>
                  </a:ext>
                </a:extLst>
              </p:cNvPr>
              <p:cNvSpPr txBox="1"/>
              <p:nvPr/>
            </p:nvSpPr>
            <p:spPr>
              <a:xfrm>
                <a:off x="838200" y="5229995"/>
                <a:ext cx="1032126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8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老師的計劃書有提到係數可以針對個體進行調整，如何達成</a:t>
                </a:r>
                <a14:m>
                  <m:oMath xmlns:m="http://schemas.openxmlformats.org/officeDocument/2006/math">
                    <m:r>
                      <a:rPr lang="zh-TW" altLang="en-US" sz="280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sz="2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j</a:t>
                </a:r>
                <a:r>
                  <a:rPr lang="en-US" altLang="zh-TW" sz="28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(</a:t>
                </a:r>
                <a:r>
                  <a:rPr lang="en-US" altLang="zh-TW" sz="2800" dirty="0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i</a:t>
                </a:r>
                <a:r>
                  <a:rPr lang="en-US" altLang="zh-TW" sz="28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)</a:t>
                </a:r>
                <a:r>
                  <a:rPr lang="zh-TW" altLang="en-US" sz="28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en-US" altLang="zh-TW" sz="28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?</a:t>
                </a:r>
              </a:p>
            </p:txBody>
          </p:sp>
        </mc:Choice>
        <mc:Fallback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F154A84C-930D-2FCA-8E2D-22CD27DFA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229995"/>
                <a:ext cx="10321264" cy="523220"/>
              </a:xfrm>
              <a:prstGeom prst="rect">
                <a:avLst/>
              </a:prstGeom>
              <a:blipFill>
                <a:blip r:embed="rId4"/>
                <a:stretch>
                  <a:fillRect l="-1240" t="-15116" r="-591" b="-31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9256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0F9A7-434D-E1DE-3149-BA3119B84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2140A1-E795-CF70-0D3A-A198BDA84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文獻回顧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—</a:t>
            </a:r>
            <a:r>
              <a:rPr lang="zh-TW" altLang="zh-TW" dirty="0"/>
              <a:t>Havrylenko &amp; Heger 202</a:t>
            </a:r>
            <a:r>
              <a:rPr lang="en-US" altLang="zh-TW" dirty="0"/>
              <a:t>3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0517E34-E65B-736D-A542-646221833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3994-8423-4205-BAB8-B4DE6E4FA69D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A3BC337-F078-C6EA-0F6D-6584F2F37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0918"/>
            <a:ext cx="6739569" cy="332552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9693B18-6F64-E220-C2D4-B611B1B14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421" y="5445136"/>
            <a:ext cx="1088548" cy="74551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483A99C2-B093-1DDA-7D34-DCF0C9690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6662" y="1765002"/>
            <a:ext cx="3367118" cy="2881230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CBD42C6F-C1BE-67C3-8DF3-59003ADB42D9}"/>
              </a:ext>
            </a:extLst>
          </p:cNvPr>
          <p:cNvSpPr txBox="1"/>
          <p:nvPr/>
        </p:nvSpPr>
        <p:spPr>
          <a:xfrm>
            <a:off x="2927307" y="5445136"/>
            <a:ext cx="2712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這篇所使用的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embedding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是二維而非一維。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85B6F16-A452-107E-803B-F84C8E685570}"/>
              </a:ext>
            </a:extLst>
          </p:cNvPr>
          <p:cNvSpPr txBox="1"/>
          <p:nvPr/>
        </p:nvSpPr>
        <p:spPr>
          <a:xfrm>
            <a:off x="8332905" y="4798805"/>
            <a:ext cx="2712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假設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兩兩交互作用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，且根據重要程度加回</a:t>
            </a:r>
            <a:r>
              <a:rPr lang="en-US" altLang="zh-TW" dirty="0">
                <a:latin typeface="+mn-ea"/>
              </a:rPr>
              <a:t>GLM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0790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28930-D8B8-2450-D599-504E9E777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F2A453-F03C-E4CC-9CE0-3026387D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問題三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模型最後的長相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694ACDB-328F-E01F-5062-0E817348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3994-8423-4205-BAB8-B4DE6E4FA69D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DDB868E-4E34-95A2-D121-70A801B7A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713" y="2474507"/>
            <a:ext cx="6357519" cy="210940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9779278D-9CFE-A50F-9AC1-1779279A0E0B}"/>
              </a:ext>
            </a:extLst>
          </p:cNvPr>
          <p:cNvSpPr txBox="1"/>
          <p:nvPr/>
        </p:nvSpPr>
        <p:spPr>
          <a:xfrm>
            <a:off x="1781460" y="5038046"/>
            <a:ext cx="8910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最後的模型，交互作用項的產生以及統計量如何說明</a:t>
            </a:r>
            <a:r>
              <a:rPr lang="en-US" altLang="zh-TW" sz="2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70531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441</Words>
  <Application>Microsoft Office PowerPoint</Application>
  <PresentationFormat>寬螢幕</PresentationFormat>
  <Paragraphs>90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標楷體</vt:lpstr>
      <vt:lpstr>Aptos</vt:lpstr>
      <vt:lpstr>Aptos Display</vt:lpstr>
      <vt:lpstr>Arial</vt:lpstr>
      <vt:lpstr>Cambria Math</vt:lpstr>
      <vt:lpstr>Office 佈景主題</vt:lpstr>
      <vt:lpstr>碩論進度報告</vt:lpstr>
      <vt:lpstr>計畫目標</vt:lpstr>
      <vt:lpstr>文獻回顧—Kuo &amp; Richman 2021</vt:lpstr>
      <vt:lpstr>文獻回顧—Kuo &amp; Richman 2021</vt:lpstr>
      <vt:lpstr>問題一:GLM模型的input是甚麼?</vt:lpstr>
      <vt:lpstr>文獻回顧—Attention Is All You Need</vt:lpstr>
      <vt:lpstr>問題二:Attention的機制扮演什麼角色?</vt:lpstr>
      <vt:lpstr>文獻回顧—Havrylenko &amp; Heger 2023</vt:lpstr>
      <vt:lpstr>問題三:模型最後的長相?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俊延 賴</dc:creator>
  <cp:lastModifiedBy>俊延 賴</cp:lastModifiedBy>
  <cp:revision>2</cp:revision>
  <dcterms:created xsi:type="dcterms:W3CDTF">2026-07-05T10:31:47Z</dcterms:created>
  <dcterms:modified xsi:type="dcterms:W3CDTF">2026-07-05T13:32:27Z</dcterms:modified>
</cp:coreProperties>
</file>