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6E4AC-4AED-45B2-897B-47D8FF327108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934A5-E4AC-4DA6-8EA4-1BB2EC2453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2966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6FCC5-F547-AE7C-BBBE-CDB1737FD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DD1D61C-9F66-7181-4706-C0D770BB4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E331B9-A862-C0F4-BD73-2E3200F75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1FE9C-AAE6-4D2A-9305-8350EBB6421E}" type="datetime1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869963-19D8-D63C-03F3-CED4E06CE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1825A9-7499-AFFA-CC00-A9C3CA71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720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740261-920E-80FF-EFA2-4B51D78F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B31818-4861-F4A6-1844-8DD6D8BC8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326F10-AF75-6DE6-F9D6-EDAFD219B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B98AF-5905-4C37-81B7-9A3DE838DE1C}" type="datetime1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B2A93F-54EA-1FD1-0C80-BEE30C7C9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4133FF-A918-FEF9-E9B1-5705833B4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833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5CD36F-D19B-E5FA-CDEE-3AA6D650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8BE9C15-04E5-41F3-4396-3712CC73A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B3B4E9-331A-8720-0F55-02037B63C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0B7F-2220-4A0E-ABD8-A12D2ECFBB0B}" type="datetime1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777715-4B81-3D8A-F9BA-7D3A79767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520917-FF0C-4B7E-9914-855FC7ED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276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6915B3-142A-798D-530D-C47D9611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23721B-A3F2-7083-932B-0F904B501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4D39FC5-8E7C-23C0-ADA2-E7D8B3FE3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2E7040-EC59-C862-B7CB-550D17DA6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F8188-A005-4E0C-A46A-B8B29E8E2A37}" type="datetime1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22D2AF5-6B7B-D030-6543-763BA730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971E16-F33E-CDE3-EA39-8081C1B4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9791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F3123E-74B1-35E3-ED28-BD875C43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82ABA6-CEE2-9DAF-BDA6-C3D821E48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13BED7E-3841-7211-73A0-1D1539D67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DEA9703-E1C8-BA82-CFA3-A5D6179A2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9666DC0-3CDB-4DBC-1863-3AC034D8DF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F7423BE-E867-AC01-BB53-8B6360C29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E418-30B7-44E9-9619-4B7FC6B21C9F}" type="datetime1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3B4A3A2-B158-D486-1800-BBDB693F3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CC5469F-F654-7FFC-DE4B-68CC679B1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787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E2C1C2-8496-66CF-B576-93E77ED4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D0D6E0D-2395-C846-9E97-604AE2E6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377EB-4C8C-45AD-9F9C-7F3D6E54A5C5}" type="datetime1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54995FB-E017-4FA5-8272-EE53D713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55A6137-3061-D4B1-3C3A-409193961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0257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A761884-05E9-1008-FB05-5DF7FDBD8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14819-CA0C-45F3-842D-FB875C79FFFC}" type="datetime1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61E968F-9866-D6A0-3594-ECBC8E63A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F95BCE-79F2-BA8D-E59F-A527FB3F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96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DE16A1-9F8E-A6DC-AD0C-A659B88A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06B55E-8618-B5BF-D5A9-F026C0540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0A0A95E-7579-00A7-BF17-D488FBEE4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B9039C-966E-2152-A9B2-03C63F52D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00D39-F51E-4F40-9234-09A8F3F6CF0F}" type="datetime1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D339496-BF92-A3B7-B59A-51D292249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E509BC5-1D6D-D797-C7D5-A342E10B3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584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379016-975F-BEB9-4360-20734C5C3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E84D680-CB10-0DF5-30DD-862482FE2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0A35A0D-EFD4-18B9-72A9-1EE8F0F91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EE0032B-1051-6BF8-C59D-BC10AE396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5BF0-1460-4D5D-94CC-96E2074E1E7B}" type="datetime1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B2FF2C9-AB5F-26BC-E961-C1ACD5EFC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2E9F04-4141-609F-443B-953D0A51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1958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19BBBE-1DE2-B111-33F7-F54FA0EB1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FA09E93-0B93-7420-472E-0244A3AFB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75DF3D-74AE-DDE5-E48B-016BEF818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97D-40CF-4986-84BC-50695559B71C}" type="datetime1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2A1F65B-4FEE-116E-756C-592F923B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77284A-873A-6B84-27AB-13553745B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827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7C69004-8F2D-5333-E616-BCC290136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9D71300-5ACE-A1F3-16CE-4B74C4701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9909CA-BB2B-99E3-B499-1BA6845B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D466D-07FB-43A9-BE11-F60043674120}" type="datetime1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27799F-8DC6-BC7A-3ED2-3223C69D0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9298D1-7982-17D5-FDF2-AB52DCFF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0963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9CC7A98-496C-789C-69C5-710F623E1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C3FEA0-4A73-3AEA-1B72-5E17AC7CD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D84852-2C1C-5054-DBEF-9D647110F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881750-3D47-43B8-B6D2-71C50C8B868E}" type="datetime1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3BF525-1393-3ECF-98A8-93D23DE4E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DE2485-17E1-361F-DBB5-964F9CA9B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C4CB6A-A5CC-4473-8BC7-33772CFC4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234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F44A46-F3C8-26CA-47D9-18FA261558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碩論進度報告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9BECD42-829C-740A-D416-E793FB1CC4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2026.07.13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73FF84-6758-5235-10B0-88B04E64F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0712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3D5699-4AD6-1B1B-B3C4-80301372E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我目前的想法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30A5E56-BD82-EE47-0F24-5B338E896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175" y="2664885"/>
            <a:ext cx="5514404" cy="168999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5156F11-6423-C7D6-8459-C8894315C880}"/>
              </a:ext>
            </a:extLst>
          </p:cNvPr>
          <p:cNvSpPr txBox="1"/>
          <p:nvPr/>
        </p:nvSpPr>
        <p:spPr>
          <a:xfrm>
            <a:off x="5737046" y="4345967"/>
            <a:ext cx="4430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以</a:t>
            </a:r>
            <a:r>
              <a:rPr lang="en-US" altLang="zh-TW" dirty="0">
                <a:latin typeface="+mn-ea"/>
              </a:rPr>
              <a:t>residual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的部分，讓</a:t>
            </a:r>
            <a:r>
              <a:rPr lang="en-US" altLang="zh-TW" dirty="0">
                <a:latin typeface="+mn-ea"/>
              </a:rPr>
              <a:t>attention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的機制去學習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96ACBA-C5AF-76C0-9409-B014AFF0D0E5}"/>
              </a:ext>
            </a:extLst>
          </p:cNvPr>
          <p:cNvSpPr/>
          <p:nvPr/>
        </p:nvSpPr>
        <p:spPr>
          <a:xfrm>
            <a:off x="6761912" y="2773968"/>
            <a:ext cx="1282614" cy="14789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4110492-B6B5-ACA9-9F31-78EF5329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8706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902B4E-368A-517B-F71C-F043B11F8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C7C1725-B156-3015-C0CF-1D7D25E7C6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076233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在產生</a:t>
                </a:r>
                <a:r>
                  <a:rPr lang="en-US" altLang="zh-TW" sz="1800" dirty="0">
                    <a:latin typeface="+mn-ea"/>
                  </a:rPr>
                  <a:t>attention</a:t>
                </a:r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機制時，是因為</a:t>
                </a:r>
                <a:r>
                  <a:rPr lang="en-US" altLang="zh-TW" sz="1800" dirty="0">
                    <a:latin typeface="+mn-ea"/>
                  </a:rPr>
                  <a:t>attention weight matrix</a:t>
                </a:r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的運算在裡面，才使得新的</a:t>
                </a:r>
                <a:r>
                  <a:rPr lang="en-US" altLang="zh-TW" sz="1800" dirty="0">
                    <a:latin typeface="+mn-ea"/>
                  </a:rPr>
                  <a:t>embedding</a:t>
                </a:r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會代表各種</a:t>
                </a:r>
                <a:r>
                  <a:rPr lang="en-US" altLang="zh-TW" sz="1800" dirty="0">
                    <a:latin typeface="+mn-ea"/>
                  </a:rPr>
                  <a:t>feature</a:t>
                </a:r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的線性組合，進而導致無法對原始的</a:t>
                </a:r>
                <a:r>
                  <a:rPr lang="en-US" altLang="zh-TW" sz="1800" dirty="0">
                    <a:latin typeface="+mn-ea"/>
                  </a:rPr>
                  <a:t>feature</a:t>
                </a:r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做解釋。</a:t>
                </a:r>
                <a:endParaRPr lang="en-US" altLang="zh-TW" sz="18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endParaRPr lang="en-US" altLang="zh-TW" sz="18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endParaRPr lang="en-US" altLang="zh-TW" sz="18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所以我們需要將新的</a:t>
                </a:r>
                <a:r>
                  <a:rPr lang="en-US" altLang="zh-TW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embedding</a:t>
                </a:r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拆解，</a:t>
                </a:r>
                <a:r>
                  <a:rPr lang="en-US" altLang="zh-TW" sz="1800" dirty="0" err="1">
                    <a:latin typeface="+mn-ea"/>
                  </a:rPr>
                  <a:t>New_E</a:t>
                </a:r>
                <a:r>
                  <a:rPr lang="zh-TW" altLang="en-US" sz="1800" dirty="0">
                    <a:latin typeface="+mn-ea"/>
                  </a:rPr>
                  <a:t> </a:t>
                </a:r>
                <a:r>
                  <a:rPr lang="en-US" altLang="zh-TW" sz="1800" dirty="0">
                    <a:latin typeface="+mn-ea"/>
                  </a:rPr>
                  <a:t>=</a:t>
                </a:r>
                <a:r>
                  <a:rPr lang="zh-TW" altLang="en-US" sz="1800" dirty="0">
                    <a:latin typeface="+mn-ea"/>
                  </a:rPr>
                  <a:t> </a:t>
                </a:r>
                <a:r>
                  <a:rPr lang="en-US" altLang="zh-TW" sz="1800" dirty="0">
                    <a:latin typeface="+mn-ea"/>
                  </a:rPr>
                  <a:t>E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800" dirty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TW" sz="1800" dirty="0">
                    <a:latin typeface="+mn-ea"/>
                  </a:rPr>
                  <a:t>E</a:t>
                </a:r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，然後利用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800" dirty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TW" sz="1800" dirty="0">
                    <a:latin typeface="+mn-ea"/>
                  </a:rPr>
                  <a:t>E</a:t>
                </a:r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去做後續的映射，成為</a:t>
                </a:r>
                <a:r>
                  <a:rPr lang="en-US" altLang="zh-TW" sz="1800" dirty="0">
                    <a:latin typeface="+mn-ea"/>
                  </a:rPr>
                  <a:t>Z</a:t>
                </a:r>
                <a:r>
                  <a:rPr lang="en-US" altLang="zh-TW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(</a:t>
                </a:r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假設</a:t>
                </a:r>
                <a:r>
                  <a:rPr lang="en-US" altLang="zh-TW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z1</a:t>
                </a:r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的話，我可以說它是「考慮</a:t>
                </a:r>
                <a:r>
                  <a:rPr lang="zh-TW" altLang="zh-TW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其他變數提供給</a:t>
                </a:r>
                <a:r>
                  <a:rPr lang="en-US" altLang="zh-TW" sz="1800" dirty="0">
                    <a:latin typeface="+mn-ea"/>
                  </a:rPr>
                  <a:t>X1</a:t>
                </a:r>
                <a:r>
                  <a:rPr lang="zh-TW" altLang="zh-TW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的資訊</a:t>
                </a:r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」</a:t>
                </a:r>
                <a:r>
                  <a:rPr lang="en-US" altLang="zh-TW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r>
                  <a:rPr lang="zh-TW" altLang="en-US" sz="1800" dirty="0">
                    <a:latin typeface="+mn-ea"/>
                  </a:rPr>
                  <a:t>。</a:t>
                </a:r>
                <a:endParaRPr lang="en-US" altLang="zh-TW" sz="1800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C7C1725-B156-3015-C0CF-1D7D25E7C6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076233"/>
              </a:xfrm>
              <a:blipFill>
                <a:blip r:embed="rId2"/>
                <a:stretch>
                  <a:fillRect l="-406" t="-23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613863F7-9181-A9F5-51D6-A935F74BD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614" y="2133874"/>
            <a:ext cx="3969707" cy="98689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ED7CE0D-B20C-768B-3EA1-8CE0D7FAA9A9}"/>
              </a:ext>
            </a:extLst>
          </p:cNvPr>
          <p:cNvSpPr txBox="1"/>
          <p:nvPr/>
        </p:nvSpPr>
        <p:spPr>
          <a:xfrm>
            <a:off x="1237933" y="4974228"/>
            <a:ext cx="338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X </a:t>
            </a:r>
            <a:endParaRPr lang="zh-TW" altLang="en-US" sz="2800" dirty="0"/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E981770E-56BE-A45D-649E-7D69588E2364}"/>
              </a:ext>
            </a:extLst>
          </p:cNvPr>
          <p:cNvSpPr/>
          <p:nvPr/>
        </p:nvSpPr>
        <p:spPr>
          <a:xfrm>
            <a:off x="1914337" y="5135630"/>
            <a:ext cx="908137" cy="200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7714242-E632-C1B5-266E-55E4B7E6E62A}"/>
              </a:ext>
            </a:extLst>
          </p:cNvPr>
          <p:cNvSpPr txBox="1"/>
          <p:nvPr/>
        </p:nvSpPr>
        <p:spPr>
          <a:xfrm>
            <a:off x="3160676" y="4974227"/>
            <a:ext cx="338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E </a:t>
            </a:r>
            <a:endParaRPr lang="zh-TW" altLang="en-US" sz="2800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6610FB3B-1B31-74FD-10F8-21514619BF25}"/>
              </a:ext>
            </a:extLst>
          </p:cNvPr>
          <p:cNvSpPr/>
          <p:nvPr/>
        </p:nvSpPr>
        <p:spPr>
          <a:xfrm>
            <a:off x="4030549" y="5135630"/>
            <a:ext cx="908137" cy="200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AAFBEC6-F96B-0ADF-A269-A07CA960103D}"/>
              </a:ext>
            </a:extLst>
          </p:cNvPr>
          <p:cNvSpPr txBox="1"/>
          <p:nvPr/>
        </p:nvSpPr>
        <p:spPr>
          <a:xfrm>
            <a:off x="1754868" y="4582354"/>
            <a:ext cx="1200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embedding</a:t>
            </a:r>
            <a:endParaRPr lang="zh-TW" altLang="en-US" dirty="0">
              <a:latin typeface="+mn-ea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07EF90E-5F49-3E2A-F721-3309F1B37A82}"/>
              </a:ext>
            </a:extLst>
          </p:cNvPr>
          <p:cNvSpPr txBox="1"/>
          <p:nvPr/>
        </p:nvSpPr>
        <p:spPr>
          <a:xfrm>
            <a:off x="5588461" y="5456389"/>
            <a:ext cx="338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K</a:t>
            </a:r>
            <a:endParaRPr lang="zh-TW" altLang="en-US" sz="2800" dirty="0"/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FD4AED43-8334-56A7-7651-006B961AF1EA}"/>
              </a:ext>
            </a:extLst>
          </p:cNvPr>
          <p:cNvSpPr/>
          <p:nvPr/>
        </p:nvSpPr>
        <p:spPr>
          <a:xfrm>
            <a:off x="7007901" y="5135630"/>
            <a:ext cx="908137" cy="200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DB96F25-A325-8EBC-E683-692527B74CE2}"/>
              </a:ext>
            </a:extLst>
          </p:cNvPr>
          <p:cNvSpPr txBox="1"/>
          <p:nvPr/>
        </p:nvSpPr>
        <p:spPr>
          <a:xfrm>
            <a:off x="6056682" y="4974227"/>
            <a:ext cx="338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V</a:t>
            </a:r>
            <a:endParaRPr lang="zh-TW" altLang="en-US" sz="28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03F0E1E-8E42-BAB8-CDB7-866FFB356D45}"/>
              </a:ext>
            </a:extLst>
          </p:cNvPr>
          <p:cNvSpPr txBox="1"/>
          <p:nvPr/>
        </p:nvSpPr>
        <p:spPr>
          <a:xfrm>
            <a:off x="5508250" y="4503200"/>
            <a:ext cx="338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Q</a:t>
            </a:r>
            <a:endParaRPr lang="zh-TW" altLang="en-US" sz="28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F42C648-6E7F-FCBA-17F5-DF015852E886}"/>
              </a:ext>
            </a:extLst>
          </p:cNvPr>
          <p:cNvSpPr txBox="1"/>
          <p:nvPr/>
        </p:nvSpPr>
        <p:spPr>
          <a:xfrm>
            <a:off x="3710721" y="4604895"/>
            <a:ext cx="167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+mn-ea"/>
              </a:rPr>
              <a:t>Wq</a:t>
            </a:r>
            <a:r>
              <a:rPr lang="zh-TW" altLang="en-US" dirty="0">
                <a:latin typeface="+mn-ea"/>
              </a:rPr>
              <a:t>、</a:t>
            </a:r>
            <a:r>
              <a:rPr lang="en-US" altLang="zh-TW" dirty="0" err="1">
                <a:latin typeface="+mn-ea"/>
              </a:rPr>
              <a:t>Wk</a:t>
            </a:r>
            <a:r>
              <a:rPr lang="zh-TW" altLang="en-US" dirty="0">
                <a:latin typeface="+mn-ea"/>
              </a:rPr>
              <a:t>、</a:t>
            </a:r>
            <a:r>
              <a:rPr lang="en-US" altLang="zh-TW" dirty="0">
                <a:latin typeface="+mn-ea"/>
              </a:rPr>
              <a:t>Wv</a:t>
            </a:r>
            <a:endParaRPr lang="zh-TW" altLang="en-US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2B2880E9-DDF0-C5A9-4928-015630AE4215}"/>
                  </a:ext>
                </a:extLst>
              </p:cNvPr>
              <p:cNvSpPr txBox="1"/>
              <p:nvPr/>
            </p:nvSpPr>
            <p:spPr>
              <a:xfrm>
                <a:off x="8188120" y="4993945"/>
                <a:ext cx="8331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800" dirty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TW" sz="2800" dirty="0"/>
                  <a:t>E 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2B2880E9-DDF0-C5A9-4928-015630AE4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120" y="4993945"/>
                <a:ext cx="833141" cy="523220"/>
              </a:xfrm>
              <a:prstGeom prst="rect">
                <a:avLst/>
              </a:prstGeom>
              <a:blipFill>
                <a:blip r:embed="rId4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>
            <a:extLst>
              <a:ext uri="{FF2B5EF4-FFF2-40B4-BE49-F238E27FC236}">
                <a16:creationId xmlns:a16="http://schemas.microsoft.com/office/drawing/2014/main" id="{1E56906C-0107-D0F7-26F5-4F79705FB72D}"/>
              </a:ext>
            </a:extLst>
          </p:cNvPr>
          <p:cNvSpPr txBox="1"/>
          <p:nvPr/>
        </p:nvSpPr>
        <p:spPr>
          <a:xfrm>
            <a:off x="6934689" y="4580144"/>
            <a:ext cx="981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attention</a:t>
            </a:r>
            <a:endParaRPr lang="zh-TW" altLang="en-US" dirty="0">
              <a:latin typeface="+mn-ea"/>
            </a:endParaRPr>
          </a:p>
        </p:txBody>
      </p: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7A9FF191-1276-43EC-86BF-165BE61475C2}"/>
              </a:ext>
            </a:extLst>
          </p:cNvPr>
          <p:cNvSpPr/>
          <p:nvPr/>
        </p:nvSpPr>
        <p:spPr>
          <a:xfrm>
            <a:off x="9232020" y="5155346"/>
            <a:ext cx="908137" cy="200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0EBCDC8-24A9-DA5B-F9DB-44B021607F59}"/>
              </a:ext>
            </a:extLst>
          </p:cNvPr>
          <p:cNvSpPr txBox="1"/>
          <p:nvPr/>
        </p:nvSpPr>
        <p:spPr>
          <a:xfrm>
            <a:off x="10350916" y="4993945"/>
            <a:ext cx="465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Z</a:t>
            </a:r>
            <a:endParaRPr lang="zh-TW" altLang="en-US" sz="28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F5084C1B-69AE-219C-C732-6BCA399D91AE}"/>
              </a:ext>
            </a:extLst>
          </p:cNvPr>
          <p:cNvSpPr txBox="1"/>
          <p:nvPr/>
        </p:nvSpPr>
        <p:spPr>
          <a:xfrm>
            <a:off x="8999421" y="4624612"/>
            <a:ext cx="1710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MLP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神經網路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" name="投影片編號版面配置區 39">
            <a:extLst>
              <a:ext uri="{FF2B5EF4-FFF2-40B4-BE49-F238E27FC236}">
                <a16:creationId xmlns:a16="http://schemas.microsoft.com/office/drawing/2014/main" id="{E4185908-5CF9-43BC-CC1C-B4AB9D05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3057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F0209-2884-5238-BE27-DD9886CA6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AFC3B8-E1EA-36F8-A837-671A08A1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具體做法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9618246-2DEB-7C50-742D-6206958B9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719701"/>
              </p:ext>
            </p:extLst>
          </p:nvPr>
        </p:nvGraphicFramePr>
        <p:xfrm>
          <a:off x="1680236" y="1765328"/>
          <a:ext cx="4237028" cy="1035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257">
                  <a:extLst>
                    <a:ext uri="{9D8B030D-6E8A-4147-A177-3AD203B41FA5}">
                      <a16:colId xmlns:a16="http://schemas.microsoft.com/office/drawing/2014/main" val="3485523148"/>
                    </a:ext>
                  </a:extLst>
                </a:gridCol>
                <a:gridCol w="1059257">
                  <a:extLst>
                    <a:ext uri="{9D8B030D-6E8A-4147-A177-3AD203B41FA5}">
                      <a16:colId xmlns:a16="http://schemas.microsoft.com/office/drawing/2014/main" val="3029886655"/>
                    </a:ext>
                  </a:extLst>
                </a:gridCol>
                <a:gridCol w="1059257">
                  <a:extLst>
                    <a:ext uri="{9D8B030D-6E8A-4147-A177-3AD203B41FA5}">
                      <a16:colId xmlns:a16="http://schemas.microsoft.com/office/drawing/2014/main" val="1931374225"/>
                    </a:ext>
                  </a:extLst>
                </a:gridCol>
                <a:gridCol w="1059257">
                  <a:extLst>
                    <a:ext uri="{9D8B030D-6E8A-4147-A177-3AD203B41FA5}">
                      <a16:colId xmlns:a16="http://schemas.microsoft.com/office/drawing/2014/main" val="768887670"/>
                    </a:ext>
                  </a:extLst>
                </a:gridCol>
              </a:tblGrid>
              <a:tr h="5176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X1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X2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X3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396207"/>
                  </a:ext>
                </a:extLst>
              </a:tr>
              <a:tr h="5176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072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32C6A1E-56D1-3E68-4F73-40AE48C951A4}"/>
                  </a:ext>
                </a:extLst>
              </p:cNvPr>
              <p:cNvSpPr txBox="1"/>
              <p:nvPr/>
            </p:nvSpPr>
            <p:spPr>
              <a:xfrm>
                <a:off x="6988885" y="2098266"/>
                <a:ext cx="32589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+mn-ea"/>
                  </a:rPr>
                  <a:t>Y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zh-TW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+mn-ea"/>
                  </a:rPr>
                  <a:t>X1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>
                    <a:latin typeface="+mn-ea"/>
                  </a:rPr>
                  <a:t>X2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>
                    <a:latin typeface="+mn-ea"/>
                  </a:rPr>
                  <a:t>X3  </a:t>
                </a:r>
                <a:endParaRPr lang="zh-TW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32C6A1E-56D1-3E68-4F73-40AE48C95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885" y="2098266"/>
                <a:ext cx="3258991" cy="369332"/>
              </a:xfrm>
              <a:prstGeom prst="rect">
                <a:avLst/>
              </a:prstGeom>
              <a:blipFill>
                <a:blip r:embed="rId2"/>
                <a:stretch>
                  <a:fillRect l="-1495" t="-655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B0764506-28BF-E50A-00DF-CE83DAA79547}"/>
              </a:ext>
            </a:extLst>
          </p:cNvPr>
          <p:cNvSpPr/>
          <p:nvPr/>
        </p:nvSpPr>
        <p:spPr>
          <a:xfrm rot="5400000">
            <a:off x="1841631" y="3439038"/>
            <a:ext cx="698492" cy="209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972EB501-413A-5F6C-5227-2C43E35EF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278050"/>
              </p:ext>
            </p:extLst>
          </p:nvPr>
        </p:nvGraphicFramePr>
        <p:xfrm>
          <a:off x="1680236" y="4287447"/>
          <a:ext cx="4237026" cy="2070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342">
                  <a:extLst>
                    <a:ext uri="{9D8B030D-6E8A-4147-A177-3AD203B41FA5}">
                      <a16:colId xmlns:a16="http://schemas.microsoft.com/office/drawing/2014/main" val="3485523148"/>
                    </a:ext>
                  </a:extLst>
                </a:gridCol>
                <a:gridCol w="1412342">
                  <a:extLst>
                    <a:ext uri="{9D8B030D-6E8A-4147-A177-3AD203B41FA5}">
                      <a16:colId xmlns:a16="http://schemas.microsoft.com/office/drawing/2014/main" val="3029886655"/>
                    </a:ext>
                  </a:extLst>
                </a:gridCol>
                <a:gridCol w="1412342">
                  <a:extLst>
                    <a:ext uri="{9D8B030D-6E8A-4147-A177-3AD203B41FA5}">
                      <a16:colId xmlns:a16="http://schemas.microsoft.com/office/drawing/2014/main" val="1931374225"/>
                    </a:ext>
                  </a:extLst>
                </a:gridCol>
              </a:tblGrid>
              <a:tr h="5176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E1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E2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E3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396207"/>
                  </a:ext>
                </a:extLst>
              </a:tr>
              <a:tr h="5176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0728"/>
                  </a:ext>
                </a:extLst>
              </a:tr>
              <a:tr h="517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123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123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123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751755"/>
                  </a:ext>
                </a:extLst>
              </a:tr>
              <a:tr h="517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123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123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123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293628"/>
                  </a:ext>
                </a:extLst>
              </a:tr>
            </a:tbl>
          </a:graphicData>
        </a:graphic>
      </p:graphicFrame>
      <p:sp>
        <p:nvSpPr>
          <p:cNvPr id="32" name="矩形 31">
            <a:extLst>
              <a:ext uri="{FF2B5EF4-FFF2-40B4-BE49-F238E27FC236}">
                <a16:creationId xmlns:a16="http://schemas.microsoft.com/office/drawing/2014/main" id="{ED9DDCF3-F5D9-F57F-0ECE-02C0F6F902C9}"/>
              </a:ext>
            </a:extLst>
          </p:cNvPr>
          <p:cNvSpPr/>
          <p:nvPr/>
        </p:nvSpPr>
        <p:spPr>
          <a:xfrm>
            <a:off x="6988885" y="1902442"/>
            <a:ext cx="3100200" cy="742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80D9CAE-DFB4-4827-5758-E807F48DC57B}"/>
              </a:ext>
            </a:extLst>
          </p:cNvPr>
          <p:cNvSpPr txBox="1"/>
          <p:nvPr/>
        </p:nvSpPr>
        <p:spPr>
          <a:xfrm>
            <a:off x="8189325" y="1435198"/>
            <a:ext cx="69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GLM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" name="左大括弧 39">
            <a:extLst>
              <a:ext uri="{FF2B5EF4-FFF2-40B4-BE49-F238E27FC236}">
                <a16:creationId xmlns:a16="http://schemas.microsoft.com/office/drawing/2014/main" id="{185CA229-7040-ADFE-47BD-9CFA52534F1B}"/>
              </a:ext>
            </a:extLst>
          </p:cNvPr>
          <p:cNvSpPr/>
          <p:nvPr/>
        </p:nvSpPr>
        <p:spPr>
          <a:xfrm>
            <a:off x="1239656" y="4903393"/>
            <a:ext cx="294572" cy="13992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34CFD37-AB6D-6BC0-99CA-F7A34DD03E97}"/>
              </a:ext>
            </a:extLst>
          </p:cNvPr>
          <p:cNvSpPr txBox="1"/>
          <p:nvPr/>
        </p:nvSpPr>
        <p:spPr>
          <a:xfrm>
            <a:off x="333054" y="5418335"/>
            <a:ext cx="69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多維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A2E1836D-90A3-47A3-E8D1-85B99D80BBB6}"/>
              </a:ext>
            </a:extLst>
          </p:cNvPr>
          <p:cNvSpPr txBox="1"/>
          <p:nvPr/>
        </p:nvSpPr>
        <p:spPr>
          <a:xfrm>
            <a:off x="431961" y="2359625"/>
            <a:ext cx="1200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0 ~ 255</a:t>
            </a:r>
            <a:endParaRPr lang="zh-TW" altLang="en-US" dirty="0">
              <a:latin typeface="+mn-ea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878A1597-684B-B004-3B35-45CF31D6F49C}"/>
              </a:ext>
            </a:extLst>
          </p:cNvPr>
          <p:cNvSpPr txBox="1"/>
          <p:nvPr/>
        </p:nvSpPr>
        <p:spPr>
          <a:xfrm>
            <a:off x="2615678" y="3336659"/>
            <a:ext cx="3392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如何</a:t>
            </a:r>
            <a:r>
              <a:rPr lang="en-US" altLang="zh-TW" dirty="0">
                <a:latin typeface="+mn-ea"/>
              </a:rPr>
              <a:t>embedding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要透過反向傳播</a:t>
            </a:r>
          </a:p>
        </p:txBody>
      </p:sp>
      <p:graphicFrame>
        <p:nvGraphicFramePr>
          <p:cNvPr id="54" name="表格 53">
            <a:extLst>
              <a:ext uri="{FF2B5EF4-FFF2-40B4-BE49-F238E27FC236}">
                <a16:creationId xmlns:a16="http://schemas.microsoft.com/office/drawing/2014/main" id="{EE1ADA17-86A5-2E59-FCEB-3B18F9AC9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516352"/>
              </p:ext>
            </p:extLst>
          </p:nvPr>
        </p:nvGraphicFramePr>
        <p:xfrm>
          <a:off x="8189325" y="4667611"/>
          <a:ext cx="2821968" cy="139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656">
                  <a:extLst>
                    <a:ext uri="{9D8B030D-6E8A-4147-A177-3AD203B41FA5}">
                      <a16:colId xmlns:a16="http://schemas.microsoft.com/office/drawing/2014/main" val="3485523148"/>
                    </a:ext>
                  </a:extLst>
                </a:gridCol>
                <a:gridCol w="940656">
                  <a:extLst>
                    <a:ext uri="{9D8B030D-6E8A-4147-A177-3AD203B41FA5}">
                      <a16:colId xmlns:a16="http://schemas.microsoft.com/office/drawing/2014/main" val="3029886655"/>
                    </a:ext>
                  </a:extLst>
                </a:gridCol>
                <a:gridCol w="940656">
                  <a:extLst>
                    <a:ext uri="{9D8B030D-6E8A-4147-A177-3AD203B41FA5}">
                      <a16:colId xmlns:a16="http://schemas.microsoft.com/office/drawing/2014/main" val="1931374225"/>
                    </a:ext>
                  </a:extLst>
                </a:gridCol>
              </a:tblGrid>
              <a:tr h="3742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0728"/>
                  </a:ext>
                </a:extLst>
              </a:tr>
              <a:tr h="374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123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123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123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751755"/>
                  </a:ext>
                </a:extLst>
              </a:tr>
              <a:tr h="374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123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123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123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293628"/>
                  </a:ext>
                </a:extLst>
              </a:tr>
            </a:tbl>
          </a:graphicData>
        </a:graphic>
      </p:graphicFrame>
      <p:sp>
        <p:nvSpPr>
          <p:cNvPr id="56" name="左大括弧 55">
            <a:extLst>
              <a:ext uri="{FF2B5EF4-FFF2-40B4-BE49-F238E27FC236}">
                <a16:creationId xmlns:a16="http://schemas.microsoft.com/office/drawing/2014/main" id="{1880A577-A710-62BC-CB94-A9DFCDED3B42}"/>
              </a:ext>
            </a:extLst>
          </p:cNvPr>
          <p:cNvSpPr/>
          <p:nvPr/>
        </p:nvSpPr>
        <p:spPr>
          <a:xfrm>
            <a:off x="7671790" y="4852277"/>
            <a:ext cx="294572" cy="110534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D7F67EC6-1C81-42BD-3D90-B77BA4E6A3F1}"/>
              </a:ext>
            </a:extLst>
          </p:cNvPr>
          <p:cNvSpPr txBox="1"/>
          <p:nvPr/>
        </p:nvSpPr>
        <p:spPr>
          <a:xfrm>
            <a:off x="6860989" y="5220285"/>
            <a:ext cx="69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可調</a:t>
            </a: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0596F377-BF76-2938-724D-5FD2E916597F}"/>
              </a:ext>
            </a:extLst>
          </p:cNvPr>
          <p:cNvSpPr txBox="1"/>
          <p:nvPr/>
        </p:nvSpPr>
        <p:spPr>
          <a:xfrm>
            <a:off x="8108162" y="3843869"/>
            <a:ext cx="2139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+mn-ea"/>
              </a:rPr>
              <a:t>Wq</a:t>
            </a:r>
            <a:r>
              <a:rPr lang="zh-TW" altLang="en-US" dirty="0">
                <a:latin typeface="+mn-ea"/>
              </a:rPr>
              <a:t>、</a:t>
            </a:r>
            <a:r>
              <a:rPr lang="en-US" altLang="zh-TW" dirty="0" err="1">
                <a:latin typeface="+mn-ea"/>
              </a:rPr>
              <a:t>Wk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維度可降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en-US" altLang="zh-TW" dirty="0">
                <a:latin typeface="+mn-ea"/>
              </a:rPr>
              <a:t>Wv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維度可升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2" name="箭號: 向右 61">
            <a:extLst>
              <a:ext uri="{FF2B5EF4-FFF2-40B4-BE49-F238E27FC236}">
                <a16:creationId xmlns:a16="http://schemas.microsoft.com/office/drawing/2014/main" id="{114CE91B-288F-B069-0733-6D512C86491A}"/>
              </a:ext>
            </a:extLst>
          </p:cNvPr>
          <p:cNvSpPr/>
          <p:nvPr/>
        </p:nvSpPr>
        <p:spPr>
          <a:xfrm rot="17900475">
            <a:off x="6183660" y="4284909"/>
            <a:ext cx="698492" cy="209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箭號: 向右 65">
            <a:extLst>
              <a:ext uri="{FF2B5EF4-FFF2-40B4-BE49-F238E27FC236}">
                <a16:creationId xmlns:a16="http://schemas.microsoft.com/office/drawing/2014/main" id="{53DB630D-4633-737C-43B0-78FCA8A5AFAA}"/>
              </a:ext>
            </a:extLst>
          </p:cNvPr>
          <p:cNvSpPr/>
          <p:nvPr/>
        </p:nvSpPr>
        <p:spPr>
          <a:xfrm rot="14468299">
            <a:off x="6950566" y="4285591"/>
            <a:ext cx="698492" cy="209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9F5069CC-9D9D-780A-A0DF-2DDC2427E8C0}"/>
              </a:ext>
            </a:extLst>
          </p:cNvPr>
          <p:cNvSpPr txBox="1"/>
          <p:nvPr/>
        </p:nvSpPr>
        <p:spPr>
          <a:xfrm>
            <a:off x="6376962" y="3563315"/>
            <a:ext cx="1457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Q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K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V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9" name="投影片編號版面配置區 68">
            <a:extLst>
              <a:ext uri="{FF2B5EF4-FFF2-40B4-BE49-F238E27FC236}">
                <a16:creationId xmlns:a16="http://schemas.microsoft.com/office/drawing/2014/main" id="{354CEBE8-9439-91E9-DB73-AA07E0AE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2436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9C7D4-69A2-93BD-3158-77B934279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34FC31-F71E-06A9-3822-EA2E1DAB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具體做法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87420BC-585D-F33B-7E69-7CE2FD7E2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035" y="1582522"/>
            <a:ext cx="5331963" cy="1325562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6CD353F-5471-1931-FC68-4D79BDBDF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676629"/>
              </p:ext>
            </p:extLst>
          </p:nvPr>
        </p:nvGraphicFramePr>
        <p:xfrm>
          <a:off x="2132133" y="3949916"/>
          <a:ext cx="4237028" cy="2070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257">
                  <a:extLst>
                    <a:ext uri="{9D8B030D-6E8A-4147-A177-3AD203B41FA5}">
                      <a16:colId xmlns:a16="http://schemas.microsoft.com/office/drawing/2014/main" val="3006130065"/>
                    </a:ext>
                  </a:extLst>
                </a:gridCol>
                <a:gridCol w="1059257">
                  <a:extLst>
                    <a:ext uri="{9D8B030D-6E8A-4147-A177-3AD203B41FA5}">
                      <a16:colId xmlns:a16="http://schemas.microsoft.com/office/drawing/2014/main" val="3485523148"/>
                    </a:ext>
                  </a:extLst>
                </a:gridCol>
                <a:gridCol w="1059257">
                  <a:extLst>
                    <a:ext uri="{9D8B030D-6E8A-4147-A177-3AD203B41FA5}">
                      <a16:colId xmlns:a16="http://schemas.microsoft.com/office/drawing/2014/main" val="3029886655"/>
                    </a:ext>
                  </a:extLst>
                </a:gridCol>
                <a:gridCol w="1059257">
                  <a:extLst>
                    <a:ext uri="{9D8B030D-6E8A-4147-A177-3AD203B41FA5}">
                      <a16:colId xmlns:a16="http://schemas.microsoft.com/office/drawing/2014/main" val="1931374225"/>
                    </a:ext>
                  </a:extLst>
                </a:gridCol>
              </a:tblGrid>
              <a:tr h="5176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X1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X2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X3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396207"/>
                  </a:ext>
                </a:extLst>
              </a:tr>
              <a:tr h="5176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X1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0.7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0728"/>
                  </a:ext>
                </a:extLst>
              </a:tr>
              <a:tr h="517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X2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0.2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0.4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751755"/>
                  </a:ext>
                </a:extLst>
              </a:tr>
              <a:tr h="517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X3</a:t>
                      </a: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0.5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0.3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新細明體" panose="02020500000000000000" pitchFamily="18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293628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8D45217-5C19-5C26-365B-4B0081F0DD95}"/>
              </a:ext>
            </a:extLst>
          </p:cNvPr>
          <p:cNvSpPr/>
          <p:nvPr/>
        </p:nvSpPr>
        <p:spPr>
          <a:xfrm rot="5400000">
            <a:off x="2463439" y="4618028"/>
            <a:ext cx="2454768" cy="742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1436943-CFC2-544B-4F7F-9B596024ADA6}"/>
              </a:ext>
            </a:extLst>
          </p:cNvPr>
          <p:cNvSpPr txBox="1"/>
          <p:nvPr/>
        </p:nvSpPr>
        <p:spPr>
          <a:xfrm>
            <a:off x="3163725" y="3260246"/>
            <a:ext cx="105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Sum = 1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8DAB49-7A70-6F9A-6C27-A9D0CF7EA181}"/>
              </a:ext>
            </a:extLst>
          </p:cNvPr>
          <p:cNvSpPr/>
          <p:nvPr/>
        </p:nvSpPr>
        <p:spPr>
          <a:xfrm rot="1664097">
            <a:off x="3105501" y="4993993"/>
            <a:ext cx="3162150" cy="438470"/>
          </a:xfrm>
          <a:prstGeom prst="rect">
            <a:avLst/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1EA0FE4-F1B0-CF9B-4434-9C2CEAB6DE03}"/>
              </a:ext>
            </a:extLst>
          </p:cNvPr>
          <p:cNvSpPr txBox="1"/>
          <p:nvPr/>
        </p:nvSpPr>
        <p:spPr>
          <a:xfrm>
            <a:off x="6503578" y="5773747"/>
            <a:ext cx="550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不讓變數本身去影響自己，本身的效果已被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Q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所表達。</a:t>
            </a:r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5D1977E3-6814-91E8-99B5-F54FB94A35E2}"/>
              </a:ext>
            </a:extLst>
          </p:cNvPr>
          <p:cNvSpPr/>
          <p:nvPr/>
        </p:nvSpPr>
        <p:spPr>
          <a:xfrm rot="7359673">
            <a:off x="4851856" y="3183298"/>
            <a:ext cx="698492" cy="209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D43A424-49BA-6F25-DDD5-FC50CC807F82}"/>
              </a:ext>
            </a:extLst>
          </p:cNvPr>
          <p:cNvSpPr/>
          <p:nvPr/>
        </p:nvSpPr>
        <p:spPr>
          <a:xfrm>
            <a:off x="4565863" y="1878677"/>
            <a:ext cx="1982223" cy="853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箭號: 向右 24">
            <a:extLst>
              <a:ext uri="{FF2B5EF4-FFF2-40B4-BE49-F238E27FC236}">
                <a16:creationId xmlns:a16="http://schemas.microsoft.com/office/drawing/2014/main" id="{AB71A710-42FD-374F-B310-568082F78F09}"/>
              </a:ext>
            </a:extLst>
          </p:cNvPr>
          <p:cNvSpPr/>
          <p:nvPr/>
        </p:nvSpPr>
        <p:spPr>
          <a:xfrm>
            <a:off x="7331659" y="3419673"/>
            <a:ext cx="698492" cy="209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格 27">
                <a:extLst>
                  <a:ext uri="{FF2B5EF4-FFF2-40B4-BE49-F238E27FC236}">
                    <a16:creationId xmlns:a16="http://schemas.microsoft.com/office/drawing/2014/main" id="{48C43502-5838-8C89-1BE5-BEDCD37847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438144"/>
                  </p:ext>
                </p:extLst>
              </p:nvPr>
            </p:nvGraphicFramePr>
            <p:xfrm>
              <a:off x="8572129" y="2305598"/>
              <a:ext cx="2290653" cy="20704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51">
                      <a:extLst>
                        <a:ext uri="{9D8B030D-6E8A-4147-A177-3AD203B41FA5}">
                          <a16:colId xmlns:a16="http://schemas.microsoft.com/office/drawing/2014/main" val="3485523148"/>
                        </a:ext>
                      </a:extLst>
                    </a:gridCol>
                    <a:gridCol w="763551">
                      <a:extLst>
                        <a:ext uri="{9D8B030D-6E8A-4147-A177-3AD203B41FA5}">
                          <a16:colId xmlns:a16="http://schemas.microsoft.com/office/drawing/2014/main" val="3029886655"/>
                        </a:ext>
                      </a:extLst>
                    </a:gridCol>
                    <a:gridCol w="763551">
                      <a:extLst>
                        <a:ext uri="{9D8B030D-6E8A-4147-A177-3AD203B41FA5}">
                          <a16:colId xmlns:a16="http://schemas.microsoft.com/office/drawing/2014/main" val="1931374225"/>
                        </a:ext>
                      </a:extLst>
                    </a:gridCol>
                  </a:tblGrid>
                  <a:tr h="51760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altLang="zh-TW" b="1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𝐄𝟏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altLang="zh-TW" b="1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𝐄𝟐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altLang="zh-TW" b="1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𝐄𝟑</m:t>
                                </m:r>
                              </m:oMath>
                            </m:oMathPara>
                          </a14:m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33396207"/>
                      </a:ext>
                    </a:extLst>
                  </a:tr>
                  <a:tr h="51760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9060728"/>
                      </a:ext>
                    </a:extLst>
                  </a:tr>
                  <a:tr h="51760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44751755"/>
                      </a:ext>
                    </a:extLst>
                  </a:tr>
                  <a:tr h="51760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312936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格 27">
                <a:extLst>
                  <a:ext uri="{FF2B5EF4-FFF2-40B4-BE49-F238E27FC236}">
                    <a16:creationId xmlns:a16="http://schemas.microsoft.com/office/drawing/2014/main" id="{48C43502-5838-8C89-1BE5-BEDCD37847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438144"/>
                  </p:ext>
                </p:extLst>
              </p:nvPr>
            </p:nvGraphicFramePr>
            <p:xfrm>
              <a:off x="8572129" y="2305598"/>
              <a:ext cx="2290653" cy="20704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51">
                      <a:extLst>
                        <a:ext uri="{9D8B030D-6E8A-4147-A177-3AD203B41FA5}">
                          <a16:colId xmlns:a16="http://schemas.microsoft.com/office/drawing/2014/main" val="3485523148"/>
                        </a:ext>
                      </a:extLst>
                    </a:gridCol>
                    <a:gridCol w="763551">
                      <a:extLst>
                        <a:ext uri="{9D8B030D-6E8A-4147-A177-3AD203B41FA5}">
                          <a16:colId xmlns:a16="http://schemas.microsoft.com/office/drawing/2014/main" val="3029886655"/>
                        </a:ext>
                      </a:extLst>
                    </a:gridCol>
                    <a:gridCol w="763551">
                      <a:extLst>
                        <a:ext uri="{9D8B030D-6E8A-4147-A177-3AD203B41FA5}">
                          <a16:colId xmlns:a16="http://schemas.microsoft.com/office/drawing/2014/main" val="1931374225"/>
                        </a:ext>
                      </a:extLst>
                    </a:gridCol>
                  </a:tblGrid>
                  <a:tr h="51760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" t="-1176" r="-203200" b="-30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176" r="-101587" b="-30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600" t="-1176" r="-2400" b="-30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3396207"/>
                      </a:ext>
                    </a:extLst>
                  </a:tr>
                  <a:tr h="51760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9060728"/>
                      </a:ext>
                    </a:extLst>
                  </a:tr>
                  <a:tr h="51760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44751755"/>
                      </a:ext>
                    </a:extLst>
                  </a:tr>
                  <a:tr h="51760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312936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" name="投影片編號版面配置區 28">
            <a:extLst>
              <a:ext uri="{FF2B5EF4-FFF2-40B4-BE49-F238E27FC236}">
                <a16:creationId xmlns:a16="http://schemas.microsoft.com/office/drawing/2014/main" id="{4C70CAA3-4651-265C-679C-0437C39D5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1264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ECA57-1AB7-06F1-866C-7E6D75DA5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FF456F-7F9B-24B8-CE4D-7126D7B96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具體做法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格 27">
                <a:extLst>
                  <a:ext uri="{FF2B5EF4-FFF2-40B4-BE49-F238E27FC236}">
                    <a16:creationId xmlns:a16="http://schemas.microsoft.com/office/drawing/2014/main" id="{122C2EA5-166B-8D2F-9EE9-AC7C9D511AE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19769" y="1812766"/>
              <a:ext cx="2290653" cy="20704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51">
                      <a:extLst>
                        <a:ext uri="{9D8B030D-6E8A-4147-A177-3AD203B41FA5}">
                          <a16:colId xmlns:a16="http://schemas.microsoft.com/office/drawing/2014/main" val="3485523148"/>
                        </a:ext>
                      </a:extLst>
                    </a:gridCol>
                    <a:gridCol w="763551">
                      <a:extLst>
                        <a:ext uri="{9D8B030D-6E8A-4147-A177-3AD203B41FA5}">
                          <a16:colId xmlns:a16="http://schemas.microsoft.com/office/drawing/2014/main" val="3029886655"/>
                        </a:ext>
                      </a:extLst>
                    </a:gridCol>
                    <a:gridCol w="763551">
                      <a:extLst>
                        <a:ext uri="{9D8B030D-6E8A-4147-A177-3AD203B41FA5}">
                          <a16:colId xmlns:a16="http://schemas.microsoft.com/office/drawing/2014/main" val="1931374225"/>
                        </a:ext>
                      </a:extLst>
                    </a:gridCol>
                  </a:tblGrid>
                  <a:tr h="51760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TW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𝐄</m:t>
                              </m:r>
                            </m:oMath>
                          </a14:m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TW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𝐄</m:t>
                              </m:r>
                            </m:oMath>
                          </a14:m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TW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𝐄</m:t>
                              </m:r>
                            </m:oMath>
                          </a14:m>
                          <a:r>
                            <a:rPr lang="en-US" altLang="zh-TW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33396207"/>
                      </a:ext>
                    </a:extLst>
                  </a:tr>
                  <a:tr h="51760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9060728"/>
                      </a:ext>
                    </a:extLst>
                  </a:tr>
                  <a:tr h="51760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44751755"/>
                      </a:ext>
                    </a:extLst>
                  </a:tr>
                  <a:tr h="51760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312936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格 27">
                <a:extLst>
                  <a:ext uri="{FF2B5EF4-FFF2-40B4-BE49-F238E27FC236}">
                    <a16:creationId xmlns:a16="http://schemas.microsoft.com/office/drawing/2014/main" id="{122C2EA5-166B-8D2F-9EE9-AC7C9D511AE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19769" y="1812766"/>
              <a:ext cx="2290653" cy="20704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51">
                      <a:extLst>
                        <a:ext uri="{9D8B030D-6E8A-4147-A177-3AD203B41FA5}">
                          <a16:colId xmlns:a16="http://schemas.microsoft.com/office/drawing/2014/main" val="3485523148"/>
                        </a:ext>
                      </a:extLst>
                    </a:gridCol>
                    <a:gridCol w="763551">
                      <a:extLst>
                        <a:ext uri="{9D8B030D-6E8A-4147-A177-3AD203B41FA5}">
                          <a16:colId xmlns:a16="http://schemas.microsoft.com/office/drawing/2014/main" val="3029886655"/>
                        </a:ext>
                      </a:extLst>
                    </a:gridCol>
                    <a:gridCol w="763551">
                      <a:extLst>
                        <a:ext uri="{9D8B030D-6E8A-4147-A177-3AD203B41FA5}">
                          <a16:colId xmlns:a16="http://schemas.microsoft.com/office/drawing/2014/main" val="1931374225"/>
                        </a:ext>
                      </a:extLst>
                    </a:gridCol>
                  </a:tblGrid>
                  <a:tr h="51760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1176" r="-200794" b="-30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1176" r="-102400" b="-30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176" r="-1587" b="-30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3396207"/>
                      </a:ext>
                    </a:extLst>
                  </a:tr>
                  <a:tr h="51760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9060728"/>
                      </a:ext>
                    </a:extLst>
                  </a:tr>
                  <a:tr h="51760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44751755"/>
                      </a:ext>
                    </a:extLst>
                  </a:tr>
                  <a:tr h="51760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新細明體" panose="02020500000000000000" pitchFamily="18" charset="-120"/>
                              <a:cs typeface="+mn-cs"/>
                            </a:rPr>
                            <a:t>123</a:t>
                          </a:r>
                          <a:endParaRPr kumimoji="0" lang="zh-TW" alt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新細明體" panose="02020500000000000000" pitchFamily="18" charset="-120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312936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箭號: 向右 4">
            <a:extLst>
              <a:ext uri="{FF2B5EF4-FFF2-40B4-BE49-F238E27FC236}">
                <a16:creationId xmlns:a16="http://schemas.microsoft.com/office/drawing/2014/main" id="{0FCDCD2C-D65F-D5CD-00FA-F23233F17A4C}"/>
              </a:ext>
            </a:extLst>
          </p:cNvPr>
          <p:cNvSpPr/>
          <p:nvPr/>
        </p:nvSpPr>
        <p:spPr>
          <a:xfrm>
            <a:off x="3441355" y="3178256"/>
            <a:ext cx="745099" cy="3045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585F0CB-A3FA-BE4F-DDCC-B41BAB8FB519}"/>
                  </a:ext>
                </a:extLst>
              </p:cNvPr>
              <p:cNvSpPr txBox="1"/>
              <p:nvPr/>
            </p:nvSpPr>
            <p:spPr>
              <a:xfrm>
                <a:off x="914560" y="5784741"/>
                <a:ext cx="32589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+mn-ea"/>
                  </a:rPr>
                  <a:t>y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zh-TW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+mn-ea"/>
                  </a:rPr>
                  <a:t>X1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>
                    <a:latin typeface="+mn-ea"/>
                  </a:rPr>
                  <a:t>X2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>
                    <a:latin typeface="+mn-ea"/>
                  </a:rPr>
                  <a:t>X3  </a:t>
                </a:r>
                <a:endParaRPr lang="zh-TW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585F0CB-A3FA-BE4F-DDCC-B41BAB8FB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60" y="5784741"/>
                <a:ext cx="3258991" cy="369332"/>
              </a:xfrm>
              <a:prstGeom prst="rect">
                <a:avLst/>
              </a:prstGeom>
              <a:blipFill>
                <a:blip r:embed="rId3"/>
                <a:stretch>
                  <a:fillRect l="-1495" t="-819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8939C1B-4F4D-E234-D549-0B247B245F95}"/>
              </a:ext>
            </a:extLst>
          </p:cNvPr>
          <p:cNvGraphicFramePr>
            <a:graphicFrameLocks noGrp="1"/>
          </p:cNvGraphicFramePr>
          <p:nvPr/>
        </p:nvGraphicFramePr>
        <p:xfrm>
          <a:off x="619769" y="4384335"/>
          <a:ext cx="4237028" cy="1035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257">
                  <a:extLst>
                    <a:ext uri="{9D8B030D-6E8A-4147-A177-3AD203B41FA5}">
                      <a16:colId xmlns:a16="http://schemas.microsoft.com/office/drawing/2014/main" val="3485523148"/>
                    </a:ext>
                  </a:extLst>
                </a:gridCol>
                <a:gridCol w="1059257">
                  <a:extLst>
                    <a:ext uri="{9D8B030D-6E8A-4147-A177-3AD203B41FA5}">
                      <a16:colId xmlns:a16="http://schemas.microsoft.com/office/drawing/2014/main" val="3029886655"/>
                    </a:ext>
                  </a:extLst>
                </a:gridCol>
                <a:gridCol w="1059257">
                  <a:extLst>
                    <a:ext uri="{9D8B030D-6E8A-4147-A177-3AD203B41FA5}">
                      <a16:colId xmlns:a16="http://schemas.microsoft.com/office/drawing/2014/main" val="1931374225"/>
                    </a:ext>
                  </a:extLst>
                </a:gridCol>
                <a:gridCol w="1059257">
                  <a:extLst>
                    <a:ext uri="{9D8B030D-6E8A-4147-A177-3AD203B41FA5}">
                      <a16:colId xmlns:a16="http://schemas.microsoft.com/office/drawing/2014/main" val="768887670"/>
                    </a:ext>
                  </a:extLst>
                </a:gridCol>
              </a:tblGrid>
              <a:tr h="5176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X1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X2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X3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396207"/>
                  </a:ext>
                </a:extLst>
              </a:tr>
              <a:tr h="5176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0728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88F0E6FE-78E9-A5E7-BACF-FE67187A9178}"/>
              </a:ext>
            </a:extLst>
          </p:cNvPr>
          <p:cNvSpPr/>
          <p:nvPr/>
        </p:nvSpPr>
        <p:spPr>
          <a:xfrm>
            <a:off x="482476" y="4319072"/>
            <a:ext cx="3435603" cy="12058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8A7AE08-3EDE-B90F-FC83-9BA506AF7A16}"/>
              </a:ext>
            </a:extLst>
          </p:cNvPr>
          <p:cNvSpPr txBox="1"/>
          <p:nvPr/>
        </p:nvSpPr>
        <p:spPr>
          <a:xfrm>
            <a:off x="914559" y="6321102"/>
            <a:ext cx="325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+mn-ea"/>
              </a:rPr>
              <a:t>y_res</a:t>
            </a:r>
            <a:r>
              <a:rPr lang="en-US" altLang="zh-TW" dirty="0">
                <a:latin typeface="+mn-ea"/>
              </a:rPr>
              <a:t> = Y - y </a:t>
            </a:r>
            <a:endParaRPr lang="zh-TW" altLang="en-US" dirty="0">
              <a:latin typeface="+mn-ea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0D4549FF-D640-FEE9-F38E-B72F68346178}"/>
              </a:ext>
            </a:extLst>
          </p:cNvPr>
          <p:cNvGraphicFramePr>
            <a:graphicFrameLocks noGrp="1"/>
          </p:cNvGraphicFramePr>
          <p:nvPr/>
        </p:nvGraphicFramePr>
        <p:xfrm>
          <a:off x="4966811" y="2681001"/>
          <a:ext cx="3177771" cy="1038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257">
                  <a:extLst>
                    <a:ext uri="{9D8B030D-6E8A-4147-A177-3AD203B41FA5}">
                      <a16:colId xmlns:a16="http://schemas.microsoft.com/office/drawing/2014/main" val="3485523148"/>
                    </a:ext>
                  </a:extLst>
                </a:gridCol>
                <a:gridCol w="1059257">
                  <a:extLst>
                    <a:ext uri="{9D8B030D-6E8A-4147-A177-3AD203B41FA5}">
                      <a16:colId xmlns:a16="http://schemas.microsoft.com/office/drawing/2014/main" val="3029886655"/>
                    </a:ext>
                  </a:extLst>
                </a:gridCol>
                <a:gridCol w="1059257">
                  <a:extLst>
                    <a:ext uri="{9D8B030D-6E8A-4147-A177-3AD203B41FA5}">
                      <a16:colId xmlns:a16="http://schemas.microsoft.com/office/drawing/2014/main" val="1931374225"/>
                    </a:ext>
                  </a:extLst>
                </a:gridCol>
              </a:tblGrid>
              <a:tr h="5210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Z1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Z2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Z3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396207"/>
                  </a:ext>
                </a:extLst>
              </a:tr>
              <a:tr h="5176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0728"/>
                  </a:ext>
                </a:extLst>
              </a:tr>
            </a:tbl>
          </a:graphicData>
        </a:graphic>
      </p:graphicFrame>
      <p:sp>
        <p:nvSpPr>
          <p:cNvPr id="27" name="文字方塊 26">
            <a:extLst>
              <a:ext uri="{FF2B5EF4-FFF2-40B4-BE49-F238E27FC236}">
                <a16:creationId xmlns:a16="http://schemas.microsoft.com/office/drawing/2014/main" id="{03CCB4EB-FDF4-5864-00AD-7C828FDC6729}"/>
              </a:ext>
            </a:extLst>
          </p:cNvPr>
          <p:cNvSpPr txBox="1"/>
          <p:nvPr/>
        </p:nvSpPr>
        <p:spPr>
          <a:xfrm>
            <a:off x="3086370" y="2545865"/>
            <a:ext cx="1710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MLP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神經網路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箭號: 向右 29">
            <a:extLst>
              <a:ext uri="{FF2B5EF4-FFF2-40B4-BE49-F238E27FC236}">
                <a16:creationId xmlns:a16="http://schemas.microsoft.com/office/drawing/2014/main" id="{8C657D59-5C1B-74EE-EF9C-ECD877778A96}"/>
              </a:ext>
            </a:extLst>
          </p:cNvPr>
          <p:cNvSpPr/>
          <p:nvPr/>
        </p:nvSpPr>
        <p:spPr>
          <a:xfrm>
            <a:off x="8828540" y="3012522"/>
            <a:ext cx="745099" cy="3045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9638D1A-37B3-2170-6762-EC0A751109DA}"/>
              </a:ext>
            </a:extLst>
          </p:cNvPr>
          <p:cNvSpPr txBox="1"/>
          <p:nvPr/>
        </p:nvSpPr>
        <p:spPr>
          <a:xfrm>
            <a:off x="8394008" y="2311669"/>
            <a:ext cx="1710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MLP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神經網路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5F8ADF72-7C22-3F0A-4A58-92230091C54A}"/>
              </a:ext>
            </a:extLst>
          </p:cNvPr>
          <p:cNvSpPr txBox="1"/>
          <p:nvPr/>
        </p:nvSpPr>
        <p:spPr>
          <a:xfrm>
            <a:off x="10104572" y="2932650"/>
            <a:ext cx="105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+mn-ea"/>
              </a:rPr>
              <a:t>y_res_hat</a:t>
            </a:r>
            <a:endParaRPr lang="zh-TW" altLang="en-US" dirty="0">
              <a:latin typeface="+mn-ea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C0C21E39-5B42-AC81-ED77-22FE2A652A56}"/>
              </a:ext>
            </a:extLst>
          </p:cNvPr>
          <p:cNvSpPr txBox="1"/>
          <p:nvPr/>
        </p:nvSpPr>
        <p:spPr>
          <a:xfrm>
            <a:off x="6314648" y="4710011"/>
            <a:ext cx="325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Loss function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就用</a:t>
            </a:r>
            <a:r>
              <a:rPr lang="en-US" altLang="zh-TW" dirty="0">
                <a:latin typeface="+mn-ea"/>
              </a:rPr>
              <a:t>MSE</a:t>
            </a:r>
            <a:endParaRPr lang="zh-TW" altLang="en-US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772A95C-9CEB-129B-D70C-62EA6D3E0F5B}"/>
                  </a:ext>
                </a:extLst>
              </p:cNvPr>
              <p:cNvSpPr txBox="1"/>
              <p:nvPr/>
            </p:nvSpPr>
            <p:spPr>
              <a:xfrm>
                <a:off x="3086370" y="1515527"/>
                <a:ext cx="664781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假設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𝐄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1</a:t>
                </a:r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的話，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因為由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X1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query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與其他變數的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key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所求而成</a:t>
                </a:r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，我可以說它是「考慮</a:t>
                </a:r>
                <a:r>
                  <a:rPr lang="zh-TW" altLang="zh-TW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其他變數提供給</a:t>
                </a:r>
                <a:r>
                  <a:rPr lang="en-US" altLang="zh-TW" sz="1800" dirty="0">
                    <a:latin typeface="+mn-ea"/>
                  </a:rPr>
                  <a:t>X1</a:t>
                </a:r>
                <a:r>
                  <a:rPr lang="zh-TW" altLang="zh-TW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的資訊</a:t>
                </a:r>
                <a:r>
                  <a:rPr lang="zh-TW" altLang="en-US" sz="1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」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772A95C-9CEB-129B-D70C-62EA6D3E0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370" y="1515527"/>
                <a:ext cx="6647811" cy="646331"/>
              </a:xfrm>
              <a:prstGeom prst="rect">
                <a:avLst/>
              </a:prstGeom>
              <a:blipFill>
                <a:blip r:embed="rId4"/>
                <a:stretch>
                  <a:fillRect l="-733" t="-566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67CE6453-DF98-994B-813E-797656D78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8339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5D224-A3D3-ACC9-07B3-96319C9C2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333024-A777-6086-568B-F97C275E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具體做法</a:t>
            </a:r>
          </a:p>
        </p:txBody>
      </p:sp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D59BB2B9-FB3F-3B85-6A3F-E9DD29D4A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010534"/>
              </p:ext>
            </p:extLst>
          </p:nvPr>
        </p:nvGraphicFramePr>
        <p:xfrm>
          <a:off x="903534" y="2569599"/>
          <a:ext cx="8298381" cy="1035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483">
                  <a:extLst>
                    <a:ext uri="{9D8B030D-6E8A-4147-A177-3AD203B41FA5}">
                      <a16:colId xmlns:a16="http://schemas.microsoft.com/office/drawing/2014/main" val="3485523148"/>
                    </a:ext>
                  </a:extLst>
                </a:gridCol>
                <a:gridCol w="1185483">
                  <a:extLst>
                    <a:ext uri="{9D8B030D-6E8A-4147-A177-3AD203B41FA5}">
                      <a16:colId xmlns:a16="http://schemas.microsoft.com/office/drawing/2014/main" val="3029886655"/>
                    </a:ext>
                  </a:extLst>
                </a:gridCol>
                <a:gridCol w="1185483">
                  <a:extLst>
                    <a:ext uri="{9D8B030D-6E8A-4147-A177-3AD203B41FA5}">
                      <a16:colId xmlns:a16="http://schemas.microsoft.com/office/drawing/2014/main" val="1931374225"/>
                    </a:ext>
                  </a:extLst>
                </a:gridCol>
                <a:gridCol w="1185483">
                  <a:extLst>
                    <a:ext uri="{9D8B030D-6E8A-4147-A177-3AD203B41FA5}">
                      <a16:colId xmlns:a16="http://schemas.microsoft.com/office/drawing/2014/main" val="768887670"/>
                    </a:ext>
                  </a:extLst>
                </a:gridCol>
                <a:gridCol w="1185483">
                  <a:extLst>
                    <a:ext uri="{9D8B030D-6E8A-4147-A177-3AD203B41FA5}">
                      <a16:colId xmlns:a16="http://schemas.microsoft.com/office/drawing/2014/main" val="1574367785"/>
                    </a:ext>
                  </a:extLst>
                </a:gridCol>
                <a:gridCol w="1185483">
                  <a:extLst>
                    <a:ext uri="{9D8B030D-6E8A-4147-A177-3AD203B41FA5}">
                      <a16:colId xmlns:a16="http://schemas.microsoft.com/office/drawing/2014/main" val="1356021692"/>
                    </a:ext>
                  </a:extLst>
                </a:gridCol>
                <a:gridCol w="1185483">
                  <a:extLst>
                    <a:ext uri="{9D8B030D-6E8A-4147-A177-3AD203B41FA5}">
                      <a16:colId xmlns:a16="http://schemas.microsoft.com/office/drawing/2014/main" val="1584448824"/>
                    </a:ext>
                  </a:extLst>
                </a:gridCol>
              </a:tblGrid>
              <a:tr h="5176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X1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X2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X3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Z1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Z2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Z3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396207"/>
                  </a:ext>
                </a:extLst>
              </a:tr>
              <a:tr h="5176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123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0728"/>
                  </a:ext>
                </a:extLst>
              </a:tr>
            </a:tbl>
          </a:graphicData>
        </a:graphic>
      </p:graphicFrame>
      <p:sp>
        <p:nvSpPr>
          <p:cNvPr id="40" name="左大括弧 39">
            <a:extLst>
              <a:ext uri="{FF2B5EF4-FFF2-40B4-BE49-F238E27FC236}">
                <a16:creationId xmlns:a16="http://schemas.microsoft.com/office/drawing/2014/main" id="{401B95B0-54A9-BC15-5B54-F54AEA6EF766}"/>
              </a:ext>
            </a:extLst>
          </p:cNvPr>
          <p:cNvSpPr/>
          <p:nvPr/>
        </p:nvSpPr>
        <p:spPr>
          <a:xfrm rot="5400000">
            <a:off x="2488518" y="829389"/>
            <a:ext cx="294572" cy="28782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533AAA10-0811-A303-84B0-A9009D9E4931}"/>
              </a:ext>
            </a:extLst>
          </p:cNvPr>
          <p:cNvSpPr txBox="1"/>
          <p:nvPr/>
        </p:nvSpPr>
        <p:spPr>
          <a:xfrm>
            <a:off x="2073632" y="1598060"/>
            <a:ext cx="112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原始變數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F2F02D32-FA2B-A719-C914-FF43C2A8D2C6}"/>
              </a:ext>
            </a:extLst>
          </p:cNvPr>
          <p:cNvSpPr txBox="1"/>
          <p:nvPr/>
        </p:nvSpPr>
        <p:spPr>
          <a:xfrm>
            <a:off x="5052723" y="1640333"/>
            <a:ext cx="5152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考慮到與其他變數的關係而有的</a:t>
            </a:r>
            <a:r>
              <a:rPr lang="zh-TW" altLang="zh-TW" dirty="0"/>
              <a:t>contextual effect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20C8937E-0DB2-5223-E57A-08B0D3189CC1}"/>
                  </a:ext>
                </a:extLst>
              </p:cNvPr>
              <p:cNvSpPr txBox="1"/>
              <p:nvPr/>
            </p:nvSpPr>
            <p:spPr>
              <a:xfrm>
                <a:off x="2335533" y="5157676"/>
                <a:ext cx="5262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+mn-ea"/>
                  </a:rPr>
                  <a:t>Y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zh-TW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+mn-ea"/>
                  </a:rPr>
                  <a:t>X1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>
                    <a:latin typeface="+mn-ea"/>
                  </a:rPr>
                  <a:t>X2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>
                    <a:latin typeface="+mn-ea"/>
                  </a:rPr>
                  <a:t>X3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dirty="0">
                    <a:latin typeface="+mn-ea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dirty="0">
                    <a:latin typeface="+mn-ea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altLang="zh-TW" dirty="0">
                    <a:latin typeface="+mn-ea"/>
                  </a:rPr>
                  <a:t>3  </a:t>
                </a:r>
                <a:endParaRPr lang="zh-TW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20C8937E-0DB2-5223-E57A-08B0D3189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533" y="5157676"/>
                <a:ext cx="5262550" cy="369332"/>
              </a:xfrm>
              <a:prstGeom prst="rect">
                <a:avLst/>
              </a:prstGeom>
              <a:blipFill>
                <a:blip r:embed="rId2"/>
                <a:stretch>
                  <a:fillRect l="-927" t="-6557" r="-2433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箭號: 向右 55">
            <a:extLst>
              <a:ext uri="{FF2B5EF4-FFF2-40B4-BE49-F238E27FC236}">
                <a16:creationId xmlns:a16="http://schemas.microsoft.com/office/drawing/2014/main" id="{47F86AEC-9201-9326-D7C9-0851C1032B20}"/>
              </a:ext>
            </a:extLst>
          </p:cNvPr>
          <p:cNvSpPr/>
          <p:nvPr/>
        </p:nvSpPr>
        <p:spPr>
          <a:xfrm rot="5400000">
            <a:off x="3222843" y="4334183"/>
            <a:ext cx="528651" cy="2559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左大括弧 61">
            <a:extLst>
              <a:ext uri="{FF2B5EF4-FFF2-40B4-BE49-F238E27FC236}">
                <a16:creationId xmlns:a16="http://schemas.microsoft.com/office/drawing/2014/main" id="{6413301E-C842-2765-5E54-2BE7C5C8395B}"/>
              </a:ext>
            </a:extLst>
          </p:cNvPr>
          <p:cNvSpPr/>
          <p:nvPr/>
        </p:nvSpPr>
        <p:spPr>
          <a:xfrm rot="16200000">
            <a:off x="3924559" y="4598824"/>
            <a:ext cx="294572" cy="250999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5773967B-E245-BF9E-0FAE-DAF23A46BB54}"/>
              </a:ext>
            </a:extLst>
          </p:cNvPr>
          <p:cNvSpPr txBox="1"/>
          <p:nvPr/>
        </p:nvSpPr>
        <p:spPr>
          <a:xfrm>
            <a:off x="3359192" y="6123543"/>
            <a:ext cx="1565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保留主效應</a:t>
            </a:r>
          </a:p>
        </p:txBody>
      </p:sp>
      <p:sp>
        <p:nvSpPr>
          <p:cNvPr id="68" name="左大括弧 67">
            <a:extLst>
              <a:ext uri="{FF2B5EF4-FFF2-40B4-BE49-F238E27FC236}">
                <a16:creationId xmlns:a16="http://schemas.microsoft.com/office/drawing/2014/main" id="{4D1C2036-3A65-3557-F5B0-8F841315A26D}"/>
              </a:ext>
            </a:extLst>
          </p:cNvPr>
          <p:cNvSpPr/>
          <p:nvPr/>
        </p:nvSpPr>
        <p:spPr>
          <a:xfrm rot="5400000">
            <a:off x="7292700" y="829388"/>
            <a:ext cx="294572" cy="28782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左大括弧 69">
            <a:extLst>
              <a:ext uri="{FF2B5EF4-FFF2-40B4-BE49-F238E27FC236}">
                <a16:creationId xmlns:a16="http://schemas.microsoft.com/office/drawing/2014/main" id="{F1BF3A61-DE65-41EE-2F94-1CE5DC370385}"/>
              </a:ext>
            </a:extLst>
          </p:cNvPr>
          <p:cNvSpPr/>
          <p:nvPr/>
        </p:nvSpPr>
        <p:spPr>
          <a:xfrm rot="16200000">
            <a:off x="6388016" y="4945049"/>
            <a:ext cx="294572" cy="181754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1B0188E0-6C5E-8403-B73F-C8C184556BC0}"/>
              </a:ext>
            </a:extLst>
          </p:cNvPr>
          <p:cNvSpPr txBox="1"/>
          <p:nvPr/>
        </p:nvSpPr>
        <p:spPr>
          <a:xfrm>
            <a:off x="5181600" y="6123543"/>
            <a:ext cx="5861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contextual effect</a:t>
            </a:r>
            <a:r>
              <a:rPr lang="en-US" altLang="zh-TW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或許可以改用流行病學相似的概念命名</a:t>
            </a:r>
            <a:r>
              <a:rPr lang="en-US" altLang="zh-TW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solidFill>
                <a:schemeClr val="tx2">
                  <a:lumMod val="75000"/>
                  <a:lumOff val="2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C7DB5326-E2F4-75DD-097C-80B2D73EA3A9}"/>
              </a:ext>
            </a:extLst>
          </p:cNvPr>
          <p:cNvSpPr txBox="1"/>
          <p:nvPr/>
        </p:nvSpPr>
        <p:spPr>
          <a:xfrm>
            <a:off x="3968855" y="4259063"/>
            <a:ext cx="5152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再用一次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likelihood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的話，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主效應的係數會改變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75" name="投影片編號版面配置區 74">
            <a:extLst>
              <a:ext uri="{FF2B5EF4-FFF2-40B4-BE49-F238E27FC236}">
                <a16:creationId xmlns:a16="http://schemas.microsoft.com/office/drawing/2014/main" id="{B9BC71E0-D577-3BB5-7F56-419F59BB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239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59618-BE9B-A043-9F8D-B0C9F2C22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9B9799-6773-39F5-4814-D60303A84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模型的可行性</a:t>
            </a:r>
          </a:p>
        </p:txBody>
      </p:sp>
      <p:sp>
        <p:nvSpPr>
          <p:cNvPr id="75" name="投影片編號版面配置區 74">
            <a:extLst>
              <a:ext uri="{FF2B5EF4-FFF2-40B4-BE49-F238E27FC236}">
                <a16:creationId xmlns:a16="http://schemas.microsoft.com/office/drawing/2014/main" id="{150C8ABE-EE28-FFFF-D8E8-494413D7C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CB6A-A5CC-4473-8BC7-33772CFC4F68}" type="slidenum">
              <a:rPr lang="zh-TW" altLang="en-US" smtClean="0"/>
              <a:t>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BDF5BB0-3E03-DB3E-E7BE-6F837ABEA00C}"/>
                  </a:ext>
                </a:extLst>
              </p:cNvPr>
              <p:cNvSpPr txBox="1"/>
              <p:nvPr/>
            </p:nvSpPr>
            <p:spPr>
              <a:xfrm>
                <a:off x="985486" y="2614325"/>
                <a:ext cx="10739597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我還不太確定與一般神經網路擬合殘差的優勢在哪裡，是否只是提供了一個</a:t>
                </a: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attention matrix?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0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Masking</a:t>
                </a: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的機制我還不瞭解，所以如何產生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0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𝐄</m:t>
                    </m:r>
                  </m:oMath>
                </a14:m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這個部分是否需要調整</a:t>
                </a: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0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Z</a:t>
                </a: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變數的解釋到底需不需要，若解釋的話，要怎麼精確且有臨床上的意義；若不解釋的話，這個模型的優勢到底在哪裡，不論是</a:t>
                </a: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GLM</a:t>
                </a: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或是其他機器學型模型</a:t>
                </a: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?</a:t>
                </a:r>
                <a:endParaRPr lang="zh-TW" altLang="en-US" sz="20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BDF5BB0-3E03-DB3E-E7BE-6F837ABEA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486" y="2614325"/>
                <a:ext cx="10739597" cy="2246769"/>
              </a:xfrm>
              <a:prstGeom prst="rect">
                <a:avLst/>
              </a:prstGeom>
              <a:blipFill>
                <a:blip r:embed="rId2"/>
                <a:stretch>
                  <a:fillRect l="-511" t="-1630" b="-40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911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557</Words>
  <Application>Microsoft Office PowerPoint</Application>
  <PresentationFormat>寬螢幕</PresentationFormat>
  <Paragraphs>158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標楷體</vt:lpstr>
      <vt:lpstr>Aptos</vt:lpstr>
      <vt:lpstr>Aptos Display</vt:lpstr>
      <vt:lpstr>Arial</vt:lpstr>
      <vt:lpstr>Cambria Math</vt:lpstr>
      <vt:lpstr>Office 佈景主題</vt:lpstr>
      <vt:lpstr>碩論進度報告</vt:lpstr>
      <vt:lpstr>我目前的想法</vt:lpstr>
      <vt:lpstr>流程</vt:lpstr>
      <vt:lpstr>具體做法</vt:lpstr>
      <vt:lpstr>具體做法</vt:lpstr>
      <vt:lpstr>具體做法</vt:lpstr>
      <vt:lpstr>具體做法</vt:lpstr>
      <vt:lpstr>模型的可行性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2</cp:revision>
  <dcterms:created xsi:type="dcterms:W3CDTF">2026-07-12T03:36:21Z</dcterms:created>
  <dcterms:modified xsi:type="dcterms:W3CDTF">2026-07-12T12:23:26Z</dcterms:modified>
</cp:coreProperties>
</file>