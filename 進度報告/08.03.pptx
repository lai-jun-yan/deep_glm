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77" r:id="rId4"/>
    <p:sldId id="272" r:id="rId5"/>
    <p:sldId id="284" r:id="rId6"/>
    <p:sldId id="257" r:id="rId7"/>
    <p:sldId id="258" r:id="rId8"/>
    <p:sldId id="285" r:id="rId9"/>
    <p:sldId id="278" r:id="rId10"/>
    <p:sldId id="274" r:id="rId11"/>
    <p:sldId id="286" r:id="rId12"/>
    <p:sldId id="279" r:id="rId13"/>
    <p:sldId id="287" r:id="rId14"/>
    <p:sldId id="288" r:id="rId15"/>
    <p:sldId id="289" r:id="rId16"/>
    <p:sldId id="290" r:id="rId17"/>
    <p:sldId id="29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/>
              <a:t>Progress Report</a:t>
            </a:r>
            <a:br>
              <a:rPr lang="zh-TW" altLang="zh-TW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08.03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目前的想法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48374"/>
            <a:ext cx="8915400" cy="3777622"/>
          </a:xfrm>
        </p:spPr>
        <p:txBody>
          <a:bodyPr/>
          <a:lstStyle/>
          <a:p>
            <a:r>
              <a:rPr lang="zh-TW" altLang="en-US" dirty="0"/>
              <a:t>期望達成的目標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zh-TW" altLang="en-US" dirty="0"/>
              <a:t>希望可以將</a:t>
            </a:r>
            <a:r>
              <a:rPr lang="en-US" altLang="zh-TW" dirty="0"/>
              <a:t>attention</a:t>
            </a:r>
            <a:r>
              <a:rPr lang="zh-TW" altLang="en-US" dirty="0"/>
              <a:t>的機制嵌入</a:t>
            </a:r>
            <a:r>
              <a:rPr lang="en-US" altLang="zh-TW" dirty="0"/>
              <a:t>GLM</a:t>
            </a:r>
            <a:r>
              <a:rPr lang="zh-TW" altLang="en-US" dirty="0"/>
              <a:t>的模型當中，保持對原有變數的線性加成解釋性下，能夠提升在預測方面的表現。</a:t>
            </a:r>
            <a:endParaRPr lang="en-US" altLang="zh-TW" dirty="0"/>
          </a:p>
          <a:p>
            <a:pPr marL="400050" lvl="1" indent="0">
              <a:buNone/>
            </a:pPr>
            <a:endParaRPr lang="en-US" altLang="zh-TW" dirty="0"/>
          </a:p>
          <a:p>
            <a:r>
              <a:rPr lang="zh-TW" altLang="en-US" dirty="0"/>
              <a:t>因而設計的</a:t>
            </a:r>
            <a:r>
              <a:rPr lang="en-US" altLang="zh-TW" dirty="0"/>
              <a:t>attention</a:t>
            </a:r>
            <a:r>
              <a:rPr lang="zh-TW" altLang="en-US" dirty="0"/>
              <a:t>套入</a:t>
            </a:r>
            <a:r>
              <a:rPr lang="en-US" altLang="zh-TW" dirty="0"/>
              <a:t>GLM</a:t>
            </a:r>
            <a:r>
              <a:rPr lang="zh-TW" altLang="en-US" dirty="0"/>
              <a:t>的方式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zh-TW" altLang="en-US" dirty="0"/>
              <a:t>不使用</a:t>
            </a:r>
            <a:r>
              <a:rPr lang="en-US" altLang="zh-TW" dirty="0"/>
              <a:t>attention</a:t>
            </a:r>
            <a:r>
              <a:rPr lang="zh-TW" altLang="en-US" dirty="0"/>
              <a:t>改變原始變數的</a:t>
            </a:r>
            <a:r>
              <a:rPr lang="en-US" altLang="zh-TW" dirty="0"/>
              <a:t>Embedding</a:t>
            </a:r>
            <a:r>
              <a:rPr lang="zh-TW" altLang="en-US" dirty="0"/>
              <a:t>，以保留對於原始變數的解釋；而是將</a:t>
            </a:r>
            <a:r>
              <a:rPr lang="en-US" altLang="zh-TW" dirty="0"/>
              <a:t>attention</a:t>
            </a:r>
            <a:r>
              <a:rPr lang="zh-TW" altLang="en-US" dirty="0"/>
              <a:t>放在估計係數的公式解中，取代原始變數互相之間的相關性結構。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BBA1FE-2206-A755-D76D-4DBA116DB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093" y="4603545"/>
            <a:ext cx="1930400" cy="6921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571F030-1EAF-E6E8-550E-8FC075AF1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4803870"/>
            <a:ext cx="5274310" cy="1430020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025BB24B-9CCC-3734-C279-BF88AA7EB7A2}"/>
              </a:ext>
            </a:extLst>
          </p:cNvPr>
          <p:cNvSpPr/>
          <p:nvPr/>
        </p:nvSpPr>
        <p:spPr>
          <a:xfrm rot="10800000">
            <a:off x="8238039" y="4949620"/>
            <a:ext cx="916536" cy="306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59" y="1318591"/>
            <a:ext cx="7106545" cy="4220820"/>
          </a:xfrm>
        </p:spPr>
        <p:txBody>
          <a:bodyPr anchor="ctr">
            <a:normAutofit/>
          </a:bodyPr>
          <a:lstStyle/>
          <a:p>
            <a:pPr algn="r"/>
            <a:r>
              <a:rPr lang="zh-TW" altLang="en-US" sz="6600" dirty="0">
                <a:solidFill>
                  <a:schemeClr val="tx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模型的建立方式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F5ACD-5FCF-2BEC-5632-292EEB33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資料輸入的型態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b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0009D8-E9F8-8157-5355-D95F2F0E2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7880"/>
            <a:ext cx="8915400" cy="3777622"/>
          </a:xfrm>
        </p:spPr>
        <p:txBody>
          <a:bodyPr/>
          <a:lstStyle/>
          <a:p>
            <a:r>
              <a:rPr lang="zh-TW" altLang="en-US" dirty="0"/>
              <a:t>以群體的方式輸入資料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A503C2-EF1D-8E9B-F725-CA9AED1E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AE923C0-6E13-A658-79AA-F313EE2A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663" y="2755641"/>
            <a:ext cx="7288800" cy="3326039"/>
          </a:xfrm>
          <a:prstGeom prst="rect">
            <a:avLst/>
          </a:prstGeom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0A5F8649-1EA7-1918-94CB-AB444A169FD2}"/>
              </a:ext>
            </a:extLst>
          </p:cNvPr>
          <p:cNvSpPr/>
          <p:nvPr/>
        </p:nvSpPr>
        <p:spPr>
          <a:xfrm>
            <a:off x="3933196" y="3071525"/>
            <a:ext cx="423447" cy="153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13234F4-D691-DA81-4A96-2741A481A030}"/>
              </a:ext>
            </a:extLst>
          </p:cNvPr>
          <p:cNvSpPr txBox="1"/>
          <p:nvPr/>
        </p:nvSpPr>
        <p:spPr>
          <a:xfrm>
            <a:off x="2804919" y="2963570"/>
            <a:ext cx="106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Sample</a:t>
            </a:r>
            <a:endParaRPr lang="zh-TW" altLang="en-US" dirty="0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B7C63273-D574-C2AE-E0EA-D9DE25D89502}"/>
              </a:ext>
            </a:extLst>
          </p:cNvPr>
          <p:cNvSpPr/>
          <p:nvPr/>
        </p:nvSpPr>
        <p:spPr>
          <a:xfrm rot="5400000">
            <a:off x="8063555" y="2253609"/>
            <a:ext cx="423447" cy="153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12E69F8-979D-63B7-97CB-B9DBD0A7CBBC}"/>
              </a:ext>
            </a:extLst>
          </p:cNvPr>
          <p:cNvSpPr txBox="1"/>
          <p:nvPr/>
        </p:nvSpPr>
        <p:spPr>
          <a:xfrm>
            <a:off x="7741366" y="1535668"/>
            <a:ext cx="106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Feature</a:t>
            </a:r>
            <a:endParaRPr lang="zh-TW" altLang="en-US" dirty="0"/>
          </a:p>
        </p:txBody>
      </p:sp>
      <p:sp>
        <p:nvSpPr>
          <p:cNvPr id="15" name="左大括弧 14">
            <a:extLst>
              <a:ext uri="{FF2B5EF4-FFF2-40B4-BE49-F238E27FC236}">
                <a16:creationId xmlns:a16="http://schemas.microsoft.com/office/drawing/2014/main" id="{C5854090-8ECE-8785-D7E9-7F1C7905BD09}"/>
              </a:ext>
            </a:extLst>
          </p:cNvPr>
          <p:cNvSpPr/>
          <p:nvPr/>
        </p:nvSpPr>
        <p:spPr>
          <a:xfrm>
            <a:off x="2070198" y="3148236"/>
            <a:ext cx="570168" cy="280456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DA0D83D-5904-83FC-7E9D-62A431BC310C}"/>
              </a:ext>
            </a:extLst>
          </p:cNvPr>
          <p:cNvSpPr txBox="1"/>
          <p:nvPr/>
        </p:nvSpPr>
        <p:spPr>
          <a:xfrm>
            <a:off x="531812" y="4365854"/>
            <a:ext cx="148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Population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563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A778-6344-AAA8-AB78-B8527D08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F1EEB4-16E8-FBBF-2C4A-91FE9433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資料輸入的型態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b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204E54-C9B4-9027-03E6-7DBC4166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EF16C6-F25D-7DB0-876B-A3B78F536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25" y="2921004"/>
            <a:ext cx="6745032" cy="3265583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E87595EA-EE7A-E972-B034-CE77E2C7F206}"/>
              </a:ext>
            </a:extLst>
          </p:cNvPr>
          <p:cNvSpPr txBox="1"/>
          <p:nvPr/>
        </p:nvSpPr>
        <p:spPr>
          <a:xfrm>
            <a:off x="607554" y="1720334"/>
            <a:ext cx="848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每個變數以原始的</a:t>
            </a:r>
            <a:r>
              <a:rPr lang="en-US" altLang="zh-TW" dirty="0"/>
              <a:t>sample</a:t>
            </a:r>
            <a:r>
              <a:rPr lang="zh-TW" altLang="en-US" dirty="0"/>
              <a:t>當作</a:t>
            </a:r>
            <a:r>
              <a:rPr lang="en-US" altLang="zh-TW" dirty="0"/>
              <a:t>embedding</a:t>
            </a:r>
            <a:r>
              <a:rPr lang="zh-TW" altLang="en-US" dirty="0"/>
              <a:t>，後續不做訓練，以保留原本的解釋</a:t>
            </a:r>
          </a:p>
        </p:txBody>
      </p:sp>
      <p:sp>
        <p:nvSpPr>
          <p:cNvPr id="19" name="左大括弧 18">
            <a:extLst>
              <a:ext uri="{FF2B5EF4-FFF2-40B4-BE49-F238E27FC236}">
                <a16:creationId xmlns:a16="http://schemas.microsoft.com/office/drawing/2014/main" id="{1D1F9766-8EF2-935A-FFE0-3AF1CC2A28F4}"/>
              </a:ext>
            </a:extLst>
          </p:cNvPr>
          <p:cNvSpPr/>
          <p:nvPr/>
        </p:nvSpPr>
        <p:spPr>
          <a:xfrm rot="5400000">
            <a:off x="4201208" y="-417030"/>
            <a:ext cx="440875" cy="579938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92102BF-7769-35EF-B0CB-0F76EDEAA6D0}"/>
              </a:ext>
            </a:extLst>
          </p:cNvPr>
          <p:cNvSpPr txBox="1"/>
          <p:nvPr/>
        </p:nvSpPr>
        <p:spPr>
          <a:xfrm>
            <a:off x="7941166" y="3001224"/>
            <a:ext cx="417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0070C0"/>
                </a:solidFill>
              </a:rPr>
              <a:t>E</a:t>
            </a:r>
            <a:endParaRPr lang="zh-TW" altLang="en-US" sz="4800" dirty="0">
              <a:solidFill>
                <a:srgbClr val="0070C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43B9065-A5F5-897E-7D32-8C922544EAF7}"/>
              </a:ext>
            </a:extLst>
          </p:cNvPr>
          <p:cNvSpPr txBox="1"/>
          <p:nvPr/>
        </p:nvSpPr>
        <p:spPr>
          <a:xfrm>
            <a:off x="8007930" y="3832221"/>
            <a:ext cx="271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*根據輸入的群體大小，</a:t>
            </a:r>
            <a:r>
              <a:rPr lang="en-US" altLang="zh-TW" sz="1600" dirty="0"/>
              <a:t>embedding</a:t>
            </a:r>
            <a:r>
              <a:rPr lang="zh-TW" altLang="en-US" sz="1600" dirty="0"/>
              <a:t>的維度會不同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44516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70239-3463-D80C-9F21-C997C3CD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</a:t>
            </a:r>
            <a:r>
              <a:rPr lang="zh-TW" altLang="en-US" dirty="0"/>
              <a:t>、</a:t>
            </a:r>
            <a:r>
              <a:rPr lang="en-US" altLang="zh-TW" dirty="0"/>
              <a:t>K</a:t>
            </a:r>
            <a:r>
              <a:rPr lang="zh-TW" altLang="en-US" dirty="0"/>
              <a:t> </a:t>
            </a:r>
            <a:r>
              <a:rPr lang="en-US" altLang="zh-TW" dirty="0"/>
              <a:t>matrix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E25083-3016-8AB9-06F3-3D1D51E8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CBEA59-8D07-FC5A-0BF3-C80DFD33EAD5}"/>
              </a:ext>
            </a:extLst>
          </p:cNvPr>
          <p:cNvSpPr txBox="1"/>
          <p:nvPr/>
        </p:nvSpPr>
        <p:spPr>
          <a:xfrm>
            <a:off x="2365767" y="3561902"/>
            <a:ext cx="447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0070C0"/>
                </a:solidFill>
              </a:rPr>
              <a:t>E</a:t>
            </a:r>
            <a:endParaRPr lang="zh-TW" altLang="en-US" sz="4800" dirty="0">
              <a:solidFill>
                <a:srgbClr val="0070C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4CE93D-AA6D-643A-8FF5-8DD8209CF83E}"/>
              </a:ext>
            </a:extLst>
          </p:cNvPr>
          <p:cNvSpPr txBox="1"/>
          <p:nvPr/>
        </p:nvSpPr>
        <p:spPr>
          <a:xfrm>
            <a:off x="6563415" y="3646774"/>
            <a:ext cx="48420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*原始的</a:t>
            </a:r>
            <a:r>
              <a:rPr lang="en-US" altLang="zh-TW" sz="1600" dirty="0"/>
              <a:t>E</a:t>
            </a:r>
            <a:r>
              <a:rPr lang="zh-TW" altLang="en-US" sz="1600" dirty="0"/>
              <a:t>，透過</a:t>
            </a:r>
            <a:r>
              <a:rPr lang="zh-TW" altLang="en-US" sz="1600" dirty="0">
                <a:solidFill>
                  <a:srgbClr val="FF0000"/>
                </a:solidFill>
              </a:rPr>
              <a:t>可訓練的矩陣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en-US" altLang="zh-TW" sz="1600" dirty="0" err="1">
                <a:solidFill>
                  <a:srgbClr val="FF0000"/>
                </a:solidFill>
              </a:rPr>
              <a:t>wq</a:t>
            </a:r>
            <a:r>
              <a:rPr lang="zh-TW" altLang="en-US" sz="1600" dirty="0">
                <a:solidFill>
                  <a:srgbClr val="FF0000"/>
                </a:solidFill>
              </a:rPr>
              <a:t>、</a:t>
            </a:r>
            <a:r>
              <a:rPr lang="en-US" altLang="zh-TW" sz="1600" dirty="0" err="1">
                <a:solidFill>
                  <a:srgbClr val="FF0000"/>
                </a:solidFill>
              </a:rPr>
              <a:t>wk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r>
              <a:rPr lang="zh-TW" altLang="en-US" sz="1600" dirty="0"/>
              <a:t>，分別轉換為</a:t>
            </a:r>
            <a:r>
              <a:rPr lang="en-US" altLang="zh-TW" sz="1600" dirty="0"/>
              <a:t>Q</a:t>
            </a:r>
            <a:r>
              <a:rPr lang="zh-TW" altLang="en-US" sz="1600" dirty="0"/>
              <a:t>以及</a:t>
            </a:r>
            <a:r>
              <a:rPr lang="en-US" altLang="zh-TW" sz="1600" dirty="0"/>
              <a:t>K</a:t>
            </a:r>
            <a:r>
              <a:rPr lang="zh-TW" altLang="en-US" sz="1600" dirty="0"/>
              <a:t>，</a:t>
            </a:r>
            <a:r>
              <a:rPr lang="zh-TW" altLang="en-US" sz="1600" dirty="0">
                <a:solidFill>
                  <a:srgbClr val="FF0000"/>
                </a:solidFill>
              </a:rPr>
              <a:t>維度可以自由調整</a:t>
            </a:r>
            <a:r>
              <a:rPr lang="zh-TW" altLang="en-US" sz="1600" dirty="0"/>
              <a:t>，矩陣為原始變數的線性轉換，變數之間不互相影響。因為</a:t>
            </a:r>
            <a:r>
              <a:rPr lang="en-US" altLang="zh-TW" sz="1600" dirty="0"/>
              <a:t>Q</a:t>
            </a:r>
            <a:r>
              <a:rPr lang="zh-TW" altLang="en-US" sz="1600" dirty="0"/>
              <a:t>以及</a:t>
            </a:r>
            <a:r>
              <a:rPr lang="en-US" altLang="zh-TW" sz="1600" dirty="0"/>
              <a:t>K</a:t>
            </a:r>
            <a:r>
              <a:rPr lang="zh-TW" altLang="en-US" sz="1600" dirty="0"/>
              <a:t>所使用的同為原始變數，屬於</a:t>
            </a:r>
            <a:r>
              <a:rPr lang="en-US" altLang="zh-TW" sz="1600" dirty="0">
                <a:solidFill>
                  <a:srgbClr val="FF0000"/>
                </a:solidFill>
              </a:rPr>
              <a:t>self-attention</a:t>
            </a:r>
            <a:r>
              <a:rPr lang="zh-TW" altLang="en-US" sz="1600" dirty="0"/>
              <a:t>。</a:t>
            </a:r>
            <a:endParaRPr lang="en-US" altLang="zh-TW" sz="1600" dirty="0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10FBF389-C1A3-74EF-1036-1C138A9CDB6C}"/>
              </a:ext>
            </a:extLst>
          </p:cNvPr>
          <p:cNvSpPr/>
          <p:nvPr/>
        </p:nvSpPr>
        <p:spPr>
          <a:xfrm rot="19459685">
            <a:off x="3652526" y="3105348"/>
            <a:ext cx="694036" cy="280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25A98D-890A-DC89-D15D-6255F2C3DFD9}"/>
              </a:ext>
            </a:extLst>
          </p:cNvPr>
          <p:cNvSpPr txBox="1"/>
          <p:nvPr/>
        </p:nvSpPr>
        <p:spPr>
          <a:xfrm>
            <a:off x="4967739" y="2308949"/>
            <a:ext cx="447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0070C0"/>
                </a:solidFill>
              </a:rPr>
              <a:t>Q</a:t>
            </a:r>
            <a:endParaRPr lang="zh-TW" altLang="en-US" sz="4800" dirty="0">
              <a:solidFill>
                <a:srgbClr val="0070C0"/>
              </a:solidFill>
            </a:endParaRP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9CCD5477-C52D-3557-9883-24C4B6A66031}"/>
              </a:ext>
            </a:extLst>
          </p:cNvPr>
          <p:cNvSpPr/>
          <p:nvPr/>
        </p:nvSpPr>
        <p:spPr>
          <a:xfrm rot="2155110">
            <a:off x="3652142" y="4777914"/>
            <a:ext cx="694036" cy="280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0461F95-0983-89C7-EFF3-B910A7539B60}"/>
              </a:ext>
            </a:extLst>
          </p:cNvPr>
          <p:cNvSpPr txBox="1"/>
          <p:nvPr/>
        </p:nvSpPr>
        <p:spPr>
          <a:xfrm>
            <a:off x="4967739" y="4723992"/>
            <a:ext cx="447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rgbClr val="0070C0"/>
                </a:solidFill>
              </a:rPr>
              <a:t>K</a:t>
            </a:r>
            <a:endParaRPr lang="zh-TW" altLang="en-US" sz="4800" dirty="0">
              <a:solidFill>
                <a:srgbClr val="0070C0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611F022-4F0F-8885-57D6-8A31EF037125}"/>
              </a:ext>
            </a:extLst>
          </p:cNvPr>
          <p:cNvSpPr txBox="1"/>
          <p:nvPr/>
        </p:nvSpPr>
        <p:spPr>
          <a:xfrm>
            <a:off x="3403889" y="2406555"/>
            <a:ext cx="77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solidFill>
                  <a:srgbClr val="FF0000"/>
                </a:solidFill>
              </a:rPr>
              <a:t>wq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DCE21E7-8CFB-426C-A31B-8CA387312639}"/>
              </a:ext>
            </a:extLst>
          </p:cNvPr>
          <p:cNvSpPr txBox="1"/>
          <p:nvPr/>
        </p:nvSpPr>
        <p:spPr>
          <a:xfrm>
            <a:off x="3452615" y="5418756"/>
            <a:ext cx="72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solidFill>
                  <a:srgbClr val="FF0000"/>
                </a:solidFill>
              </a:rPr>
              <a:t>wk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93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4F6F0-EB32-62CF-C02F-D452CA7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Attention matrix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EF82B2-09B4-873C-7663-98E3EC8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B2744D-C07F-9D0B-F35C-D102BFE3C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041" y="2241883"/>
            <a:ext cx="7130396" cy="158141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6552C26-9470-DB12-B495-453CF10EDFB7}"/>
              </a:ext>
            </a:extLst>
          </p:cNvPr>
          <p:cNvSpPr txBox="1"/>
          <p:nvPr/>
        </p:nvSpPr>
        <p:spPr>
          <a:xfrm>
            <a:off x="2848041" y="4518217"/>
            <a:ext cx="7293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*</a:t>
            </a:r>
            <a:r>
              <a:rPr lang="en-US" altLang="zh-TW" sz="1600" dirty="0"/>
              <a:t>d</a:t>
            </a:r>
            <a:r>
              <a:rPr lang="en-US" altLang="zh-TW" sz="1200" dirty="0"/>
              <a:t>k</a:t>
            </a:r>
            <a:r>
              <a:rPr lang="zh-TW" altLang="en-US" sz="1600" dirty="0"/>
              <a:t>為</a:t>
            </a:r>
            <a:r>
              <a:rPr lang="en-US" altLang="zh-TW" sz="1600" dirty="0"/>
              <a:t>O</a:t>
            </a:r>
            <a:r>
              <a:rPr lang="zh-TW" altLang="en-US" sz="1600" dirty="0"/>
              <a:t>、</a:t>
            </a:r>
            <a:r>
              <a:rPr lang="en-US" altLang="zh-TW" sz="1600" dirty="0"/>
              <a:t>K</a:t>
            </a:r>
            <a:r>
              <a:rPr lang="zh-TW" altLang="en-US" sz="1600" dirty="0"/>
              <a:t>的</a:t>
            </a:r>
            <a:r>
              <a:rPr lang="en-US" altLang="zh-TW" sz="1600" dirty="0"/>
              <a:t>embedding</a:t>
            </a:r>
            <a:r>
              <a:rPr lang="zh-TW" altLang="en-US" sz="1600" dirty="0"/>
              <a:t>維度，與原始的</a:t>
            </a:r>
            <a:r>
              <a:rPr lang="en-US" altLang="zh-TW" sz="1600" dirty="0"/>
              <a:t>embedding</a:t>
            </a:r>
            <a:r>
              <a:rPr lang="zh-TW" altLang="en-US" sz="1600" dirty="0"/>
              <a:t>維度無關。另外，模型不需要更新變數的</a:t>
            </a:r>
            <a:r>
              <a:rPr lang="en-US" altLang="zh-TW" sz="1600" dirty="0"/>
              <a:t>embedding(</a:t>
            </a:r>
            <a:r>
              <a:rPr lang="zh-TW" altLang="en-US" sz="1600" dirty="0">
                <a:solidFill>
                  <a:srgbClr val="FF0000"/>
                </a:solidFill>
              </a:rPr>
              <a:t>會使得原始變數無法解釋</a:t>
            </a:r>
            <a:r>
              <a:rPr lang="en-US" altLang="zh-TW" sz="1600" dirty="0"/>
              <a:t>)</a:t>
            </a:r>
            <a:r>
              <a:rPr lang="zh-TW" altLang="en-US" sz="1600" dirty="0"/>
              <a:t>，所以</a:t>
            </a:r>
            <a:r>
              <a:rPr lang="zh-TW" altLang="en-US" sz="1600" dirty="0">
                <a:solidFill>
                  <a:srgbClr val="FF0000"/>
                </a:solidFill>
              </a:rPr>
              <a:t>不考慮</a:t>
            </a:r>
            <a:r>
              <a:rPr lang="en-US" altLang="zh-TW" sz="1600" dirty="0">
                <a:solidFill>
                  <a:srgbClr val="FF0000"/>
                </a:solidFill>
              </a:rPr>
              <a:t>V</a:t>
            </a:r>
            <a:r>
              <a:rPr lang="zh-TW" altLang="en-US" sz="1600" dirty="0"/>
              <a:t>。</a:t>
            </a:r>
            <a:endParaRPr lang="en-US" altLang="zh-TW" sz="16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4EF61E-111C-C123-0123-D455D18A1C48}"/>
              </a:ext>
            </a:extLst>
          </p:cNvPr>
          <p:cNvSpPr txBox="1"/>
          <p:nvPr/>
        </p:nvSpPr>
        <p:spPr>
          <a:xfrm>
            <a:off x="5594767" y="3453964"/>
            <a:ext cx="44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sym typeface="Wingdings 2" panose="05020102010507070707" pitchFamily="18" charset="2"/>
              </a:rPr>
              <a:t>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B5CEA45-0B89-1116-4AE2-B810E06FEC99}"/>
              </a:ext>
            </a:extLst>
          </p:cNvPr>
          <p:cNvSpPr txBox="1"/>
          <p:nvPr/>
        </p:nvSpPr>
        <p:spPr>
          <a:xfrm>
            <a:off x="9042689" y="3465262"/>
            <a:ext cx="44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sym typeface="Wingdings 2" panose="05020102010507070707" pitchFamily="18" charset="2"/>
              </a:rPr>
              <a:t>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7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A029-E6E0-8A44-66E3-E015E871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D525FD-DCB0-C892-35E3-F59CDE26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zh-TW" altLang="zh-TW" dirty="0"/>
              <a:t>ttention-based GLM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BC9A8E-8FC3-2F4D-2C2E-8FD7C76B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9B5746F-70B3-1CA2-836B-7684B782859B}"/>
              </a:ext>
            </a:extLst>
          </p:cNvPr>
          <p:cNvSpPr txBox="1"/>
          <p:nvPr/>
        </p:nvSpPr>
        <p:spPr>
          <a:xfrm>
            <a:off x="3240804" y="4591860"/>
            <a:ext cx="7293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*在</a:t>
            </a:r>
            <a:r>
              <a:rPr lang="en-US" altLang="zh-TW" sz="1600" dirty="0"/>
              <a:t>ridge</a:t>
            </a:r>
            <a:r>
              <a:rPr lang="zh-TW" altLang="en-US" sz="1600" dirty="0"/>
              <a:t>的公式解之上進行改進。</a:t>
            </a:r>
            <a:r>
              <a:rPr lang="en-US" altLang="zh-TW" sz="1600" dirty="0" err="1"/>
              <a:t>softmax</a:t>
            </a:r>
            <a:r>
              <a:rPr lang="zh-TW" altLang="en-US" sz="1600" dirty="0"/>
              <a:t>完成之後，數值為</a:t>
            </a:r>
            <a:r>
              <a:rPr lang="en-US" altLang="zh-TW" sz="1600" dirty="0"/>
              <a:t>0</a:t>
            </a:r>
            <a:r>
              <a:rPr lang="zh-TW" altLang="en-US" sz="1600" dirty="0"/>
              <a:t> </a:t>
            </a:r>
            <a:r>
              <a:rPr lang="en-US" altLang="zh-TW" sz="1600" dirty="0"/>
              <a:t>~</a:t>
            </a:r>
            <a:r>
              <a:rPr lang="zh-TW" altLang="en-US" sz="1600" dirty="0"/>
              <a:t> </a:t>
            </a:r>
            <a:r>
              <a:rPr lang="en-US" altLang="zh-TW" sz="1600" dirty="0"/>
              <a:t>1</a:t>
            </a:r>
            <a:r>
              <a:rPr lang="zh-TW" altLang="en-US" sz="1600" dirty="0"/>
              <a:t>之間，在數值上與</a:t>
            </a:r>
            <a:r>
              <a:rPr lang="en-US" altLang="zh-TW" sz="1600" dirty="0"/>
              <a:t>XTX</a:t>
            </a:r>
            <a:r>
              <a:rPr lang="zh-TW" altLang="en-US" sz="1600" dirty="0"/>
              <a:t>相差太遠，無法直接替換</a:t>
            </a:r>
            <a:r>
              <a:rPr lang="en-US" altLang="zh-TW" sz="1600" dirty="0"/>
              <a:t>(</a:t>
            </a:r>
            <a:r>
              <a:rPr lang="zh-TW" altLang="en-US" sz="1600" dirty="0"/>
              <a:t>我試過了</a:t>
            </a:r>
            <a:r>
              <a:rPr lang="en-US" altLang="zh-TW" sz="1600" dirty="0"/>
              <a:t>)</a:t>
            </a:r>
            <a:r>
              <a:rPr lang="zh-TW" altLang="en-US" sz="1600" dirty="0"/>
              <a:t>，因此參考</a:t>
            </a:r>
            <a:r>
              <a:rPr lang="en-US" altLang="zh-TW" sz="1600" dirty="0"/>
              <a:t>ridge</a:t>
            </a:r>
            <a:r>
              <a:rPr lang="zh-TW" altLang="en-US" sz="1600" dirty="0"/>
              <a:t>的作法，差別是，在</a:t>
            </a:r>
            <a:r>
              <a:rPr lang="en-US" altLang="zh-TW" sz="1600" dirty="0"/>
              <a:t>ridge</a:t>
            </a:r>
            <a:r>
              <a:rPr lang="zh-TW" altLang="en-US" sz="1600" dirty="0"/>
              <a:t>對於變數的懲罰是固定的，而加入</a:t>
            </a:r>
            <a:r>
              <a:rPr lang="en-US" altLang="zh-TW" sz="1600" dirty="0"/>
              <a:t>attention</a:t>
            </a:r>
            <a:r>
              <a:rPr lang="zh-TW" altLang="en-US" sz="1600" dirty="0"/>
              <a:t>是</a:t>
            </a:r>
            <a:r>
              <a:rPr lang="zh-TW" altLang="en-US" sz="1600" dirty="0">
                <a:solidFill>
                  <a:srgbClr val="FF0000"/>
                </a:solidFill>
              </a:rPr>
              <a:t>希望將變數之間不同的相關性大小可慮進去，個別地去調整對於變數的懲罰</a:t>
            </a:r>
            <a:r>
              <a:rPr lang="zh-TW" altLang="en-US" sz="1600" dirty="0"/>
              <a:t>。</a:t>
            </a:r>
            <a:endParaRPr lang="en-US" altLang="zh-TW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6A03B23-A79F-876D-EB0A-55B931C9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113" y="2064560"/>
            <a:ext cx="3941322" cy="8382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E9EBF3D-8458-06F8-2E74-33D7E24A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89" y="3301367"/>
            <a:ext cx="5096885" cy="84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3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59" y="1318591"/>
            <a:ext cx="6431485" cy="4220820"/>
          </a:xfrm>
        </p:spPr>
        <p:txBody>
          <a:bodyPr anchor="ctr">
            <a:normAutofit/>
          </a:bodyPr>
          <a:lstStyle/>
          <a:p>
            <a:pPr algn="r"/>
            <a:r>
              <a:rPr lang="zh-TW" altLang="en-US" sz="6600" dirty="0">
                <a:solidFill>
                  <a:schemeClr val="tx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模擬資料與結果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7FE0-4DB7-E394-C8E5-5AD95399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C1A81-5563-4480-B65E-A588790F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模擬資料的生成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E81CF-C2CE-0E93-C122-A64A1E6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246676"/>
            <a:ext cx="6323120" cy="3108858"/>
          </a:xfrm>
        </p:spPr>
        <p:txBody>
          <a:bodyPr/>
          <a:lstStyle/>
          <a:p>
            <a:r>
              <a:rPr lang="zh-TW" altLang="en-US" dirty="0"/>
              <a:t>目前生成的模擬資料都是在</a:t>
            </a:r>
            <a:r>
              <a:rPr lang="zh-TW" altLang="en-US" dirty="0">
                <a:solidFill>
                  <a:srgbClr val="FF0000"/>
                </a:solidFill>
              </a:rPr>
              <a:t>線性且未加入交互作用的情況下</a:t>
            </a:r>
            <a:r>
              <a:rPr lang="zh-TW" altLang="en-US" dirty="0"/>
              <a:t>，</a:t>
            </a:r>
            <a:r>
              <a:rPr lang="en-US" altLang="zh-TW" dirty="0"/>
              <a:t> </a:t>
            </a:r>
            <a:r>
              <a:rPr lang="en-US" altLang="zh-TW" dirty="0" err="1"/>
              <a:t>DeepGLM</a:t>
            </a:r>
            <a:r>
              <a:rPr lang="zh-TW" altLang="en-US" dirty="0"/>
              <a:t>的表現效果最好，所以我以最好的結果去呈現。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隨著</a:t>
            </a:r>
            <a:r>
              <a:rPr lang="en-US" altLang="zh-TW" dirty="0"/>
              <a:t>sample size</a:t>
            </a:r>
            <a:r>
              <a:rPr lang="zh-TW" altLang="en-US" dirty="0"/>
              <a:t>的變大，</a:t>
            </a:r>
            <a:r>
              <a:rPr lang="en-US" altLang="zh-TW" dirty="0"/>
              <a:t>OLS</a:t>
            </a:r>
            <a:r>
              <a:rPr lang="zh-TW" altLang="en-US" dirty="0"/>
              <a:t>以及</a:t>
            </a:r>
            <a:r>
              <a:rPr lang="en-US" altLang="zh-TW" dirty="0"/>
              <a:t>Ridge</a:t>
            </a:r>
            <a:r>
              <a:rPr lang="zh-TW" altLang="en-US" dirty="0"/>
              <a:t>會越來越穩定，統計學太強大了。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生成</a:t>
            </a:r>
            <a:r>
              <a:rPr lang="en-US" altLang="zh-TW" dirty="0"/>
              <a:t>50</a:t>
            </a:r>
            <a:r>
              <a:rPr lang="zh-TW" altLang="en-US" dirty="0"/>
              <a:t>個樣本</a:t>
            </a:r>
            <a:r>
              <a:rPr lang="en-US" altLang="zh-TW" dirty="0"/>
              <a:t>(</a:t>
            </a:r>
            <a:r>
              <a:rPr lang="zh-TW" altLang="en-US" dirty="0"/>
              <a:t>小樣本</a:t>
            </a:r>
            <a:r>
              <a:rPr lang="en-US" altLang="zh-TW" dirty="0" err="1"/>
              <a:t>DeepGLM</a:t>
            </a:r>
            <a:r>
              <a:rPr lang="zh-TW" altLang="en-US" dirty="0"/>
              <a:t>表現比較好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35</a:t>
            </a:r>
            <a:r>
              <a:rPr lang="zh-TW" altLang="en-US" dirty="0"/>
              <a:t>個當作</a:t>
            </a:r>
            <a:r>
              <a:rPr lang="en-US" altLang="zh-TW" dirty="0"/>
              <a:t>train</a:t>
            </a:r>
            <a:r>
              <a:rPr lang="zh-TW" altLang="en-US" dirty="0"/>
              <a:t>，</a:t>
            </a:r>
            <a:r>
              <a:rPr lang="en-US" altLang="zh-TW" dirty="0"/>
              <a:t>15</a:t>
            </a:r>
            <a:r>
              <a:rPr lang="zh-TW" altLang="en-US" dirty="0"/>
              <a:t>個當作</a:t>
            </a:r>
            <a:r>
              <a:rPr lang="en-US" altLang="zh-TW" dirty="0"/>
              <a:t>test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9ADB3-ED76-AE00-996D-6A31A7C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4B36E2-43B3-72DF-BCB7-4F7E73E5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776" y="903038"/>
            <a:ext cx="4235668" cy="515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1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DD55-C217-F495-A1B3-468578E4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D6DB4-30C0-AD3F-ED94-BC8DED98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模型的表現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928F17-FF04-0D07-16BF-C1340B98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EFD81E-ACD3-BF20-4C48-CDCF6BD2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80" y="1513774"/>
            <a:ext cx="10230412" cy="497907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1DF3AF8-8019-382C-5EC8-B34F90493B72}"/>
              </a:ext>
            </a:extLst>
          </p:cNvPr>
          <p:cNvSpPr txBox="1"/>
          <p:nvPr/>
        </p:nvSpPr>
        <p:spPr>
          <a:xfrm>
            <a:off x="7163811" y="2081759"/>
            <a:ext cx="3612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*每次得到模型結果的</a:t>
            </a:r>
            <a:r>
              <a:rPr lang="en-US" altLang="zh-TW" sz="1600" dirty="0">
                <a:solidFill>
                  <a:srgbClr val="FF0000"/>
                </a:solidFill>
              </a:rPr>
              <a:t>epoch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=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1000</a:t>
            </a:r>
            <a:r>
              <a:rPr lang="zh-TW" altLang="en-US" sz="1600" dirty="0">
                <a:solidFill>
                  <a:srgbClr val="FF0000"/>
                </a:solidFill>
              </a:rPr>
              <a:t>。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A090E94-8623-487B-3E84-D6C4EDC2581A}"/>
              </a:ext>
            </a:extLst>
          </p:cNvPr>
          <p:cNvSpPr txBox="1"/>
          <p:nvPr/>
        </p:nvSpPr>
        <p:spPr>
          <a:xfrm>
            <a:off x="5242463" y="4099134"/>
            <a:ext cx="2005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*表現只有小幅提升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47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2FF-E59F-AA8B-9A75-FFF15D97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B9648-3B28-CA76-32FD-E001D86F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可能找到的模型特點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6F6CB1-C06F-06D1-A12A-C4B6FC14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63F931A-8B16-D201-86F4-CA4F54873D0E}"/>
              </a:ext>
            </a:extLst>
          </p:cNvPr>
          <p:cNvGrpSpPr/>
          <p:nvPr/>
        </p:nvGrpSpPr>
        <p:grpSpPr>
          <a:xfrm>
            <a:off x="6411705" y="4953001"/>
            <a:ext cx="3720005" cy="1557212"/>
            <a:chOff x="8140573" y="4381139"/>
            <a:chExt cx="3720005" cy="1557212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39CE2378-E384-DDBC-43F7-14650EA02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06863" y="4833657"/>
              <a:ext cx="1473276" cy="539778"/>
            </a:xfrm>
            <a:prstGeom prst="rect">
              <a:avLst/>
            </a:prstGeom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355BD1F-E950-0174-9802-81B6E842163A}"/>
                </a:ext>
              </a:extLst>
            </p:cNvPr>
            <p:cNvSpPr txBox="1"/>
            <p:nvPr/>
          </p:nvSpPr>
          <p:spPr>
            <a:xfrm>
              <a:off x="8140573" y="4381139"/>
              <a:ext cx="34765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*</a:t>
              </a:r>
              <a:r>
                <a:rPr lang="en-US" altLang="zh-TW" sz="1600" dirty="0"/>
                <a:t>Adaptive</a:t>
              </a:r>
              <a:r>
                <a:rPr lang="zh-TW" altLang="en-US" sz="1600" dirty="0"/>
                <a:t> </a:t>
              </a:r>
              <a:r>
                <a:rPr lang="en-US" altLang="zh-TW" sz="1600" dirty="0"/>
                <a:t>Regularization</a:t>
              </a:r>
              <a:r>
                <a:rPr lang="zh-TW" altLang="en-US" sz="1600" dirty="0"/>
                <a:t> </a:t>
              </a:r>
              <a:r>
                <a:rPr lang="en-US" altLang="zh-TW" sz="1600" dirty="0"/>
                <a:t>Matrix: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712014-44AF-7BCD-C335-C8F4EB731B2E}"/>
                </a:ext>
              </a:extLst>
            </p:cNvPr>
            <p:cNvSpPr txBox="1"/>
            <p:nvPr/>
          </p:nvSpPr>
          <p:spPr>
            <a:xfrm>
              <a:off x="8140573" y="5599797"/>
              <a:ext cx="37200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 </a:t>
              </a:r>
              <a:r>
                <a:rPr lang="en-US" altLang="zh-TW" sz="1600" dirty="0"/>
                <a:t>Ridge</a:t>
              </a:r>
              <a:r>
                <a:rPr lang="zh-TW" altLang="en-US" sz="1600" dirty="0"/>
                <a:t>的</a:t>
              </a:r>
              <a:r>
                <a:rPr lang="en-US" altLang="zh-TW" sz="1600" dirty="0" err="1"/>
                <a:t>lamda</a:t>
              </a:r>
              <a:r>
                <a:rPr lang="zh-TW" altLang="en-US" sz="1600" dirty="0"/>
                <a:t>與</a:t>
              </a:r>
              <a:r>
                <a:rPr lang="en-US" altLang="zh-TW" sz="1600" dirty="0" err="1"/>
                <a:t>DeepGLM</a:t>
              </a:r>
              <a:r>
                <a:rPr lang="zh-TW" altLang="en-US" sz="1600" dirty="0"/>
                <a:t>都等於</a:t>
              </a:r>
              <a:r>
                <a:rPr lang="en-US" altLang="zh-TW" sz="1600" dirty="0"/>
                <a:t>1</a:t>
              </a:r>
              <a:r>
                <a:rPr lang="zh-TW" altLang="en-US" sz="1600" dirty="0"/>
                <a:t>。</a:t>
              </a:r>
              <a:endParaRPr lang="en-US" altLang="zh-TW" sz="1600" dirty="0"/>
            </a:p>
          </p:txBody>
        </p:sp>
      </p:grpSp>
      <p:pic>
        <p:nvPicPr>
          <p:cNvPr id="24" name="圖片 23">
            <a:extLst>
              <a:ext uri="{FF2B5EF4-FFF2-40B4-BE49-F238E27FC236}">
                <a16:creationId xmlns:a16="http://schemas.microsoft.com/office/drawing/2014/main" id="{5C33548B-A686-A5EF-7829-6DDB17CF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33" y="1565016"/>
            <a:ext cx="5472567" cy="5047296"/>
          </a:xfrm>
          <a:prstGeom prst="rect">
            <a:avLst/>
          </a:prstGeom>
        </p:spPr>
      </p:pic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95151345-AC9E-0630-CD58-505349FE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4250" y="1819853"/>
            <a:ext cx="5626978" cy="2893816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因為</a:t>
            </a:r>
            <a:r>
              <a:rPr lang="en-US" altLang="zh-TW" sz="1600" dirty="0">
                <a:solidFill>
                  <a:srgbClr val="FF0000"/>
                </a:solidFill>
              </a:rPr>
              <a:t>Attention</a:t>
            </a:r>
            <a:r>
              <a:rPr lang="zh-TW" altLang="en-US" sz="1600" dirty="0">
                <a:solidFill>
                  <a:srgbClr val="FF0000"/>
                </a:solidFill>
              </a:rPr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matrix</a:t>
            </a:r>
            <a:r>
              <a:rPr lang="zh-TW" altLang="en-US" sz="1600" dirty="0">
                <a:solidFill>
                  <a:srgbClr val="FF0000"/>
                </a:solidFill>
              </a:rPr>
              <a:t>看起來太隨機了</a:t>
            </a:r>
            <a:r>
              <a:rPr lang="zh-TW" altLang="en-US" sz="1600" dirty="0"/>
              <a:t>，數值的變異太大</a:t>
            </a:r>
            <a:r>
              <a:rPr lang="en-US" altLang="zh-TW" sz="1600" dirty="0"/>
              <a:t>(</a:t>
            </a:r>
            <a:r>
              <a:rPr lang="zh-TW" altLang="en-US" sz="1600" dirty="0"/>
              <a:t>標準差比平均數大</a:t>
            </a:r>
            <a:r>
              <a:rPr lang="en-US" altLang="zh-TW" sz="1600" dirty="0"/>
              <a:t>)</a:t>
            </a:r>
            <a:r>
              <a:rPr lang="zh-TW" altLang="en-US" sz="1600" dirty="0"/>
              <a:t>，所以我觀察</a:t>
            </a:r>
            <a:r>
              <a:rPr lang="en-US" altLang="zh-TW" sz="1600" dirty="0"/>
              <a:t>Adaptive</a:t>
            </a:r>
            <a:r>
              <a:rPr lang="zh-TW" altLang="en-US" sz="1600" dirty="0"/>
              <a:t> </a:t>
            </a:r>
            <a:r>
              <a:rPr lang="en-US" altLang="zh-TW" sz="1600" dirty="0"/>
              <a:t>Regularization</a:t>
            </a:r>
            <a:r>
              <a:rPr lang="zh-TW" altLang="en-US" sz="1600" dirty="0"/>
              <a:t> </a:t>
            </a:r>
            <a:r>
              <a:rPr lang="en-US" altLang="zh-TW" sz="1600" dirty="0"/>
              <a:t>Matrix</a:t>
            </a:r>
            <a:r>
              <a:rPr lang="zh-TW" altLang="en-US" sz="1600" dirty="0"/>
              <a:t>，希望看到模型可能學到的特性。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zh-TW" altLang="en-US" sz="1600" dirty="0"/>
              <a:t>可以參考投影片第</a:t>
            </a:r>
            <a:r>
              <a:rPr lang="en-US" altLang="zh-TW" sz="1600" dirty="0"/>
              <a:t>10</a:t>
            </a:r>
            <a:r>
              <a:rPr lang="zh-TW" altLang="en-US" sz="1600" dirty="0"/>
              <a:t>頁進行比對，變數</a:t>
            </a:r>
            <a:r>
              <a:rPr lang="en-US" altLang="zh-TW" sz="1600" dirty="0"/>
              <a:t>1</a:t>
            </a:r>
            <a:r>
              <a:rPr lang="zh-TW" altLang="en-US" sz="1600" dirty="0"/>
              <a:t> </a:t>
            </a:r>
            <a:r>
              <a:rPr lang="en-US" altLang="zh-TW" sz="1600" dirty="0"/>
              <a:t>~</a:t>
            </a:r>
            <a:r>
              <a:rPr lang="zh-TW" altLang="en-US" sz="1600" dirty="0"/>
              <a:t> </a:t>
            </a:r>
            <a:r>
              <a:rPr lang="en-US" altLang="zh-TW" sz="1600" dirty="0"/>
              <a:t>10</a:t>
            </a:r>
            <a:r>
              <a:rPr lang="zh-TW" altLang="en-US" sz="1600" dirty="0"/>
              <a:t>依照順序兩兩高度相關</a:t>
            </a:r>
            <a:r>
              <a:rPr lang="en-US" altLang="zh-TW" sz="1600" dirty="0"/>
              <a:t>(</a:t>
            </a:r>
            <a:r>
              <a:rPr lang="en-US" altLang="zh-TW" sz="1600" dirty="0" err="1"/>
              <a:t>cor</a:t>
            </a:r>
            <a:r>
              <a:rPr lang="zh-TW" altLang="en-US" sz="1600" dirty="0"/>
              <a:t> </a:t>
            </a:r>
            <a:r>
              <a:rPr lang="en-US" altLang="zh-TW" sz="1600" dirty="0"/>
              <a:t>&gt;</a:t>
            </a:r>
            <a:r>
              <a:rPr lang="zh-TW" altLang="en-US" sz="1600" dirty="0"/>
              <a:t> </a:t>
            </a:r>
            <a:r>
              <a:rPr lang="en-US" altLang="zh-TW" sz="1600" dirty="0"/>
              <a:t>0.99)</a:t>
            </a:r>
            <a:r>
              <a:rPr lang="zh-TW" altLang="en-US" sz="1600" dirty="0"/>
              <a:t>，在有作用的情況下</a:t>
            </a:r>
            <a:r>
              <a:rPr lang="en-US" altLang="zh-TW" sz="1600" dirty="0"/>
              <a:t>(</a:t>
            </a:r>
            <a:r>
              <a:rPr lang="zh-TW" altLang="en-US" sz="1600" dirty="0"/>
              <a:t>係數不為</a:t>
            </a:r>
            <a:r>
              <a:rPr lang="en-US" altLang="zh-TW" sz="1600" dirty="0"/>
              <a:t>0)</a:t>
            </a:r>
            <a:r>
              <a:rPr lang="zh-TW" altLang="en-US" sz="1600" dirty="0"/>
              <a:t>，模型不會對其懲罰太多</a:t>
            </a:r>
            <a:r>
              <a:rPr lang="en-US" altLang="zh-TW" sz="1600" dirty="0"/>
              <a:t>(</a:t>
            </a:r>
            <a:r>
              <a:rPr lang="zh-TW" altLang="en-US" sz="1600" dirty="0"/>
              <a:t>變數</a:t>
            </a:r>
            <a:r>
              <a:rPr lang="en-US" altLang="zh-TW" sz="1600" dirty="0"/>
              <a:t>12</a:t>
            </a:r>
            <a:r>
              <a:rPr lang="zh-TW" altLang="en-US" sz="1600" dirty="0"/>
              <a:t>以及變數</a:t>
            </a:r>
            <a:r>
              <a:rPr lang="en-US" altLang="zh-TW" sz="1600" dirty="0"/>
              <a:t>34)</a:t>
            </a:r>
            <a:r>
              <a:rPr lang="zh-TW" altLang="en-US" sz="1600" dirty="0"/>
              <a:t>，可是在高度相關但卻沒有作用的變數下，模型就會針對同一組內的其中一個變數有較大的懲罰，代表</a:t>
            </a:r>
            <a:r>
              <a:rPr lang="zh-TW" altLang="en-US" sz="1600" dirty="0">
                <a:solidFill>
                  <a:srgbClr val="FF0000"/>
                </a:solidFill>
              </a:rPr>
              <a:t>模型可能有抓到變數之間的高度相關性且能動態調整懲罰</a:t>
            </a:r>
            <a:r>
              <a:rPr lang="zh-TW" altLang="en-US" sz="1600" dirty="0"/>
              <a:t>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302100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E021-FDE1-8DF3-4719-4B4CCB85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57D646-6055-CCAC-D299-6C7259FB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55644" cy="1280890"/>
          </a:xfrm>
        </p:spPr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Adaptive</a:t>
            </a:r>
            <a:r>
              <a:rPr lang="zh-TW" altLang="en-US" dirty="0">
                <a:latin typeface="+mn-ea"/>
                <a:ea typeface="+mn-ea"/>
              </a:rPr>
              <a:t> </a:t>
            </a:r>
            <a:r>
              <a:rPr lang="en-US" altLang="zh-TW" dirty="0">
                <a:latin typeface="+mn-ea"/>
                <a:ea typeface="+mn-ea"/>
              </a:rPr>
              <a:t>regularization</a:t>
            </a:r>
            <a:r>
              <a:rPr lang="zh-TW" altLang="en-US" dirty="0">
                <a:latin typeface="+mn-ea"/>
                <a:ea typeface="+mn-ea"/>
              </a:rPr>
              <a:t> </a:t>
            </a:r>
            <a:r>
              <a:rPr lang="en-US" altLang="zh-TW" dirty="0">
                <a:latin typeface="+mn-ea"/>
                <a:ea typeface="+mn-ea"/>
              </a:rPr>
              <a:t>matrix</a:t>
            </a:r>
            <a:r>
              <a:rPr lang="zh-TW" altLang="en-US" dirty="0">
                <a:latin typeface="+mn-ea"/>
                <a:ea typeface="+mn-ea"/>
              </a:rPr>
              <a:t> </a:t>
            </a:r>
            <a:r>
              <a:rPr lang="en-US" altLang="zh-TW" dirty="0">
                <a:latin typeface="+mn-ea"/>
                <a:ea typeface="+mn-ea"/>
              </a:rPr>
              <a:t>distribution</a:t>
            </a:r>
            <a:endParaRPr lang="zh-TW" altLang="zh-TW" dirty="0">
              <a:latin typeface="+mn-ea"/>
              <a:ea typeface="+mn-ea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B00FA0A-6761-31F7-4033-84E72349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C6830D-74E2-7D68-1BE0-F8070DF2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58" y="2643625"/>
            <a:ext cx="10991211" cy="180614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07240CB-EB38-F35F-1B8D-43B74CE65B6D}"/>
              </a:ext>
            </a:extLst>
          </p:cNvPr>
          <p:cNvSpPr txBox="1"/>
          <p:nvPr/>
        </p:nvSpPr>
        <p:spPr>
          <a:xfrm>
            <a:off x="3657601" y="4603623"/>
            <a:ext cx="8143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*從分布上面來看，還是發現到，</a:t>
            </a:r>
            <a:r>
              <a:rPr lang="zh-TW" altLang="en-US" sz="1600" dirty="0">
                <a:solidFill>
                  <a:srgbClr val="FF0000"/>
                </a:solidFill>
              </a:rPr>
              <a:t>數值的變異程度太大</a:t>
            </a:r>
            <a:r>
              <a:rPr lang="zh-TW" altLang="en-US" sz="1600" dirty="0"/>
              <a:t>，但較單純的</a:t>
            </a:r>
            <a:r>
              <a:rPr lang="en-US" altLang="zh-TW" sz="1600" dirty="0"/>
              <a:t>attention</a:t>
            </a:r>
            <a:r>
              <a:rPr lang="zh-TW" altLang="en-US" sz="1600" dirty="0"/>
              <a:t> </a:t>
            </a:r>
            <a:r>
              <a:rPr lang="en-US" altLang="zh-TW" sz="1600" dirty="0"/>
              <a:t>matrix</a:t>
            </a:r>
            <a:r>
              <a:rPr lang="zh-TW" altLang="en-US" sz="1600" dirty="0"/>
              <a:t>而言，</a:t>
            </a:r>
            <a:r>
              <a:rPr lang="zh-TW" altLang="en-US" sz="1600" dirty="0">
                <a:solidFill>
                  <a:srgbClr val="FF0000"/>
                </a:solidFill>
              </a:rPr>
              <a:t>能看出模擬資料的分群以及對</a:t>
            </a:r>
            <a:r>
              <a:rPr lang="en-US" altLang="zh-TW" sz="1600" dirty="0">
                <a:solidFill>
                  <a:srgbClr val="FF0000"/>
                </a:solidFill>
              </a:rPr>
              <a:t>Y</a:t>
            </a:r>
            <a:r>
              <a:rPr lang="zh-TW" altLang="en-US" sz="1600" dirty="0">
                <a:solidFill>
                  <a:srgbClr val="FF0000"/>
                </a:solidFill>
              </a:rPr>
              <a:t>是否有效果的模式</a:t>
            </a:r>
            <a:r>
              <a:rPr lang="zh-TW" altLang="en-US" sz="16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2876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6C27-C9C3-A0C1-342B-84C6FBC3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ABF7A-350C-2AA6-65EC-FB405D3F9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59" y="1318591"/>
            <a:ext cx="6431485" cy="4220820"/>
          </a:xfrm>
        </p:spPr>
        <p:txBody>
          <a:bodyPr anchor="ctr">
            <a:normAutofit/>
          </a:bodyPr>
          <a:lstStyle/>
          <a:p>
            <a:pPr algn="r"/>
            <a:r>
              <a:rPr lang="zh-TW" altLang="en-US" sz="6600" dirty="0">
                <a:solidFill>
                  <a:schemeClr val="tx2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大問題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5DC6A5-D7D5-8247-AEA1-95CFE721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692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F6DA-DD83-3F0F-DED1-5099DC0C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A94D1-4840-D581-F7B0-561461BA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55644" cy="128089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為什麼無法做每個樣本的動態係數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29C872-A884-6929-6433-6E4A2149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421D2-D5D3-4E33-173B-5B39F12D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89523"/>
            <a:ext cx="8915400" cy="3777622"/>
          </a:xfrm>
        </p:spPr>
        <p:txBody>
          <a:bodyPr/>
          <a:lstStyle/>
          <a:p>
            <a:r>
              <a:rPr lang="zh-TW" altLang="en-US" dirty="0"/>
              <a:t>若要如此，每個樣本都必須有對應的</a:t>
            </a:r>
            <a:r>
              <a:rPr lang="en-US" altLang="zh-TW" dirty="0"/>
              <a:t>attention</a:t>
            </a:r>
            <a:r>
              <a:rPr lang="zh-TW" altLang="en-US" dirty="0"/>
              <a:t> </a:t>
            </a:r>
            <a:r>
              <a:rPr lang="en-US" altLang="zh-TW" dirty="0"/>
              <a:t>matrix</a:t>
            </a:r>
            <a:r>
              <a:rPr lang="zh-TW" altLang="en-US" dirty="0"/>
              <a:t>，代表</a:t>
            </a:r>
            <a:r>
              <a:rPr lang="en-US" altLang="zh-TW" dirty="0"/>
              <a:t>embedding</a:t>
            </a:r>
            <a:r>
              <a:rPr lang="zh-TW" altLang="en-US" dirty="0"/>
              <a:t>必須要訓練，且無法直接對原始變數做解釋；此外，上次我們用</a:t>
            </a:r>
            <a:r>
              <a:rPr lang="en-US" altLang="zh-TW" dirty="0"/>
              <a:t>line</a:t>
            </a:r>
            <a:r>
              <a:rPr lang="zh-TW" altLang="en-US" dirty="0"/>
              <a:t>討論的時候，您說</a:t>
            </a:r>
            <a:r>
              <a:rPr lang="en-US" altLang="zh-TW" dirty="0"/>
              <a:t>Gemini</a:t>
            </a:r>
            <a:r>
              <a:rPr lang="zh-TW" altLang="en-US" dirty="0"/>
              <a:t>的</a:t>
            </a:r>
            <a:r>
              <a:rPr lang="en-US" altLang="zh-TW" dirty="0"/>
              <a:t>code</a:t>
            </a:r>
            <a:r>
              <a:rPr lang="zh-TW" altLang="en-US" dirty="0"/>
              <a:t>只會有一個</a:t>
            </a:r>
            <a:r>
              <a:rPr lang="en-US" altLang="zh-TW" dirty="0"/>
              <a:t>attention</a:t>
            </a:r>
            <a:r>
              <a:rPr lang="zh-TW" altLang="en-US" dirty="0"/>
              <a:t> </a:t>
            </a:r>
            <a:r>
              <a:rPr lang="en-US" altLang="zh-TW" dirty="0"/>
              <a:t>matrix</a:t>
            </a:r>
            <a:r>
              <a:rPr lang="zh-TW" altLang="en-US" dirty="0"/>
              <a:t>，後面我依照相同邏輯去做，所以</a:t>
            </a:r>
            <a:r>
              <a:rPr lang="zh-TW" altLang="en-US" dirty="0">
                <a:solidFill>
                  <a:schemeClr val="bg2">
                    <a:lumMod val="10000"/>
                  </a:schemeClr>
                </a:solidFill>
              </a:rPr>
              <a:t>我認為</a:t>
            </a:r>
            <a:r>
              <a:rPr lang="zh-TW" altLang="en-US" dirty="0">
                <a:solidFill>
                  <a:srgbClr val="FF0000"/>
                </a:solidFill>
              </a:rPr>
              <a:t>不太可能對每個樣本動態調整係數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模擬資料需要有同一個樣本不同時間點的觀測值，才可以做訓練以及驗證；且對於模型而言，訓練完的</a:t>
            </a:r>
            <a:r>
              <a:rPr lang="en-US" altLang="zh-TW" dirty="0"/>
              <a:t>embedding</a:t>
            </a:r>
            <a:r>
              <a:rPr lang="zh-TW" altLang="en-US" dirty="0"/>
              <a:t>到底是同一個樣本不同時間點的觀測值，還是不同樣本，我們無從驗證。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899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D870-E0E5-A126-0FA1-06CDBD4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F51C62-8F7C-3E21-E416-2982F85D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55644" cy="128089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為什麼模型提升的效果有限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E75ABE-4DE9-558D-6ADF-9F5C2D2B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AEF35F-EF6F-F300-0296-59D8E61C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860" y="1991332"/>
            <a:ext cx="9355644" cy="3777622"/>
          </a:xfrm>
        </p:spPr>
        <p:txBody>
          <a:bodyPr/>
          <a:lstStyle/>
          <a:p>
            <a:r>
              <a:rPr lang="zh-TW" altLang="en-US" dirty="0"/>
              <a:t>因為目前的做法仍然在線性的框架下面去做的，當樣本數較少時，或許在某些資料集下，</a:t>
            </a:r>
            <a:r>
              <a:rPr lang="en-US" altLang="zh-TW" dirty="0" err="1"/>
              <a:t>DeepGLM</a:t>
            </a:r>
            <a:r>
              <a:rPr lang="zh-TW" altLang="en-US" dirty="0"/>
              <a:t>的表現效果較</a:t>
            </a:r>
            <a:r>
              <a:rPr lang="en-US" altLang="zh-TW" dirty="0"/>
              <a:t>OLS</a:t>
            </a:r>
            <a:r>
              <a:rPr lang="zh-TW" altLang="en-US" dirty="0"/>
              <a:t>好，可是當</a:t>
            </a:r>
            <a:r>
              <a:rPr lang="zh-TW" altLang="en-US" dirty="0">
                <a:solidFill>
                  <a:srgbClr val="FF0000"/>
                </a:solidFill>
              </a:rPr>
              <a:t>樣本數提升後，</a:t>
            </a:r>
            <a:r>
              <a:rPr lang="en-US" altLang="zh-TW" dirty="0">
                <a:solidFill>
                  <a:srgbClr val="FF0000"/>
                </a:solidFill>
              </a:rPr>
              <a:t>OLS</a:t>
            </a:r>
            <a:r>
              <a:rPr lang="zh-TW" altLang="en-US" dirty="0">
                <a:solidFill>
                  <a:srgbClr val="FF0000"/>
                </a:solidFill>
              </a:rPr>
              <a:t>反而是最佳解，</a:t>
            </a:r>
            <a:r>
              <a:rPr lang="en-US" altLang="zh-TW" dirty="0" err="1">
                <a:solidFill>
                  <a:srgbClr val="FF0000"/>
                </a:solidFill>
              </a:rPr>
              <a:t>DeepGLM</a:t>
            </a:r>
            <a:r>
              <a:rPr lang="zh-TW" altLang="en-US" dirty="0">
                <a:solidFill>
                  <a:srgbClr val="FF0000"/>
                </a:solidFill>
              </a:rPr>
              <a:t>會輸</a:t>
            </a:r>
            <a:r>
              <a:rPr lang="en-US" altLang="zh-TW" dirty="0"/>
              <a:t>(</a:t>
            </a:r>
            <a:r>
              <a:rPr lang="zh-TW" altLang="en-US" dirty="0"/>
              <a:t>大概</a:t>
            </a:r>
            <a:r>
              <a:rPr lang="en-US" altLang="zh-TW" dirty="0"/>
              <a:t>n=200</a:t>
            </a:r>
            <a:r>
              <a:rPr lang="zh-TW" altLang="en-US" dirty="0"/>
              <a:t>左右，我試過了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模擬資料</a:t>
            </a:r>
            <a:r>
              <a:rPr lang="zh-TW" altLang="en-US" dirty="0">
                <a:solidFill>
                  <a:srgbClr val="FF0000"/>
                </a:solidFill>
              </a:rPr>
              <a:t>加入交互作用項後</a:t>
            </a:r>
            <a:r>
              <a:rPr lang="zh-TW" altLang="en-US" dirty="0"/>
              <a:t>，</a:t>
            </a:r>
            <a:r>
              <a:rPr lang="en-US" altLang="zh-TW" dirty="0" err="1"/>
              <a:t>DeepGLM</a:t>
            </a:r>
            <a:r>
              <a:rPr lang="zh-TW" altLang="en-US" dirty="0"/>
              <a:t>會比</a:t>
            </a:r>
            <a:r>
              <a:rPr lang="en-US" altLang="zh-TW" dirty="0"/>
              <a:t>OLS</a:t>
            </a:r>
            <a:r>
              <a:rPr lang="zh-TW" altLang="en-US" dirty="0"/>
              <a:t>好，但</a:t>
            </a:r>
            <a:r>
              <a:rPr lang="en-US" altLang="zh-TW" dirty="0">
                <a:solidFill>
                  <a:srgbClr val="FF0000"/>
                </a:solidFill>
              </a:rPr>
              <a:t>R^2</a:t>
            </a:r>
            <a:r>
              <a:rPr lang="zh-TW" altLang="en-US" dirty="0">
                <a:solidFill>
                  <a:srgbClr val="FF0000"/>
                </a:solidFill>
              </a:rPr>
              <a:t>會大幅下降</a:t>
            </a:r>
            <a:r>
              <a:rPr lang="zh-TW" altLang="en-US" dirty="0"/>
              <a:t>，因為在估計係數的時侯，本質上也沒有加入交互作用項</a:t>
            </a:r>
            <a:r>
              <a:rPr lang="en-US" altLang="zh-TW" dirty="0"/>
              <a:t>(</a:t>
            </a:r>
            <a:r>
              <a:rPr lang="zh-TW" altLang="en-US" dirty="0"/>
              <a:t>沒有創造新變數</a:t>
            </a:r>
            <a:r>
              <a:rPr lang="en-US" altLang="zh-TW" dirty="0"/>
              <a:t>)</a:t>
            </a:r>
            <a:r>
              <a:rPr lang="zh-TW" altLang="en-US" dirty="0"/>
              <a:t>，且</a:t>
            </a:r>
            <a:r>
              <a:rPr lang="en-US" altLang="zh-TW" dirty="0">
                <a:solidFill>
                  <a:srgbClr val="FF0000"/>
                </a:solidFill>
              </a:rPr>
              <a:t>Ridge</a:t>
            </a:r>
            <a:r>
              <a:rPr lang="zh-TW" altLang="en-US" dirty="0">
                <a:solidFill>
                  <a:srgbClr val="FF0000"/>
                </a:solidFill>
              </a:rPr>
              <a:t>的表現效果還比較好</a:t>
            </a:r>
            <a:r>
              <a:rPr lang="en-US" altLang="zh-TW" dirty="0"/>
              <a:t>(</a:t>
            </a:r>
            <a:r>
              <a:rPr lang="zh-TW" altLang="en-US" dirty="0"/>
              <a:t>我也試過了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為了係數對於原始變數的解釋性，模型沒有用到</a:t>
            </a:r>
            <a:r>
              <a:rPr lang="en-US" altLang="zh-TW" dirty="0"/>
              <a:t>V</a:t>
            </a:r>
            <a:r>
              <a:rPr lang="zh-TW" altLang="en-US" dirty="0"/>
              <a:t>矩陣，導致模型抓非線性的能力下降。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610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DE42-F848-6ECF-4A5A-1A0491A3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B8C5E-2AEA-BCB5-F9CF-F106A406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55644" cy="128089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後續嘗試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CCFBBF-87A4-5E42-28F7-F62FFF41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B6CA62-3DC6-99E9-7287-E82816FD7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89523"/>
            <a:ext cx="8915400" cy="3777622"/>
          </a:xfrm>
        </p:spPr>
        <p:txBody>
          <a:bodyPr/>
          <a:lstStyle/>
          <a:p>
            <a:r>
              <a:rPr lang="zh-TW" altLang="en-US" dirty="0"/>
              <a:t>調整模擬資料</a:t>
            </a:r>
            <a:r>
              <a:rPr lang="en-US" altLang="zh-TW" dirty="0"/>
              <a:t>(</a:t>
            </a:r>
            <a:r>
              <a:rPr lang="zh-TW" altLang="en-US" dirty="0"/>
              <a:t>實際資料可能會很困難</a:t>
            </a:r>
            <a:r>
              <a:rPr lang="en-US" altLang="zh-TW" dirty="0"/>
              <a:t>)</a:t>
            </a:r>
            <a:r>
              <a:rPr lang="zh-TW" altLang="en-US" dirty="0"/>
              <a:t>，找到一些情況可以讓模型的表現比</a:t>
            </a:r>
            <a:r>
              <a:rPr lang="en-US" altLang="zh-TW" dirty="0"/>
              <a:t>OLS</a:t>
            </a:r>
            <a:r>
              <a:rPr lang="zh-TW" altLang="en-US" dirty="0"/>
              <a:t>以及</a:t>
            </a:r>
            <a:r>
              <a:rPr lang="en-US" altLang="zh-TW" dirty="0"/>
              <a:t>Ridge</a:t>
            </a:r>
            <a:r>
              <a:rPr lang="zh-TW" altLang="en-US" dirty="0"/>
              <a:t>甚至其他機器學習好，然後還</a:t>
            </a:r>
            <a:r>
              <a:rPr lang="zh-TW" altLang="en-US" dirty="0">
                <a:solidFill>
                  <a:schemeClr val="tx1"/>
                </a:solidFill>
              </a:rPr>
              <a:t>可以對原始變數做一個</a:t>
            </a:r>
            <a:r>
              <a:rPr lang="en-US" altLang="zh-TW" dirty="0">
                <a:solidFill>
                  <a:schemeClr val="tx1"/>
                </a:solidFill>
              </a:rPr>
              <a:t>overall</a:t>
            </a:r>
            <a:r>
              <a:rPr lang="zh-TW" altLang="en-US" dirty="0">
                <a:solidFill>
                  <a:schemeClr val="tx1"/>
                </a:solidFill>
              </a:rPr>
              <a:t>的解釋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模型的自由度必須要很低，不同於其他神經網路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重新定位論文的貢獻，說</a:t>
            </a:r>
            <a:r>
              <a:rPr lang="en-US" altLang="zh-TW" dirty="0">
                <a:solidFill>
                  <a:srgbClr val="FF0000"/>
                </a:solidFill>
              </a:rPr>
              <a:t>”</a:t>
            </a:r>
            <a:r>
              <a:rPr lang="zh-TW" altLang="en-US" dirty="0"/>
              <a:t>模型</a:t>
            </a:r>
            <a:r>
              <a:rPr lang="zh-TW" altLang="en-US" dirty="0">
                <a:solidFill>
                  <a:schemeClr val="tx1"/>
                </a:solidFill>
              </a:rPr>
              <a:t>可能</a:t>
            </a:r>
            <a:r>
              <a:rPr lang="zh-TW" altLang="en-US" dirty="0"/>
              <a:t>透過在</a:t>
            </a:r>
            <a:r>
              <a:rPr lang="zh-TW" altLang="en-US" dirty="0">
                <a:solidFill>
                  <a:srgbClr val="0070C0"/>
                </a:solidFill>
              </a:rPr>
              <a:t>變數有高共線性且不同變數之間的相關性不同</a:t>
            </a:r>
            <a:r>
              <a:rPr lang="zh-TW" altLang="en-US" dirty="0"/>
              <a:t>時，能基於</a:t>
            </a:r>
            <a:r>
              <a:rPr lang="en-US" altLang="zh-TW" dirty="0"/>
              <a:t>Ridge</a:t>
            </a:r>
            <a:r>
              <a:rPr lang="zh-TW" altLang="en-US" dirty="0"/>
              <a:t>去動態調整不同變數的懲罰，使得模型表現效果比</a:t>
            </a:r>
            <a:r>
              <a:rPr lang="en-US" altLang="zh-TW" dirty="0"/>
              <a:t>OLS</a:t>
            </a:r>
            <a:r>
              <a:rPr lang="zh-TW" altLang="en-US" dirty="0"/>
              <a:t>以及</a:t>
            </a:r>
            <a:r>
              <a:rPr lang="en-US" altLang="zh-TW" dirty="0"/>
              <a:t>Ridge</a:t>
            </a:r>
            <a:r>
              <a:rPr lang="zh-TW" altLang="en-US" dirty="0"/>
              <a:t>好</a:t>
            </a:r>
            <a:r>
              <a:rPr lang="en-US" altLang="zh-TW" dirty="0">
                <a:solidFill>
                  <a:srgbClr val="FF0000"/>
                </a:solidFill>
              </a:rPr>
              <a:t>”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提供合理的數學解釋。如果模型表現比傳統的統計方法好的話，感覺還是要有數理的一點解釋在後面。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29526315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640</TotalTime>
  <Words>1092</Words>
  <Application>Microsoft Office PowerPoint</Application>
  <PresentationFormat>寬螢幕</PresentationFormat>
  <Paragraphs>83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微軟正黑體</vt:lpstr>
      <vt:lpstr>標楷體</vt:lpstr>
      <vt:lpstr>Aptos</vt:lpstr>
      <vt:lpstr>Arial</vt:lpstr>
      <vt:lpstr>Century Gothic</vt:lpstr>
      <vt:lpstr>Wingdings 2</vt:lpstr>
      <vt:lpstr>Wingdings 3</vt:lpstr>
      <vt:lpstr>絲縷</vt:lpstr>
      <vt:lpstr>Progress Report </vt:lpstr>
      <vt:lpstr>目前的想法</vt:lpstr>
      <vt:lpstr>模型的建立方式</vt:lpstr>
      <vt:lpstr>資料輸入的型態   </vt:lpstr>
      <vt:lpstr>資料輸入的型態   </vt:lpstr>
      <vt:lpstr>Q、K matrix</vt:lpstr>
      <vt:lpstr>Attention matrix</vt:lpstr>
      <vt:lpstr>Attention-based GLM</vt:lpstr>
      <vt:lpstr>模擬資料與結果</vt:lpstr>
      <vt:lpstr>模擬資料的生成</vt:lpstr>
      <vt:lpstr>模型的表現</vt:lpstr>
      <vt:lpstr>可能找到的模型特點</vt:lpstr>
      <vt:lpstr>Adaptive regularization matrix distribution</vt:lpstr>
      <vt:lpstr>大問題</vt:lpstr>
      <vt:lpstr>為什麼無法做每個樣本的動態係數</vt:lpstr>
      <vt:lpstr>為什麼模型提升的效果有限</vt:lpstr>
      <vt:lpstr>後續嘗試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38</cp:revision>
  <dcterms:created xsi:type="dcterms:W3CDTF">2026-07-22T01:16:54Z</dcterms:created>
  <dcterms:modified xsi:type="dcterms:W3CDTF">2026-07-31T07:10:31Z</dcterms:modified>
</cp:coreProperties>
</file>