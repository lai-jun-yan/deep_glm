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6" r:id="rId5"/>
    <p:sldId id="267" r:id="rId6"/>
    <p:sldId id="268" r:id="rId7"/>
    <p:sldId id="269" r:id="rId8"/>
    <p:sldId id="271" r:id="rId9"/>
    <p:sldId id="270" r:id="rId10"/>
    <p:sldId id="260" r:id="rId11"/>
    <p:sldId id="261" r:id="rId12"/>
    <p:sldId id="262" r:id="rId13"/>
    <p:sldId id="263" r:id="rId14"/>
    <p:sldId id="264" r:id="rId15"/>
    <p:sldId id="265" r:id="rId16"/>
    <p:sldId id="272" r:id="rId17"/>
    <p:sldId id="273" r:id="rId18"/>
    <p:sldId id="274" r:id="rId19"/>
    <p:sldId id="276" r:id="rId20"/>
    <p:sldId id="275" r:id="rId21"/>
    <p:sldId id="277" r:id="rId22"/>
    <p:sldId id="278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8C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94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41D00-71D3-415C-A3D7-FEE25CF307DF}" type="datetimeFigureOut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C49D1-81FB-4156-A44F-160F4B30D9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62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650F-3925-534A-C297-0837807AB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EDCD1-5A09-A934-D288-FCABFB468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F4660-894E-CC17-AC3B-00344D1C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04FD-0122-4C23-A7F7-90F50FA97CFB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6E33-DDD7-A281-95EE-49E336F1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F5368-37CD-0A8A-D209-C494C35C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F035D8-9237-5786-6F02-4B1234406D00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DCD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AE8845C-80F4-E4F9-28B3-7DAD3BDD7E97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60144"/>
            <a:ext cx="332746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B6F6B4D-D3E9-338D-280B-2A3C4179403A}"/>
              </a:ext>
            </a:extLst>
          </p:cNvPr>
          <p:cNvSpPr txBox="1"/>
          <p:nvPr userDrawn="1"/>
        </p:nvSpPr>
        <p:spPr>
          <a:xfrm>
            <a:off x="402551" y="6460144"/>
            <a:ext cx="338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115-1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生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物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統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計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資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料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科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學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實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證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討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論</a:t>
            </a:r>
          </a:p>
        </p:txBody>
      </p:sp>
    </p:spTree>
    <p:extLst>
      <p:ext uri="{BB962C8B-B14F-4D97-AF65-F5344CB8AC3E}">
        <p14:creationId xmlns:p14="http://schemas.microsoft.com/office/powerpoint/2010/main" val="505981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6D67-7354-E67E-5A0C-899CFF7D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D813-8C80-16C5-7B72-3C3049367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103B6-1E13-22E2-10E3-5BD7C050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93685-C1D2-48C9-9284-D623AD71F952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C143C-6278-2AE0-FFC5-5CEA4D51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2A706-0F19-9F8C-0D59-082B4191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B36FA9A-7D9B-0363-5F4A-E5A2AC6EBB4B}"/>
              </a:ext>
            </a:extLst>
          </p:cNvPr>
          <p:cNvCxnSpPr>
            <a:cxnSpLocks/>
          </p:cNvCxnSpPr>
          <p:nvPr userDrawn="1"/>
        </p:nvCxnSpPr>
        <p:spPr>
          <a:xfrm>
            <a:off x="457200" y="6460144"/>
            <a:ext cx="332746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F4FC24F-7730-9B71-C29B-0282074E3604}"/>
              </a:ext>
            </a:extLst>
          </p:cNvPr>
          <p:cNvSpPr txBox="1"/>
          <p:nvPr userDrawn="1"/>
        </p:nvSpPr>
        <p:spPr>
          <a:xfrm>
            <a:off x="402551" y="6460144"/>
            <a:ext cx="3382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115-1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生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物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統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計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與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資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料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科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學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實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證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討</a:t>
            </a:r>
            <a:r>
              <a:rPr lang="zh-TW" altLang="en-US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400" b="1" i="1" kern="1200" dirty="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論</a:t>
            </a:r>
          </a:p>
        </p:txBody>
      </p:sp>
    </p:spTree>
    <p:extLst>
      <p:ext uri="{BB962C8B-B14F-4D97-AF65-F5344CB8AC3E}">
        <p14:creationId xmlns:p14="http://schemas.microsoft.com/office/powerpoint/2010/main" val="282656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6EA7-8F1B-F847-E613-52C0CD2B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F3460-BDC2-A5A5-F3B8-EC767FC49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4DAB-E2EE-C011-9D9C-6A6793BC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21E1F-1389-41B2-9326-3555E762196C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2CB9-3831-8CD4-E57D-52100784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4CDAA-6F85-5238-3F94-8694C007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84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ED57-4C53-57C5-C8E4-F9D42A9D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BD3C-F547-FDB3-E724-89F96FB60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0D330-0697-69CA-272A-4B58FF098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1AFF6-06F0-D29F-1977-821CEB72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80AFD-1CC5-4158-B562-616B460CE82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F4A2D-B165-7F52-E8B0-749542BB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1FF0B-E3F0-798E-A10E-17D876B5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68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2C75-A6E9-09A0-661A-FD8A6DFE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9B44C-1B44-2C7E-873B-E3D3DD275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A0FB5-D674-1F4C-2C15-6FBC0F45B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D6351-96DF-6C3C-D90F-C44EDAB0CE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A0A5D-B30D-2818-3DBC-C071801EA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16324-E273-59D9-C7D6-DA841058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61B6-5D58-4DCC-BC37-4C984D46F86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85130-8A22-B3BC-3C45-91FED7A7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9F194-B55A-9288-C1C4-9D995A7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7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1E2D-A5F4-9A9D-D98F-4734EB8D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7D5C8-8A23-1E0E-16B7-AFBD0A61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29CEB-4CFB-4511-9F4B-7E9E39F7DEB1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25B978-2FB6-82E4-1402-FD7B646E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44D64-119C-B030-22CA-B703AB3E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2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14579-7DF2-6D40-0BEA-23017825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0994F-6149-48E5-9E9E-81C33751446F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B73C7-149C-74CB-FAB1-164A8EC7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68699-AEB1-EA40-BC58-7880B4D31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42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DE69-5A83-E746-6149-814A1D5C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0C83E-966D-858D-2D6D-E37D1B1BB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C3E0C-B11D-67BB-04E2-102CC6175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3652F-EE42-C876-0C11-1EB90101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FEA22-09E0-4978-9370-A04C2FBE385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581B7-0D4C-D26B-BEDB-DC43CD58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00B38-1264-C116-1CDD-24F86C3A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62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000E-A0A6-335D-F25F-578B69A8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7D5BE-A641-5528-6EC7-6B4EB7EA3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006E4-BAA5-C7BF-A957-27E0C10F7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A6925-0C91-ED60-B9F0-94E33756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A6F0-A763-4F87-94DC-630F55A79544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FF19A-3EAA-067E-7727-63600357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A1090-7684-D75D-766E-9F9234A9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46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2B0A-3A51-A95C-B5F2-4B0A220D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8D036-61CE-0471-7F87-1FCA73A96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98C2F-E466-ECA4-6695-DDD5193B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69F33-1609-4AA2-8E60-EEDF43633812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F5AA-ACDC-8A45-3CD9-C85A5DF5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3628C-86D6-9AB9-A76A-7DA5C3B9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28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619B7-58E6-5621-849D-38F5C7015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07B1D-1BD5-E5E4-C7ED-DC3479B0D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56D2D-A496-8935-73E6-8B7D4A16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95497-16C4-4AF7-8525-51C7B214CA55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97315-FC32-4722-0A76-8FBE9ECDD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4427-5CB0-4F8F-AB50-71143FAB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59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8525B-1F05-E63A-C60D-54DD30D3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29C8D-776D-79CD-1860-C62177D5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C99D4-BCCD-D2C3-9E84-7C75A441B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A3C4B-293B-4117-8757-544BD5161A75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332A-D8CC-CB4D-228E-480441980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01FB-8849-6876-0CB1-4D2C764B0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7B4A2-F224-402A-B571-E032C14CF3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40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7F57-C7B3-FC31-90B8-F01D833C7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291"/>
            <a:ext cx="9144000" cy="2106974"/>
          </a:xfrm>
        </p:spPr>
        <p:txBody>
          <a:bodyPr>
            <a:noAutofit/>
          </a:bodyPr>
          <a:lstStyle/>
          <a:p>
            <a:r>
              <a:rPr lang="zh-TW" altLang="zh-TW" sz="4800" dirty="0"/>
              <a:t>Fusing global attention and self-attention for better performance and interpretability on tabular data</a:t>
            </a:r>
            <a:endParaRPr lang="zh-TW" alt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DEF6C-4108-9525-68E3-10E77BF6C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990889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賴俊延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指導教授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郭炤裕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老師、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林逸芬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老師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4CDDA-C6EB-BE00-4A8D-D7F79788C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</a:t>
            </a:fld>
            <a:endParaRPr lang="zh-TW" altLang="en-US" sz="1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C120BE-06DE-5A7B-358E-E4FF19DF6194}"/>
              </a:ext>
            </a:extLst>
          </p:cNvPr>
          <p:cNvSpPr txBox="1"/>
          <p:nvPr/>
        </p:nvSpPr>
        <p:spPr>
          <a:xfrm>
            <a:off x="368947" y="6079351"/>
            <a:ext cx="4468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4023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D77AD-07F2-88A4-C12D-8D1DD3E3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322AE0-5A6E-0C71-12D7-CD385F4BD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091" y="1690688"/>
            <a:ext cx="9552709" cy="4351338"/>
          </a:xfrm>
        </p:spPr>
        <p:txBody>
          <a:bodyPr/>
          <a:lstStyle/>
          <a:p>
            <a:r>
              <a:rPr lang="en-US" altLang="zh-TW" dirty="0"/>
              <a:t>Background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Motivation</a:t>
            </a:r>
          </a:p>
          <a:p>
            <a:endParaRPr lang="en-US" altLang="zh-TW" dirty="0"/>
          </a:p>
          <a:p>
            <a:r>
              <a:rPr lang="en-US" altLang="zh-TW" dirty="0"/>
              <a:t>Methods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127B0B-54C8-A86B-7F02-B0705583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2</a:t>
            </a:fld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456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93D5-E43D-8BF1-CDDB-A3677A40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B15B-E691-52BE-8995-2FC27B49D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7356"/>
            <a:ext cx="9144000" cy="723287"/>
          </a:xfrm>
        </p:spPr>
        <p:txBody>
          <a:bodyPr>
            <a:noAutofit/>
          </a:bodyPr>
          <a:lstStyle/>
          <a:p>
            <a:r>
              <a:rPr lang="en-US" altLang="zh-TW" sz="4800" dirty="0"/>
              <a:t>Background</a:t>
            </a:r>
            <a:endParaRPr lang="zh-TW" alt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90523-EFB3-F022-0264-433CD360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3</a:t>
            </a:fld>
            <a:endParaRPr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549172-05F1-98A7-7A71-DD444DD3F83D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1520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268C9-5984-06F5-2A52-794CF256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C7FF36-A41E-43A9-EEEB-90A23460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Embedding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2DAAD-CDC7-E5F9-45C2-C12AA365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4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C87E01F-F035-6781-4BC1-A36288EA11D0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9DABB7A-191B-1F79-35BB-152C20F77B2B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BE2F129-344D-7143-E7A8-52EBD884F019}"/>
              </a:ext>
            </a:extLst>
          </p:cNvPr>
          <p:cNvSpPr txBox="1"/>
          <p:nvPr/>
        </p:nvSpPr>
        <p:spPr>
          <a:xfrm>
            <a:off x="556975" y="2725141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</a:t>
            </a:r>
            <a:r>
              <a:rPr lang="en-US" altLang="zh-TW" sz="1400" dirty="0"/>
              <a:t>1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EF3E3D-AE9A-2573-A462-E5535E2313EC}"/>
              </a:ext>
            </a:extLst>
          </p:cNvPr>
          <p:cNvSpPr txBox="1"/>
          <p:nvPr/>
        </p:nvSpPr>
        <p:spPr>
          <a:xfrm>
            <a:off x="550635" y="3150500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</a:t>
            </a:r>
            <a:r>
              <a:rPr lang="en-US" altLang="zh-TW" sz="1400" dirty="0"/>
              <a:t>2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3481AF5-2CF2-E82E-44BF-6B8D4849EEF9}"/>
              </a:ext>
            </a:extLst>
          </p:cNvPr>
          <p:cNvSpPr txBox="1"/>
          <p:nvPr/>
        </p:nvSpPr>
        <p:spPr>
          <a:xfrm>
            <a:off x="550635" y="3580855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</a:t>
            </a:r>
            <a:r>
              <a:rPr lang="en-US" altLang="zh-TW" sz="1400" dirty="0"/>
              <a:t>3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2DBFDAB-099E-9C7C-D971-6D1801D0276A}"/>
              </a:ext>
            </a:extLst>
          </p:cNvPr>
          <p:cNvSpPr txBox="1"/>
          <p:nvPr/>
        </p:nvSpPr>
        <p:spPr>
          <a:xfrm>
            <a:off x="550635" y="4011210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</a:t>
            </a:r>
            <a:r>
              <a:rPr lang="en-US" altLang="zh-TW" sz="1400" dirty="0"/>
              <a:t>4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C527175-DCF4-D72A-8678-24157203EE82}"/>
              </a:ext>
            </a:extLst>
          </p:cNvPr>
          <p:cNvSpPr txBox="1"/>
          <p:nvPr/>
        </p:nvSpPr>
        <p:spPr>
          <a:xfrm>
            <a:off x="550635" y="4438440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X</a:t>
            </a:r>
            <a:r>
              <a:rPr lang="en-US" altLang="zh-TW" sz="1400" dirty="0"/>
              <a:t>5</a:t>
            </a:r>
            <a:endParaRPr lang="zh-TW" altLang="en-US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0627943B-8B0B-F37B-E9A3-6851867FBFC7}"/>
              </a:ext>
            </a:extLst>
          </p:cNvPr>
          <p:cNvSpPr/>
          <p:nvPr/>
        </p:nvSpPr>
        <p:spPr>
          <a:xfrm>
            <a:off x="2125914" y="3727017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966953E-AEA6-C997-41E9-257A7B515264}"/>
              </a:ext>
            </a:extLst>
          </p:cNvPr>
          <p:cNvSpPr txBox="1"/>
          <p:nvPr/>
        </p:nvSpPr>
        <p:spPr>
          <a:xfrm>
            <a:off x="3906612" y="2637291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682CFA8-CDA2-7908-4A43-D666E2ABE51A}"/>
              </a:ext>
            </a:extLst>
          </p:cNvPr>
          <p:cNvSpPr txBox="1"/>
          <p:nvPr/>
        </p:nvSpPr>
        <p:spPr>
          <a:xfrm>
            <a:off x="4503186" y="2637291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06A3E464-1EA8-0B6A-689D-720A968062E8}"/>
              </a:ext>
            </a:extLst>
          </p:cNvPr>
          <p:cNvSpPr txBox="1"/>
          <p:nvPr/>
        </p:nvSpPr>
        <p:spPr>
          <a:xfrm>
            <a:off x="5153698" y="2637291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DCC3895-9933-6AFD-7C87-F4B131915137}"/>
              </a:ext>
            </a:extLst>
          </p:cNvPr>
          <p:cNvSpPr txBox="1"/>
          <p:nvPr/>
        </p:nvSpPr>
        <p:spPr>
          <a:xfrm>
            <a:off x="5804210" y="2637291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42B40EA0-ABAF-F103-7CC7-A56831300D0F}"/>
              </a:ext>
            </a:extLst>
          </p:cNvPr>
          <p:cNvSpPr txBox="1"/>
          <p:nvPr/>
        </p:nvSpPr>
        <p:spPr>
          <a:xfrm>
            <a:off x="6454722" y="2637291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6" name="左右大括弧 55">
            <a:extLst>
              <a:ext uri="{FF2B5EF4-FFF2-40B4-BE49-F238E27FC236}">
                <a16:creationId xmlns:a16="http://schemas.microsoft.com/office/drawing/2014/main" id="{857A9680-65E8-9EE3-9347-5CAB7FA07910}"/>
              </a:ext>
            </a:extLst>
          </p:cNvPr>
          <p:cNvSpPr/>
          <p:nvPr/>
        </p:nvSpPr>
        <p:spPr>
          <a:xfrm>
            <a:off x="380915" y="279920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57D736D-FAEB-2130-8481-B6B169CAE48D}"/>
              </a:ext>
            </a:extLst>
          </p:cNvPr>
          <p:cNvSpPr txBox="1"/>
          <p:nvPr/>
        </p:nvSpPr>
        <p:spPr>
          <a:xfrm>
            <a:off x="3906612" y="306808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FFED43C8-2265-0DAA-D883-470363BA2451}"/>
              </a:ext>
            </a:extLst>
          </p:cNvPr>
          <p:cNvSpPr txBox="1"/>
          <p:nvPr/>
        </p:nvSpPr>
        <p:spPr>
          <a:xfrm>
            <a:off x="4503186" y="306808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23E21706-8E05-0B72-0D58-3AAB2F07FC5E}"/>
              </a:ext>
            </a:extLst>
          </p:cNvPr>
          <p:cNvSpPr txBox="1"/>
          <p:nvPr/>
        </p:nvSpPr>
        <p:spPr>
          <a:xfrm>
            <a:off x="5153698" y="306808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0DF4655-8AAF-91E2-64A6-AE827E3757A7}"/>
              </a:ext>
            </a:extLst>
          </p:cNvPr>
          <p:cNvSpPr txBox="1"/>
          <p:nvPr/>
        </p:nvSpPr>
        <p:spPr>
          <a:xfrm>
            <a:off x="5804210" y="306808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EBD0548D-583F-81D2-3B60-CFDA8CA76227}"/>
              </a:ext>
            </a:extLst>
          </p:cNvPr>
          <p:cNvSpPr txBox="1"/>
          <p:nvPr/>
        </p:nvSpPr>
        <p:spPr>
          <a:xfrm>
            <a:off x="6454722" y="306808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B93EAAB-EEA6-8ABD-B067-232D04E18C4A}"/>
              </a:ext>
            </a:extLst>
          </p:cNvPr>
          <p:cNvSpPr txBox="1"/>
          <p:nvPr/>
        </p:nvSpPr>
        <p:spPr>
          <a:xfrm>
            <a:off x="3906612" y="349811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4C129AD9-2373-613E-6F8B-7AAFBC6EB531}"/>
              </a:ext>
            </a:extLst>
          </p:cNvPr>
          <p:cNvSpPr txBox="1"/>
          <p:nvPr/>
        </p:nvSpPr>
        <p:spPr>
          <a:xfrm>
            <a:off x="4503186" y="349811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6C916B1E-AD89-E026-6103-7E087878A2C3}"/>
              </a:ext>
            </a:extLst>
          </p:cNvPr>
          <p:cNvSpPr txBox="1"/>
          <p:nvPr/>
        </p:nvSpPr>
        <p:spPr>
          <a:xfrm>
            <a:off x="5153698" y="349811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C5B5078B-BAC5-75B3-3359-764113A00E25}"/>
              </a:ext>
            </a:extLst>
          </p:cNvPr>
          <p:cNvSpPr txBox="1"/>
          <p:nvPr/>
        </p:nvSpPr>
        <p:spPr>
          <a:xfrm>
            <a:off x="5804210" y="349811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025C3806-A430-EBEA-6A41-60C8C28FE1DF}"/>
              </a:ext>
            </a:extLst>
          </p:cNvPr>
          <p:cNvSpPr txBox="1"/>
          <p:nvPr/>
        </p:nvSpPr>
        <p:spPr>
          <a:xfrm>
            <a:off x="6454722" y="349811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F4559938-596A-4A4A-179A-251C546C7DCF}"/>
              </a:ext>
            </a:extLst>
          </p:cNvPr>
          <p:cNvSpPr txBox="1"/>
          <p:nvPr/>
        </p:nvSpPr>
        <p:spPr>
          <a:xfrm>
            <a:off x="3906612" y="392852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D541DB7D-DD68-DD6B-8AFC-B77511A99DA8}"/>
              </a:ext>
            </a:extLst>
          </p:cNvPr>
          <p:cNvSpPr txBox="1"/>
          <p:nvPr/>
        </p:nvSpPr>
        <p:spPr>
          <a:xfrm>
            <a:off x="4503186" y="392852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C9C650A2-CD9E-B49E-F32D-86A0B045EF04}"/>
              </a:ext>
            </a:extLst>
          </p:cNvPr>
          <p:cNvSpPr txBox="1"/>
          <p:nvPr/>
        </p:nvSpPr>
        <p:spPr>
          <a:xfrm>
            <a:off x="5153698" y="392852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3986EFEC-B0BA-03C5-4ADD-33C5DCEEF71B}"/>
              </a:ext>
            </a:extLst>
          </p:cNvPr>
          <p:cNvSpPr txBox="1"/>
          <p:nvPr/>
        </p:nvSpPr>
        <p:spPr>
          <a:xfrm>
            <a:off x="5804210" y="392852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062BD603-8985-2CA5-DCDB-A04A27692A04}"/>
              </a:ext>
            </a:extLst>
          </p:cNvPr>
          <p:cNvSpPr txBox="1"/>
          <p:nvPr/>
        </p:nvSpPr>
        <p:spPr>
          <a:xfrm>
            <a:off x="6454722" y="392852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440E42D-AD86-071F-96A5-B649078B9843}"/>
              </a:ext>
            </a:extLst>
          </p:cNvPr>
          <p:cNvSpPr txBox="1"/>
          <p:nvPr/>
        </p:nvSpPr>
        <p:spPr>
          <a:xfrm>
            <a:off x="3906612" y="435893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1F952D84-DF54-327E-B777-801196A57E46}"/>
              </a:ext>
            </a:extLst>
          </p:cNvPr>
          <p:cNvSpPr txBox="1"/>
          <p:nvPr/>
        </p:nvSpPr>
        <p:spPr>
          <a:xfrm>
            <a:off x="4503186" y="435893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16496FA5-0BF4-79E9-1FD5-5AB99E2D1AAA}"/>
              </a:ext>
            </a:extLst>
          </p:cNvPr>
          <p:cNvSpPr txBox="1"/>
          <p:nvPr/>
        </p:nvSpPr>
        <p:spPr>
          <a:xfrm>
            <a:off x="5153698" y="435893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7CADEEA1-A634-6FD7-7121-6CEAE37AD8A3}"/>
              </a:ext>
            </a:extLst>
          </p:cNvPr>
          <p:cNvSpPr txBox="1"/>
          <p:nvPr/>
        </p:nvSpPr>
        <p:spPr>
          <a:xfrm>
            <a:off x="5804210" y="435893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500F929F-B6AD-F493-DA55-851754900732}"/>
              </a:ext>
            </a:extLst>
          </p:cNvPr>
          <p:cNvSpPr txBox="1"/>
          <p:nvPr/>
        </p:nvSpPr>
        <p:spPr>
          <a:xfrm>
            <a:off x="6454722" y="435893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0" name="箭號: 向右 119">
            <a:extLst>
              <a:ext uri="{FF2B5EF4-FFF2-40B4-BE49-F238E27FC236}">
                <a16:creationId xmlns:a16="http://schemas.microsoft.com/office/drawing/2014/main" id="{A26AF028-6C52-2194-9E3D-A85FCA431AAB}"/>
              </a:ext>
            </a:extLst>
          </p:cNvPr>
          <p:cNvSpPr/>
          <p:nvPr/>
        </p:nvSpPr>
        <p:spPr>
          <a:xfrm>
            <a:off x="8199552" y="3699647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E303D3C9-5315-CB55-60DF-CB3271D443C8}"/>
              </a:ext>
            </a:extLst>
          </p:cNvPr>
          <p:cNvSpPr txBox="1"/>
          <p:nvPr/>
        </p:nvSpPr>
        <p:spPr>
          <a:xfrm>
            <a:off x="9654372" y="2801097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E</a:t>
            </a:r>
            <a:r>
              <a:rPr lang="en-US" altLang="zh-TW" sz="1400" dirty="0"/>
              <a:t>1</a:t>
            </a:r>
            <a:endParaRPr lang="zh-TW" altLang="en-US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C8A3F669-1B0F-7F92-200C-670601C78189}"/>
              </a:ext>
            </a:extLst>
          </p:cNvPr>
          <p:cNvSpPr txBox="1"/>
          <p:nvPr/>
        </p:nvSpPr>
        <p:spPr>
          <a:xfrm>
            <a:off x="9648032" y="3226456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E</a:t>
            </a:r>
            <a:r>
              <a:rPr lang="en-US" altLang="zh-TW" sz="1400" dirty="0"/>
              <a:t>2</a:t>
            </a:r>
            <a:endParaRPr lang="zh-TW" altLang="en-US" dirty="0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16EEA03A-F3F9-AAD1-DEC1-340E7AE6D2DC}"/>
              </a:ext>
            </a:extLst>
          </p:cNvPr>
          <p:cNvSpPr txBox="1"/>
          <p:nvPr/>
        </p:nvSpPr>
        <p:spPr>
          <a:xfrm>
            <a:off x="9648032" y="3656811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E</a:t>
            </a:r>
            <a:r>
              <a:rPr lang="en-US" altLang="zh-TW" sz="1400" dirty="0"/>
              <a:t>3</a:t>
            </a:r>
            <a:endParaRPr lang="zh-TW" altLang="en-US" dirty="0"/>
          </a:p>
        </p:txBody>
      </p: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493757DE-B12F-8AEC-A19C-4577EA527095}"/>
              </a:ext>
            </a:extLst>
          </p:cNvPr>
          <p:cNvSpPr txBox="1"/>
          <p:nvPr/>
        </p:nvSpPr>
        <p:spPr>
          <a:xfrm>
            <a:off x="9648032" y="4087166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E</a:t>
            </a:r>
            <a:r>
              <a:rPr lang="en-US" altLang="zh-TW" sz="1400" dirty="0"/>
              <a:t>4</a:t>
            </a:r>
            <a:endParaRPr lang="zh-TW" altLang="en-US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85273B-03D4-D98B-E2A2-CABBAF7BA6BC}"/>
              </a:ext>
            </a:extLst>
          </p:cNvPr>
          <p:cNvSpPr txBox="1"/>
          <p:nvPr/>
        </p:nvSpPr>
        <p:spPr>
          <a:xfrm>
            <a:off x="9648032" y="4515003"/>
            <a:ext cx="65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E</a:t>
            </a:r>
            <a:r>
              <a:rPr lang="en-US" altLang="zh-TW" sz="1400" dirty="0"/>
              <a:t>5</a:t>
            </a:r>
            <a:endParaRPr lang="zh-TW" altLang="en-US" dirty="0"/>
          </a:p>
        </p:txBody>
      </p:sp>
      <p:sp>
        <p:nvSpPr>
          <p:cNvPr id="132" name="左右大括弧 131">
            <a:extLst>
              <a:ext uri="{FF2B5EF4-FFF2-40B4-BE49-F238E27FC236}">
                <a16:creationId xmlns:a16="http://schemas.microsoft.com/office/drawing/2014/main" id="{2F5879F4-3950-5E5C-EBFF-D9D9D4B00593}"/>
              </a:ext>
            </a:extLst>
          </p:cNvPr>
          <p:cNvSpPr/>
          <p:nvPr/>
        </p:nvSpPr>
        <p:spPr>
          <a:xfrm>
            <a:off x="9490586" y="2819135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FAB9295B-8E98-D14A-FEFF-1AB6C6CF488B}"/>
              </a:ext>
            </a:extLst>
          </p:cNvPr>
          <p:cNvSpPr/>
          <p:nvPr/>
        </p:nvSpPr>
        <p:spPr>
          <a:xfrm>
            <a:off x="9082631" y="2350437"/>
            <a:ext cx="2957992" cy="28107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1172F2A1-A526-EDD6-05EA-86A21347E629}"/>
              </a:ext>
            </a:extLst>
          </p:cNvPr>
          <p:cNvSpPr txBox="1"/>
          <p:nvPr/>
        </p:nvSpPr>
        <p:spPr>
          <a:xfrm>
            <a:off x="8850064" y="15565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65" name="左右中括弧 164">
            <a:extLst>
              <a:ext uri="{FF2B5EF4-FFF2-40B4-BE49-F238E27FC236}">
                <a16:creationId xmlns:a16="http://schemas.microsoft.com/office/drawing/2014/main" id="{1564A440-F548-2D22-13F2-5B1BE5490C4B}"/>
              </a:ext>
            </a:extLst>
          </p:cNvPr>
          <p:cNvSpPr/>
          <p:nvPr/>
        </p:nvSpPr>
        <p:spPr>
          <a:xfrm>
            <a:off x="3596231" y="2678974"/>
            <a:ext cx="3849735" cy="2216171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59AE0C-068C-3B62-8BC0-6FE3675EA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57" y="4736577"/>
            <a:ext cx="667143" cy="2167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C7FD23C7-9009-A9BB-07C3-8E0339CD9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581" y="4699596"/>
            <a:ext cx="796429" cy="36512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41AE321-0679-2ADA-6086-6FF73CB1F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125" y="4670350"/>
            <a:ext cx="954909" cy="39437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48F19D5A-C68D-4542-1432-AE5C9B1192B9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8414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36C-99D5-F3EC-DD25-3E2175E8B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98B5E-0BED-C646-D3E4-2E44579B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Query, Key &amp; Value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3ABDF3-3829-6817-7A5C-768FA5E4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5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7A0084E-48A2-B8D1-B4FB-0B819E012C3D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25908B-4905-6D18-DF75-1F35C9EE9F4F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754A9EDE-5407-B4F1-C5A3-24BDCB371B3B}"/>
              </a:ext>
            </a:extLst>
          </p:cNvPr>
          <p:cNvSpPr txBox="1"/>
          <p:nvPr/>
        </p:nvSpPr>
        <p:spPr>
          <a:xfrm>
            <a:off x="2404279" y="2110287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solidFill>
                  <a:srgbClr val="00B0F0"/>
                </a:solidFill>
              </a:rPr>
              <a:t>W</a:t>
            </a:r>
            <a:r>
              <a:rPr lang="en-US" altLang="zh-TW" sz="2800" dirty="0" err="1">
                <a:solidFill>
                  <a:srgbClr val="00B0F0"/>
                </a:solidFill>
              </a:rPr>
              <a:t>q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20B13203-EA81-3412-F2D1-9D0CE205A9CD}"/>
              </a:ext>
            </a:extLst>
          </p:cNvPr>
          <p:cNvSpPr txBox="1"/>
          <p:nvPr/>
        </p:nvSpPr>
        <p:spPr>
          <a:xfrm>
            <a:off x="1411102" y="2110287"/>
            <a:ext cx="650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</a:rPr>
              <a:t>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65" name="箭號: 向右 64">
            <a:extLst>
              <a:ext uri="{FF2B5EF4-FFF2-40B4-BE49-F238E27FC236}">
                <a16:creationId xmlns:a16="http://schemas.microsoft.com/office/drawing/2014/main" id="{12153864-F208-4C2F-66E9-E761AC0B6DD9}"/>
              </a:ext>
            </a:extLst>
          </p:cNvPr>
          <p:cNvSpPr/>
          <p:nvPr/>
        </p:nvSpPr>
        <p:spPr>
          <a:xfrm>
            <a:off x="4163369" y="2349624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5B452A65-1AEE-10C8-2B8C-8D52D200038D}"/>
              </a:ext>
            </a:extLst>
          </p:cNvPr>
          <p:cNvSpPr txBox="1"/>
          <p:nvPr/>
        </p:nvSpPr>
        <p:spPr>
          <a:xfrm>
            <a:off x="2404279" y="3455697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 err="1">
                <a:solidFill>
                  <a:srgbClr val="00B050"/>
                </a:solidFill>
              </a:rPr>
              <a:t>W</a:t>
            </a:r>
            <a:r>
              <a:rPr lang="en-US" altLang="zh-TW" sz="2800" dirty="0" err="1">
                <a:solidFill>
                  <a:srgbClr val="00B050"/>
                </a:solidFill>
              </a:rPr>
              <a:t>k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1000054D-7B36-6E93-788F-56B0B42BBF25}"/>
              </a:ext>
            </a:extLst>
          </p:cNvPr>
          <p:cNvSpPr txBox="1"/>
          <p:nvPr/>
        </p:nvSpPr>
        <p:spPr>
          <a:xfrm>
            <a:off x="1411102" y="3455697"/>
            <a:ext cx="650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</a:rPr>
              <a:t>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8083C91C-D137-C33A-AC4B-FAA878C88734}"/>
              </a:ext>
            </a:extLst>
          </p:cNvPr>
          <p:cNvSpPr txBox="1"/>
          <p:nvPr/>
        </p:nvSpPr>
        <p:spPr>
          <a:xfrm>
            <a:off x="2404279" y="4995039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chemeClr val="accent5"/>
                </a:solidFill>
              </a:rPr>
              <a:t>W</a:t>
            </a:r>
            <a:r>
              <a:rPr lang="en-US" altLang="zh-TW" sz="2800" dirty="0">
                <a:solidFill>
                  <a:schemeClr val="accent5"/>
                </a:solidFill>
              </a:rPr>
              <a:t>v</a:t>
            </a:r>
            <a:endParaRPr lang="zh-TW" altLang="en-US" sz="3600" dirty="0">
              <a:solidFill>
                <a:schemeClr val="accent5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63BA5E5-C9F2-56C1-478E-CB1B49B1BB1A}"/>
              </a:ext>
            </a:extLst>
          </p:cNvPr>
          <p:cNvSpPr txBox="1"/>
          <p:nvPr/>
        </p:nvSpPr>
        <p:spPr>
          <a:xfrm>
            <a:off x="1411102" y="4995039"/>
            <a:ext cx="650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FF0000"/>
                </a:solidFill>
              </a:rPr>
              <a:t>E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82" name="箭號: 向右 81">
            <a:extLst>
              <a:ext uri="{FF2B5EF4-FFF2-40B4-BE49-F238E27FC236}">
                <a16:creationId xmlns:a16="http://schemas.microsoft.com/office/drawing/2014/main" id="{901A9038-1DD2-1870-6386-869543C5C395}"/>
              </a:ext>
            </a:extLst>
          </p:cNvPr>
          <p:cNvSpPr/>
          <p:nvPr/>
        </p:nvSpPr>
        <p:spPr>
          <a:xfrm>
            <a:off x="4163369" y="3695200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箭號: 向右 84">
            <a:extLst>
              <a:ext uri="{FF2B5EF4-FFF2-40B4-BE49-F238E27FC236}">
                <a16:creationId xmlns:a16="http://schemas.microsoft.com/office/drawing/2014/main" id="{C6F0AA9A-39E0-FD0C-6091-4EF1386D3C98}"/>
              </a:ext>
            </a:extLst>
          </p:cNvPr>
          <p:cNvSpPr/>
          <p:nvPr/>
        </p:nvSpPr>
        <p:spPr>
          <a:xfrm>
            <a:off x="4163369" y="5234542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7D12B4E2-4DFC-3863-C258-E944A56C9E7A}"/>
              </a:ext>
            </a:extLst>
          </p:cNvPr>
          <p:cNvSpPr txBox="1"/>
          <p:nvPr/>
        </p:nvSpPr>
        <p:spPr>
          <a:xfrm>
            <a:off x="5422618" y="2110121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00B0F0"/>
                </a:solidFill>
              </a:rPr>
              <a:t>Q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F98C67B4-CB42-A1ED-E7C1-43A787AD2B7A}"/>
              </a:ext>
            </a:extLst>
          </p:cNvPr>
          <p:cNvSpPr txBox="1"/>
          <p:nvPr/>
        </p:nvSpPr>
        <p:spPr>
          <a:xfrm>
            <a:off x="5422618" y="3485568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00B050"/>
                </a:solidFill>
              </a:rPr>
              <a:t>K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52F6DE22-D02F-0FB9-E0FF-8CDEC7021EE1}"/>
              </a:ext>
            </a:extLst>
          </p:cNvPr>
          <p:cNvSpPr txBox="1"/>
          <p:nvPr/>
        </p:nvSpPr>
        <p:spPr>
          <a:xfrm>
            <a:off x="5379464" y="5061752"/>
            <a:ext cx="1104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chemeClr val="accent5"/>
                </a:solidFill>
              </a:rPr>
              <a:t>V</a:t>
            </a:r>
            <a:endParaRPr lang="zh-TW" altLang="en-US" sz="3600" dirty="0">
              <a:solidFill>
                <a:schemeClr val="accent5"/>
              </a:solidFill>
            </a:endParaRPr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8C421B86-352F-49B6-0D11-0665BE454EE3}"/>
              </a:ext>
            </a:extLst>
          </p:cNvPr>
          <p:cNvSpPr txBox="1"/>
          <p:nvPr/>
        </p:nvSpPr>
        <p:spPr>
          <a:xfrm>
            <a:off x="7639066" y="56075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11" name="左右大括弧 110">
            <a:extLst>
              <a:ext uri="{FF2B5EF4-FFF2-40B4-BE49-F238E27FC236}">
                <a16:creationId xmlns:a16="http://schemas.microsoft.com/office/drawing/2014/main" id="{FA697569-110E-7850-DF96-229EE941B863}"/>
              </a:ext>
            </a:extLst>
          </p:cNvPr>
          <p:cNvSpPr/>
          <p:nvPr/>
        </p:nvSpPr>
        <p:spPr>
          <a:xfrm>
            <a:off x="7463006" y="809441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6EDF2F2-612D-27F1-8D88-086F0988AB99}"/>
              </a:ext>
            </a:extLst>
          </p:cNvPr>
          <p:cNvSpPr txBox="1"/>
          <p:nvPr/>
        </p:nvSpPr>
        <p:spPr>
          <a:xfrm>
            <a:off x="7626725" y="102241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E64F5E8C-FEB5-D69A-B519-470B0FFD38C7}"/>
              </a:ext>
            </a:extLst>
          </p:cNvPr>
          <p:cNvSpPr txBox="1"/>
          <p:nvPr/>
        </p:nvSpPr>
        <p:spPr>
          <a:xfrm>
            <a:off x="7626725" y="1516778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EE438964-712E-58E0-DE59-7FF1946239DA}"/>
              </a:ext>
            </a:extLst>
          </p:cNvPr>
          <p:cNvSpPr txBox="1"/>
          <p:nvPr/>
        </p:nvSpPr>
        <p:spPr>
          <a:xfrm>
            <a:off x="7626725" y="200752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9E668DCA-D0D3-61BB-3571-956707AA9A5A}"/>
              </a:ext>
            </a:extLst>
          </p:cNvPr>
          <p:cNvSpPr txBox="1"/>
          <p:nvPr/>
        </p:nvSpPr>
        <p:spPr>
          <a:xfrm>
            <a:off x="7626725" y="2498270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B2BA649C-6007-6DC6-0E33-BE9C7B06164C}"/>
              </a:ext>
            </a:extLst>
          </p:cNvPr>
          <p:cNvSpPr txBox="1"/>
          <p:nvPr/>
        </p:nvSpPr>
        <p:spPr>
          <a:xfrm>
            <a:off x="9237119" y="243173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33" name="左右大括弧 132">
            <a:extLst>
              <a:ext uri="{FF2B5EF4-FFF2-40B4-BE49-F238E27FC236}">
                <a16:creationId xmlns:a16="http://schemas.microsoft.com/office/drawing/2014/main" id="{93491D0A-0C15-9D46-F094-17D5C7AF36F3}"/>
              </a:ext>
            </a:extLst>
          </p:cNvPr>
          <p:cNvSpPr/>
          <p:nvPr/>
        </p:nvSpPr>
        <p:spPr>
          <a:xfrm>
            <a:off x="9061059" y="268042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151D7A64-7288-4B3F-B913-C4E44400F77C}"/>
              </a:ext>
            </a:extLst>
          </p:cNvPr>
          <p:cNvSpPr txBox="1"/>
          <p:nvPr/>
        </p:nvSpPr>
        <p:spPr>
          <a:xfrm>
            <a:off x="9224778" y="289340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5423B809-332E-D5DF-2D77-93BB02DEDC4D}"/>
              </a:ext>
            </a:extLst>
          </p:cNvPr>
          <p:cNvSpPr txBox="1"/>
          <p:nvPr/>
        </p:nvSpPr>
        <p:spPr>
          <a:xfrm>
            <a:off x="9224778" y="338776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C5D3F303-B574-A126-BC3F-65C00E9BD449}"/>
              </a:ext>
            </a:extLst>
          </p:cNvPr>
          <p:cNvSpPr txBox="1"/>
          <p:nvPr/>
        </p:nvSpPr>
        <p:spPr>
          <a:xfrm>
            <a:off x="9224778" y="387850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42" name="文字方塊 141">
            <a:extLst>
              <a:ext uri="{FF2B5EF4-FFF2-40B4-BE49-F238E27FC236}">
                <a16:creationId xmlns:a16="http://schemas.microsoft.com/office/drawing/2014/main" id="{7FC642B1-DAFE-FAE1-2D77-481A313B0C07}"/>
              </a:ext>
            </a:extLst>
          </p:cNvPr>
          <p:cNvSpPr txBox="1"/>
          <p:nvPr/>
        </p:nvSpPr>
        <p:spPr>
          <a:xfrm>
            <a:off x="9224778" y="436925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5F49D350-1F4F-7951-BC84-CFB4307973E5}"/>
              </a:ext>
            </a:extLst>
          </p:cNvPr>
          <p:cNvSpPr txBox="1"/>
          <p:nvPr/>
        </p:nvSpPr>
        <p:spPr>
          <a:xfrm>
            <a:off x="7639066" y="436925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50" name="左右大括弧 149">
            <a:extLst>
              <a:ext uri="{FF2B5EF4-FFF2-40B4-BE49-F238E27FC236}">
                <a16:creationId xmlns:a16="http://schemas.microsoft.com/office/drawing/2014/main" id="{2BE4AB6B-8670-6BBE-9F0F-07C96EE72F09}"/>
              </a:ext>
            </a:extLst>
          </p:cNvPr>
          <p:cNvSpPr/>
          <p:nvPr/>
        </p:nvSpPr>
        <p:spPr>
          <a:xfrm>
            <a:off x="7463006" y="4617945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95467605-D3E3-74A5-D66E-582BF503F00A}"/>
              </a:ext>
            </a:extLst>
          </p:cNvPr>
          <p:cNvSpPr txBox="1"/>
          <p:nvPr/>
        </p:nvSpPr>
        <p:spPr>
          <a:xfrm>
            <a:off x="7626725" y="4830920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D9D98DB3-0F0C-CBB8-CB5E-BEAC86589015}"/>
              </a:ext>
            </a:extLst>
          </p:cNvPr>
          <p:cNvSpPr txBox="1"/>
          <p:nvPr/>
        </p:nvSpPr>
        <p:spPr>
          <a:xfrm>
            <a:off x="7626725" y="5325282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9F932097-8C70-C691-0FD2-CDC8D0FC6076}"/>
              </a:ext>
            </a:extLst>
          </p:cNvPr>
          <p:cNvSpPr txBox="1"/>
          <p:nvPr/>
        </p:nvSpPr>
        <p:spPr>
          <a:xfrm>
            <a:off x="7626725" y="5816028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80F3EDE1-08F0-F2DC-68D9-E283A5DCB656}"/>
              </a:ext>
            </a:extLst>
          </p:cNvPr>
          <p:cNvSpPr txBox="1"/>
          <p:nvPr/>
        </p:nvSpPr>
        <p:spPr>
          <a:xfrm>
            <a:off x="7626725" y="630677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B0D8CD4-C85C-71C7-EFA4-4FA7F445E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617" y="2896071"/>
            <a:ext cx="1460528" cy="51256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9F1FA55-EEFF-442B-C338-7FC5000B7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075" y="4721939"/>
            <a:ext cx="1104010" cy="39132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8BD9C64-960A-4939-9515-9BB9BA22E0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23" y="4483821"/>
            <a:ext cx="1194215" cy="4762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3DABBE3-4BA3-3052-A2FA-38E5ADA6C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676" y="6334750"/>
            <a:ext cx="755599" cy="33835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3B95F7C-CB7F-FE40-197C-4E11EA9A0F2D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8181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AA76-095A-875E-B1C1-607CA77B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4B8F5-C00D-A53A-49B8-E924F057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Attention (1)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8A6CD7-5641-9362-80E2-3B34AF7C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6</a:t>
            </a:fld>
            <a:endParaRPr lang="zh-TW" altLang="en-US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81ABADD-EA17-E408-967D-BE208BD58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93" y="1610657"/>
            <a:ext cx="5072502" cy="983011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B50A5D2-FD86-C85D-A321-E146680AB553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E41C90A-C5D1-189F-4603-5CD25F442E42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68485E9-3028-27FF-69FF-66411736F63B}"/>
              </a:ext>
            </a:extLst>
          </p:cNvPr>
          <p:cNvSpPr txBox="1"/>
          <p:nvPr/>
        </p:nvSpPr>
        <p:spPr>
          <a:xfrm>
            <a:off x="912693" y="2427334"/>
            <a:ext cx="608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DCFAA0-68A6-16DE-CF32-E1D2E7A8B0A9}"/>
              </a:ext>
            </a:extLst>
          </p:cNvPr>
          <p:cNvSpPr txBox="1"/>
          <p:nvPr/>
        </p:nvSpPr>
        <p:spPr>
          <a:xfrm>
            <a:off x="968242" y="314950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9" name="左右大括弧 8">
            <a:extLst>
              <a:ext uri="{FF2B5EF4-FFF2-40B4-BE49-F238E27FC236}">
                <a16:creationId xmlns:a16="http://schemas.microsoft.com/office/drawing/2014/main" id="{5FD676F2-F969-6E1E-E6B8-CCFD550A1B1C}"/>
              </a:ext>
            </a:extLst>
          </p:cNvPr>
          <p:cNvSpPr/>
          <p:nvPr/>
        </p:nvSpPr>
        <p:spPr>
          <a:xfrm>
            <a:off x="792182" y="3398194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118B22B-C48E-989F-4EA7-7BEC0FA586CB}"/>
              </a:ext>
            </a:extLst>
          </p:cNvPr>
          <p:cNvSpPr txBox="1"/>
          <p:nvPr/>
        </p:nvSpPr>
        <p:spPr>
          <a:xfrm>
            <a:off x="955901" y="361116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9D3214-3F8A-ED45-8D57-38E02A520281}"/>
              </a:ext>
            </a:extLst>
          </p:cNvPr>
          <p:cNvSpPr txBox="1"/>
          <p:nvPr/>
        </p:nvSpPr>
        <p:spPr>
          <a:xfrm>
            <a:off x="955901" y="410553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E6B63C5-36FF-867D-87AF-BF8E2C93C92F}"/>
              </a:ext>
            </a:extLst>
          </p:cNvPr>
          <p:cNvSpPr txBox="1"/>
          <p:nvPr/>
        </p:nvSpPr>
        <p:spPr>
          <a:xfrm>
            <a:off x="955901" y="4596277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B693527-0446-F207-95FF-680989CCAD16}"/>
              </a:ext>
            </a:extLst>
          </p:cNvPr>
          <p:cNvSpPr txBox="1"/>
          <p:nvPr/>
        </p:nvSpPr>
        <p:spPr>
          <a:xfrm>
            <a:off x="955901" y="508702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q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25" name="左右中括弧 24">
            <a:extLst>
              <a:ext uri="{FF2B5EF4-FFF2-40B4-BE49-F238E27FC236}">
                <a16:creationId xmlns:a16="http://schemas.microsoft.com/office/drawing/2014/main" id="{127C17FA-06C5-6FBB-91B0-00848B871E6E}"/>
              </a:ext>
            </a:extLst>
          </p:cNvPr>
          <p:cNvSpPr/>
          <p:nvPr/>
        </p:nvSpPr>
        <p:spPr>
          <a:xfrm>
            <a:off x="2273758" y="4114311"/>
            <a:ext cx="2681831" cy="461665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C4B18E8-BA5E-FFB4-42FD-C5E979D68158}"/>
              </a:ext>
            </a:extLst>
          </p:cNvPr>
          <p:cNvSpPr txBox="1"/>
          <p:nvPr/>
        </p:nvSpPr>
        <p:spPr>
          <a:xfrm>
            <a:off x="2273758" y="408161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CD65EF6-7DB1-4227-F228-F6082C490116}"/>
              </a:ext>
            </a:extLst>
          </p:cNvPr>
          <p:cNvSpPr txBox="1"/>
          <p:nvPr/>
        </p:nvSpPr>
        <p:spPr>
          <a:xfrm>
            <a:off x="2763688" y="408161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438286C-355F-EBC0-193B-B4EA872E4672}"/>
              </a:ext>
            </a:extLst>
          </p:cNvPr>
          <p:cNvSpPr txBox="1"/>
          <p:nvPr/>
        </p:nvSpPr>
        <p:spPr>
          <a:xfrm>
            <a:off x="3277142" y="408161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397F712-CCAB-714F-33FE-7B4F982A27D9}"/>
              </a:ext>
            </a:extLst>
          </p:cNvPr>
          <p:cNvSpPr txBox="1"/>
          <p:nvPr/>
        </p:nvSpPr>
        <p:spPr>
          <a:xfrm>
            <a:off x="3767072" y="408161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D844A43-86FF-AE15-FAA5-D22C263DC65D}"/>
              </a:ext>
            </a:extLst>
          </p:cNvPr>
          <p:cNvSpPr txBox="1"/>
          <p:nvPr/>
        </p:nvSpPr>
        <p:spPr>
          <a:xfrm>
            <a:off x="4257002" y="408318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k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62414A24-18F4-2ED2-6C97-06C4C1643F8D}"/>
              </a:ext>
            </a:extLst>
          </p:cNvPr>
          <p:cNvSpPr/>
          <p:nvPr/>
        </p:nvSpPr>
        <p:spPr>
          <a:xfrm>
            <a:off x="5538840" y="3867631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5A159AE-FD9E-8DCF-5B46-285279F8E665}"/>
              </a:ext>
            </a:extLst>
          </p:cNvPr>
          <p:cNvSpPr txBox="1"/>
          <p:nvPr/>
        </p:nvSpPr>
        <p:spPr>
          <a:xfrm>
            <a:off x="6963882" y="316979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1</a:t>
            </a:r>
            <a:r>
              <a:rPr lang="en-US" altLang="zh-TW" sz="2400" dirty="0"/>
              <a:t>k</a:t>
            </a:r>
            <a:r>
              <a:rPr lang="en-US" altLang="zh-TW" sz="1600" dirty="0"/>
              <a:t>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3" name="左右中括弧 122">
            <a:extLst>
              <a:ext uri="{FF2B5EF4-FFF2-40B4-BE49-F238E27FC236}">
                <a16:creationId xmlns:a16="http://schemas.microsoft.com/office/drawing/2014/main" id="{F6266E12-C104-0A9D-02CC-3ADC0A735A41}"/>
              </a:ext>
            </a:extLst>
          </p:cNvPr>
          <p:cNvSpPr/>
          <p:nvPr/>
        </p:nvSpPr>
        <p:spPr>
          <a:xfrm>
            <a:off x="6868293" y="3191187"/>
            <a:ext cx="4648201" cy="2759726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51191F8E-BC8F-6D40-0730-655D28BCD75B}"/>
              </a:ext>
            </a:extLst>
          </p:cNvPr>
          <p:cNvSpPr txBox="1"/>
          <p:nvPr/>
        </p:nvSpPr>
        <p:spPr>
          <a:xfrm>
            <a:off x="7762192" y="316979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1</a:t>
            </a:r>
            <a:r>
              <a:rPr lang="en-US" altLang="zh-TW" sz="2400" dirty="0"/>
              <a:t>k</a:t>
            </a:r>
            <a:r>
              <a:rPr lang="en-US" altLang="zh-TW" sz="1600" dirty="0"/>
              <a:t>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614E3421-6421-5877-C864-AA33FA20A3CB}"/>
              </a:ext>
            </a:extLst>
          </p:cNvPr>
          <p:cNvSpPr txBox="1"/>
          <p:nvPr/>
        </p:nvSpPr>
        <p:spPr>
          <a:xfrm>
            <a:off x="8603695" y="316979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1</a:t>
            </a:r>
            <a:r>
              <a:rPr lang="en-US" altLang="zh-TW" sz="2400" dirty="0"/>
              <a:t>k</a:t>
            </a:r>
            <a:r>
              <a:rPr lang="en-US" altLang="zh-TW" sz="1600" dirty="0"/>
              <a:t>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DB695E16-C3FF-0AC3-7AD2-A33CD65E1F61}"/>
              </a:ext>
            </a:extLst>
          </p:cNvPr>
          <p:cNvSpPr txBox="1"/>
          <p:nvPr/>
        </p:nvSpPr>
        <p:spPr>
          <a:xfrm>
            <a:off x="9440639" y="316979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1</a:t>
            </a:r>
            <a:r>
              <a:rPr lang="en-US" altLang="zh-TW" sz="2400" dirty="0"/>
              <a:t>k</a:t>
            </a:r>
            <a:r>
              <a:rPr lang="en-US" altLang="zh-TW" sz="1600" dirty="0"/>
              <a:t>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3D8D17B9-C381-B87B-FF1E-5E8B47A1D9A9}"/>
              </a:ext>
            </a:extLst>
          </p:cNvPr>
          <p:cNvSpPr txBox="1"/>
          <p:nvPr/>
        </p:nvSpPr>
        <p:spPr>
          <a:xfrm>
            <a:off x="10282142" y="3149504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1</a:t>
            </a:r>
            <a:r>
              <a:rPr lang="en-US" altLang="zh-TW" sz="2400" dirty="0"/>
              <a:t>k</a:t>
            </a:r>
            <a:r>
              <a:rPr lang="en-US" altLang="zh-TW" sz="1600" dirty="0"/>
              <a:t>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88C63683-5B01-5554-3FD4-F0EDDC72CA25}"/>
              </a:ext>
            </a:extLst>
          </p:cNvPr>
          <p:cNvSpPr txBox="1"/>
          <p:nvPr/>
        </p:nvSpPr>
        <p:spPr>
          <a:xfrm>
            <a:off x="6963882" y="369301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2</a:t>
            </a:r>
            <a:r>
              <a:rPr lang="en-US" altLang="zh-TW" sz="2400" dirty="0"/>
              <a:t>k</a:t>
            </a:r>
            <a:r>
              <a:rPr lang="en-US" altLang="zh-TW" sz="1600" dirty="0"/>
              <a:t>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B120648A-64E9-0021-C388-72EB448256DC}"/>
              </a:ext>
            </a:extLst>
          </p:cNvPr>
          <p:cNvSpPr txBox="1"/>
          <p:nvPr/>
        </p:nvSpPr>
        <p:spPr>
          <a:xfrm>
            <a:off x="7762192" y="369301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2</a:t>
            </a:r>
            <a:r>
              <a:rPr lang="en-US" altLang="zh-TW" sz="2400" dirty="0"/>
              <a:t>k</a:t>
            </a:r>
            <a:r>
              <a:rPr lang="en-US" altLang="zh-TW" sz="1600" dirty="0"/>
              <a:t>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5E0BB1D4-CA31-6F59-3C67-A8E6723823EE}"/>
              </a:ext>
            </a:extLst>
          </p:cNvPr>
          <p:cNvSpPr txBox="1"/>
          <p:nvPr/>
        </p:nvSpPr>
        <p:spPr>
          <a:xfrm>
            <a:off x="8603695" y="369301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2</a:t>
            </a:r>
            <a:r>
              <a:rPr lang="en-US" altLang="zh-TW" sz="2400" dirty="0"/>
              <a:t>k</a:t>
            </a:r>
            <a:r>
              <a:rPr lang="en-US" altLang="zh-TW" sz="1600" dirty="0"/>
              <a:t>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72289AF6-3058-8BC6-F34A-DBE9A3E49069}"/>
              </a:ext>
            </a:extLst>
          </p:cNvPr>
          <p:cNvSpPr txBox="1"/>
          <p:nvPr/>
        </p:nvSpPr>
        <p:spPr>
          <a:xfrm>
            <a:off x="9440639" y="3693019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2</a:t>
            </a:r>
            <a:r>
              <a:rPr lang="en-US" altLang="zh-TW" sz="2400" dirty="0"/>
              <a:t>k</a:t>
            </a:r>
            <a:r>
              <a:rPr lang="en-US" altLang="zh-TW" sz="1600" dirty="0"/>
              <a:t>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CDD5BC23-C0DB-65E6-07A3-75A33E61C771}"/>
              </a:ext>
            </a:extLst>
          </p:cNvPr>
          <p:cNvSpPr txBox="1"/>
          <p:nvPr/>
        </p:nvSpPr>
        <p:spPr>
          <a:xfrm>
            <a:off x="10282142" y="3672724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2</a:t>
            </a:r>
            <a:r>
              <a:rPr lang="en-US" altLang="zh-TW" sz="2400" dirty="0"/>
              <a:t>k</a:t>
            </a:r>
            <a:r>
              <a:rPr lang="en-US" altLang="zh-TW" sz="1600" dirty="0"/>
              <a:t>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E310691A-57C8-5A80-3A26-A7E694C32799}"/>
              </a:ext>
            </a:extLst>
          </p:cNvPr>
          <p:cNvSpPr txBox="1"/>
          <p:nvPr/>
        </p:nvSpPr>
        <p:spPr>
          <a:xfrm>
            <a:off x="6963882" y="4270367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3</a:t>
            </a:r>
            <a:r>
              <a:rPr lang="en-US" altLang="zh-TW" sz="2400" dirty="0"/>
              <a:t>k</a:t>
            </a:r>
            <a:r>
              <a:rPr lang="en-US" altLang="zh-TW" sz="1600" dirty="0"/>
              <a:t>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3E6D9C4E-3598-3416-063A-37347382D238}"/>
              </a:ext>
            </a:extLst>
          </p:cNvPr>
          <p:cNvSpPr txBox="1"/>
          <p:nvPr/>
        </p:nvSpPr>
        <p:spPr>
          <a:xfrm>
            <a:off x="7762192" y="4270367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3</a:t>
            </a:r>
            <a:r>
              <a:rPr lang="en-US" altLang="zh-TW" sz="2400" dirty="0"/>
              <a:t>k</a:t>
            </a:r>
            <a:r>
              <a:rPr lang="en-US" altLang="zh-TW" sz="1600" dirty="0"/>
              <a:t>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010644A5-F57D-F892-1C9A-D6D7D35CCEFD}"/>
              </a:ext>
            </a:extLst>
          </p:cNvPr>
          <p:cNvSpPr txBox="1"/>
          <p:nvPr/>
        </p:nvSpPr>
        <p:spPr>
          <a:xfrm>
            <a:off x="8603695" y="4270367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3</a:t>
            </a:r>
            <a:r>
              <a:rPr lang="en-US" altLang="zh-TW" sz="2400" dirty="0"/>
              <a:t>k</a:t>
            </a:r>
            <a:r>
              <a:rPr lang="en-US" altLang="zh-TW" sz="1600" dirty="0"/>
              <a:t>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4451AC26-1172-0140-8215-03A8CA02525F}"/>
              </a:ext>
            </a:extLst>
          </p:cNvPr>
          <p:cNvSpPr txBox="1"/>
          <p:nvPr/>
        </p:nvSpPr>
        <p:spPr>
          <a:xfrm>
            <a:off x="9440639" y="4270367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3</a:t>
            </a:r>
            <a:r>
              <a:rPr lang="en-US" altLang="zh-TW" sz="2400" dirty="0"/>
              <a:t>k</a:t>
            </a:r>
            <a:r>
              <a:rPr lang="en-US" altLang="zh-TW" sz="1600" dirty="0"/>
              <a:t>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83F3C003-8001-5701-D9A8-B3FF497DCD2E}"/>
              </a:ext>
            </a:extLst>
          </p:cNvPr>
          <p:cNvSpPr txBox="1"/>
          <p:nvPr/>
        </p:nvSpPr>
        <p:spPr>
          <a:xfrm>
            <a:off x="10282142" y="4250072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3</a:t>
            </a:r>
            <a:r>
              <a:rPr lang="en-US" altLang="zh-TW" sz="2400" dirty="0"/>
              <a:t>k</a:t>
            </a:r>
            <a:r>
              <a:rPr lang="en-US" altLang="zh-TW" sz="1600" dirty="0"/>
              <a:t>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57" name="文字方塊 156">
            <a:extLst>
              <a:ext uri="{FF2B5EF4-FFF2-40B4-BE49-F238E27FC236}">
                <a16:creationId xmlns:a16="http://schemas.microsoft.com/office/drawing/2014/main" id="{90E9B35E-998A-59C5-AB27-89965E7BFE64}"/>
              </a:ext>
            </a:extLst>
          </p:cNvPr>
          <p:cNvSpPr txBox="1"/>
          <p:nvPr/>
        </p:nvSpPr>
        <p:spPr>
          <a:xfrm>
            <a:off x="6975469" y="4845242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4</a:t>
            </a:r>
            <a:r>
              <a:rPr lang="en-US" altLang="zh-TW" sz="2400" dirty="0"/>
              <a:t>k</a:t>
            </a:r>
            <a:r>
              <a:rPr lang="en-US" altLang="zh-TW" sz="1600" dirty="0"/>
              <a:t>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8D4D1E1D-8510-B8BA-9157-DEB478E2CE16}"/>
              </a:ext>
            </a:extLst>
          </p:cNvPr>
          <p:cNvSpPr txBox="1"/>
          <p:nvPr/>
        </p:nvSpPr>
        <p:spPr>
          <a:xfrm>
            <a:off x="7773779" y="4845242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4</a:t>
            </a:r>
            <a:r>
              <a:rPr lang="en-US" altLang="zh-TW" sz="2400" dirty="0"/>
              <a:t>k</a:t>
            </a:r>
            <a:r>
              <a:rPr lang="en-US" altLang="zh-TW" sz="1600" dirty="0"/>
              <a:t>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01D3E770-F93F-FBDA-76AB-B75098067DA7}"/>
              </a:ext>
            </a:extLst>
          </p:cNvPr>
          <p:cNvSpPr txBox="1"/>
          <p:nvPr/>
        </p:nvSpPr>
        <p:spPr>
          <a:xfrm>
            <a:off x="8615282" y="4845242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4</a:t>
            </a:r>
            <a:r>
              <a:rPr lang="en-US" altLang="zh-TW" sz="2400" dirty="0"/>
              <a:t>k</a:t>
            </a:r>
            <a:r>
              <a:rPr lang="en-US" altLang="zh-TW" sz="1600" dirty="0"/>
              <a:t>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C17CEF4A-2B92-5609-347D-D1F1BD3E5A80}"/>
              </a:ext>
            </a:extLst>
          </p:cNvPr>
          <p:cNvSpPr txBox="1"/>
          <p:nvPr/>
        </p:nvSpPr>
        <p:spPr>
          <a:xfrm>
            <a:off x="9452226" y="4845242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4</a:t>
            </a:r>
            <a:r>
              <a:rPr lang="en-US" altLang="zh-TW" sz="2400" dirty="0"/>
              <a:t>k</a:t>
            </a:r>
            <a:r>
              <a:rPr lang="en-US" altLang="zh-TW" sz="1600" dirty="0"/>
              <a:t>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5" name="文字方塊 164">
            <a:extLst>
              <a:ext uri="{FF2B5EF4-FFF2-40B4-BE49-F238E27FC236}">
                <a16:creationId xmlns:a16="http://schemas.microsoft.com/office/drawing/2014/main" id="{0F912356-896C-1885-4DB5-CEB855E45E04}"/>
              </a:ext>
            </a:extLst>
          </p:cNvPr>
          <p:cNvSpPr txBox="1"/>
          <p:nvPr/>
        </p:nvSpPr>
        <p:spPr>
          <a:xfrm>
            <a:off x="10293729" y="4824947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4</a:t>
            </a:r>
            <a:r>
              <a:rPr lang="en-US" altLang="zh-TW" sz="2400" dirty="0"/>
              <a:t>k</a:t>
            </a:r>
            <a:r>
              <a:rPr lang="en-US" altLang="zh-TW" sz="1600" dirty="0"/>
              <a:t>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1F028E9F-EB75-65B6-20A1-1BDE1591BFE5}"/>
              </a:ext>
            </a:extLst>
          </p:cNvPr>
          <p:cNvSpPr txBox="1"/>
          <p:nvPr/>
        </p:nvSpPr>
        <p:spPr>
          <a:xfrm>
            <a:off x="6986306" y="5389303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5</a:t>
            </a:r>
            <a:r>
              <a:rPr lang="en-US" altLang="zh-TW" sz="2400" dirty="0"/>
              <a:t>k</a:t>
            </a:r>
            <a:r>
              <a:rPr lang="en-US" altLang="zh-TW" sz="1600" dirty="0"/>
              <a:t>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58B3BA16-E770-82E8-15CD-8FC484DD2353}"/>
              </a:ext>
            </a:extLst>
          </p:cNvPr>
          <p:cNvSpPr txBox="1"/>
          <p:nvPr/>
        </p:nvSpPr>
        <p:spPr>
          <a:xfrm>
            <a:off x="7784616" y="5389303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5</a:t>
            </a:r>
            <a:r>
              <a:rPr lang="en-US" altLang="zh-TW" sz="2400" dirty="0"/>
              <a:t>k</a:t>
            </a:r>
            <a:r>
              <a:rPr lang="en-US" altLang="zh-TW" sz="1600" dirty="0"/>
              <a:t>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F580C6FB-EC09-B340-7BE4-698D27CEB0B9}"/>
              </a:ext>
            </a:extLst>
          </p:cNvPr>
          <p:cNvSpPr txBox="1"/>
          <p:nvPr/>
        </p:nvSpPr>
        <p:spPr>
          <a:xfrm>
            <a:off x="8626119" y="5389303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5</a:t>
            </a:r>
            <a:r>
              <a:rPr lang="en-US" altLang="zh-TW" sz="2400" dirty="0"/>
              <a:t>k</a:t>
            </a:r>
            <a:r>
              <a:rPr lang="en-US" altLang="zh-TW" sz="1600" dirty="0"/>
              <a:t>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C83C422C-7CB8-A581-D969-43A34D181A2C}"/>
              </a:ext>
            </a:extLst>
          </p:cNvPr>
          <p:cNvSpPr txBox="1"/>
          <p:nvPr/>
        </p:nvSpPr>
        <p:spPr>
          <a:xfrm>
            <a:off x="9463063" y="5389303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5</a:t>
            </a:r>
            <a:r>
              <a:rPr lang="en-US" altLang="zh-TW" sz="2400" dirty="0"/>
              <a:t>k</a:t>
            </a:r>
            <a:r>
              <a:rPr lang="en-US" altLang="zh-TW" sz="1600" dirty="0"/>
              <a:t>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8EEDB264-4459-7E9E-2B63-B80A464C5FE4}"/>
              </a:ext>
            </a:extLst>
          </p:cNvPr>
          <p:cNvSpPr txBox="1"/>
          <p:nvPr/>
        </p:nvSpPr>
        <p:spPr>
          <a:xfrm>
            <a:off x="10304566" y="5369008"/>
            <a:ext cx="101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q</a:t>
            </a:r>
            <a:r>
              <a:rPr lang="en-US" altLang="zh-TW" sz="1600" dirty="0"/>
              <a:t>5</a:t>
            </a:r>
            <a:r>
              <a:rPr lang="en-US" altLang="zh-TW" sz="2400" dirty="0"/>
              <a:t>k</a:t>
            </a:r>
            <a:r>
              <a:rPr lang="en-US" altLang="zh-TW" sz="1600" dirty="0"/>
              <a:t>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pic>
        <p:nvPicPr>
          <p:cNvPr id="179" name="圖片 178">
            <a:extLst>
              <a:ext uri="{FF2B5EF4-FFF2-40B4-BE49-F238E27FC236}">
                <a16:creationId xmlns:a16="http://schemas.microsoft.com/office/drawing/2014/main" id="{7C68B5FB-5F96-A634-F7B9-E635A8AAF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392" y="1775855"/>
            <a:ext cx="2669953" cy="622367"/>
          </a:xfrm>
          <a:prstGeom prst="rect">
            <a:avLst/>
          </a:prstGeom>
        </p:spPr>
      </p:pic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179CD3F9-661A-5B59-928C-A19915247A88}"/>
              </a:ext>
            </a:extLst>
          </p:cNvPr>
          <p:cNvSpPr txBox="1"/>
          <p:nvPr/>
        </p:nvSpPr>
        <p:spPr>
          <a:xfrm>
            <a:off x="9746349" y="2421023"/>
            <a:ext cx="998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</a:t>
            </a:r>
            <a:r>
              <a:rPr lang="zh-TW" altLang="zh-TW" sz="1200" dirty="0"/>
              <a:t>Wikipedia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A3F9F694-2245-C2B4-CA17-DE7CDEF8885E}"/>
              </a:ext>
            </a:extLst>
          </p:cNvPr>
          <p:cNvCxnSpPr>
            <a:cxnSpLocks/>
          </p:cNvCxnSpPr>
          <p:nvPr/>
        </p:nvCxnSpPr>
        <p:spPr>
          <a:xfrm>
            <a:off x="5463437" y="4581366"/>
            <a:ext cx="0" cy="95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線接點 182">
            <a:extLst>
              <a:ext uri="{FF2B5EF4-FFF2-40B4-BE49-F238E27FC236}">
                <a16:creationId xmlns:a16="http://schemas.microsoft.com/office/drawing/2014/main" id="{54B9DF1D-47D5-765C-BE8C-9F960B659995}"/>
              </a:ext>
            </a:extLst>
          </p:cNvPr>
          <p:cNvCxnSpPr>
            <a:cxnSpLocks/>
          </p:cNvCxnSpPr>
          <p:nvPr/>
        </p:nvCxnSpPr>
        <p:spPr>
          <a:xfrm flipH="1">
            <a:off x="5463437" y="5534517"/>
            <a:ext cx="99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>
            <a:extLst>
              <a:ext uri="{FF2B5EF4-FFF2-40B4-BE49-F238E27FC236}">
                <a16:creationId xmlns:a16="http://schemas.microsoft.com/office/drawing/2014/main" id="{FCFA7BEC-324E-7DD2-E48A-2C02B3289E36}"/>
              </a:ext>
            </a:extLst>
          </p:cNvPr>
          <p:cNvCxnSpPr>
            <a:cxnSpLocks/>
          </p:cNvCxnSpPr>
          <p:nvPr/>
        </p:nvCxnSpPr>
        <p:spPr>
          <a:xfrm flipV="1">
            <a:off x="5463436" y="5318424"/>
            <a:ext cx="610758" cy="2160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線單箭頭接點 184">
            <a:extLst>
              <a:ext uri="{FF2B5EF4-FFF2-40B4-BE49-F238E27FC236}">
                <a16:creationId xmlns:a16="http://schemas.microsoft.com/office/drawing/2014/main" id="{C0CB9405-9F3E-8F93-9660-0132FFB5DE2C}"/>
              </a:ext>
            </a:extLst>
          </p:cNvPr>
          <p:cNvCxnSpPr>
            <a:cxnSpLocks/>
          </p:cNvCxnSpPr>
          <p:nvPr/>
        </p:nvCxnSpPr>
        <p:spPr>
          <a:xfrm flipV="1">
            <a:off x="5475264" y="4644274"/>
            <a:ext cx="998688" cy="89024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617D2008-37B9-F2CF-5603-D0B262ABD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25" y="5046826"/>
            <a:ext cx="1194215" cy="47623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262D5A3-2520-9F33-3E0F-588233600D27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6251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C652-85E6-37E3-5C64-DCB2061B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61C9C3-74BD-9A80-FFCD-82448DFD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Attention (2)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F59A8D-3B8B-BC90-8048-CA4043EA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7</a:t>
            </a:fld>
            <a:endParaRPr lang="zh-TW" altLang="en-US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60FE6C-46BE-F68C-E6CE-52A54F0E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93" y="1610657"/>
            <a:ext cx="5072502" cy="983011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2799282-4DA6-0564-CF3E-6DE3FCC7402E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5E669E1-8479-32BF-4A21-DFF87012AAE6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E9E27BB7-0D8E-A6A4-A4C5-F586A6946A06}"/>
              </a:ext>
            </a:extLst>
          </p:cNvPr>
          <p:cNvSpPr txBox="1"/>
          <p:nvPr/>
        </p:nvSpPr>
        <p:spPr>
          <a:xfrm>
            <a:off x="2244140" y="29154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11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4EB62F5D-0383-8850-AFB7-179F722E4EAF}"/>
              </a:ext>
            </a:extLst>
          </p:cNvPr>
          <p:cNvSpPr txBox="1"/>
          <p:nvPr/>
        </p:nvSpPr>
        <p:spPr>
          <a:xfrm>
            <a:off x="2840714" y="29154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12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87A9093F-BF80-1806-C163-97052D1041CE}"/>
              </a:ext>
            </a:extLst>
          </p:cNvPr>
          <p:cNvSpPr txBox="1"/>
          <p:nvPr/>
        </p:nvSpPr>
        <p:spPr>
          <a:xfrm>
            <a:off x="3491226" y="29154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13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5EE19AF0-DA3A-C4CD-50BA-80CCCF2B5674}"/>
              </a:ext>
            </a:extLst>
          </p:cNvPr>
          <p:cNvSpPr txBox="1"/>
          <p:nvPr/>
        </p:nvSpPr>
        <p:spPr>
          <a:xfrm>
            <a:off x="4141738" y="29154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14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77FA5E5A-B32A-3A5E-2A38-48DD7F68EAEC}"/>
              </a:ext>
            </a:extLst>
          </p:cNvPr>
          <p:cNvSpPr txBox="1"/>
          <p:nvPr/>
        </p:nvSpPr>
        <p:spPr>
          <a:xfrm>
            <a:off x="4792250" y="29154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15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8AFD0122-2977-07BB-F0EA-A74567EBD005}"/>
              </a:ext>
            </a:extLst>
          </p:cNvPr>
          <p:cNvSpPr txBox="1"/>
          <p:nvPr/>
        </p:nvSpPr>
        <p:spPr>
          <a:xfrm>
            <a:off x="2244140" y="33462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21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D96393AD-6111-FD35-543D-9892D3D318A1}"/>
              </a:ext>
            </a:extLst>
          </p:cNvPr>
          <p:cNvSpPr txBox="1"/>
          <p:nvPr/>
        </p:nvSpPr>
        <p:spPr>
          <a:xfrm>
            <a:off x="2840714" y="33462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22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C8B18CE0-7909-EC53-37B1-73A74C94A4C2}"/>
              </a:ext>
            </a:extLst>
          </p:cNvPr>
          <p:cNvSpPr txBox="1"/>
          <p:nvPr/>
        </p:nvSpPr>
        <p:spPr>
          <a:xfrm>
            <a:off x="3491226" y="33462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23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D08FD393-8BD3-71B7-19B2-5EC2EC29449D}"/>
              </a:ext>
            </a:extLst>
          </p:cNvPr>
          <p:cNvSpPr txBox="1"/>
          <p:nvPr/>
        </p:nvSpPr>
        <p:spPr>
          <a:xfrm>
            <a:off x="4141738" y="33462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24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8ECC3A94-92B1-CB15-EB37-6AD7B447DA3A}"/>
              </a:ext>
            </a:extLst>
          </p:cNvPr>
          <p:cNvSpPr txBox="1"/>
          <p:nvPr/>
        </p:nvSpPr>
        <p:spPr>
          <a:xfrm>
            <a:off x="4792250" y="33462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25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94141DC0-6F12-FF02-DB90-8B99FD54DB9F}"/>
              </a:ext>
            </a:extLst>
          </p:cNvPr>
          <p:cNvSpPr txBox="1"/>
          <p:nvPr/>
        </p:nvSpPr>
        <p:spPr>
          <a:xfrm>
            <a:off x="2244140" y="3776243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31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EF6A420A-816C-ACD8-1781-5DE059588429}"/>
              </a:ext>
            </a:extLst>
          </p:cNvPr>
          <p:cNvSpPr txBox="1"/>
          <p:nvPr/>
        </p:nvSpPr>
        <p:spPr>
          <a:xfrm>
            <a:off x="2840714" y="3776243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32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A8E9337F-A83E-30FB-29A6-1A09B19FA0FB}"/>
              </a:ext>
            </a:extLst>
          </p:cNvPr>
          <p:cNvSpPr txBox="1"/>
          <p:nvPr/>
        </p:nvSpPr>
        <p:spPr>
          <a:xfrm>
            <a:off x="3491226" y="3776243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33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176C1D76-A2A4-BA8F-1553-6F26F57F0F3B}"/>
              </a:ext>
            </a:extLst>
          </p:cNvPr>
          <p:cNvSpPr txBox="1"/>
          <p:nvPr/>
        </p:nvSpPr>
        <p:spPr>
          <a:xfrm>
            <a:off x="4141738" y="3776243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34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B14C68D8-D046-2D08-29DD-2BE59F261658}"/>
              </a:ext>
            </a:extLst>
          </p:cNvPr>
          <p:cNvSpPr txBox="1"/>
          <p:nvPr/>
        </p:nvSpPr>
        <p:spPr>
          <a:xfrm>
            <a:off x="4792250" y="3776243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35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26833DBA-D250-5345-5847-A7DEA18008D5}"/>
              </a:ext>
            </a:extLst>
          </p:cNvPr>
          <p:cNvSpPr txBox="1"/>
          <p:nvPr/>
        </p:nvSpPr>
        <p:spPr>
          <a:xfrm>
            <a:off x="2244140" y="420665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41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9E2477E9-A1E3-C413-EFFB-4268AEAD3E79}"/>
              </a:ext>
            </a:extLst>
          </p:cNvPr>
          <p:cNvSpPr txBox="1"/>
          <p:nvPr/>
        </p:nvSpPr>
        <p:spPr>
          <a:xfrm>
            <a:off x="2840714" y="420665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42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7099662A-FAA3-98B7-799C-1C4DDAFDB568}"/>
              </a:ext>
            </a:extLst>
          </p:cNvPr>
          <p:cNvSpPr txBox="1"/>
          <p:nvPr/>
        </p:nvSpPr>
        <p:spPr>
          <a:xfrm>
            <a:off x="3491226" y="420665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43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4D9FF10D-4099-4609-C76E-AA20B48B6D0A}"/>
              </a:ext>
            </a:extLst>
          </p:cNvPr>
          <p:cNvSpPr txBox="1"/>
          <p:nvPr/>
        </p:nvSpPr>
        <p:spPr>
          <a:xfrm>
            <a:off x="4141738" y="420665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44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ECB31CF7-9E06-FDDA-1F2F-80962C870BB6}"/>
              </a:ext>
            </a:extLst>
          </p:cNvPr>
          <p:cNvSpPr txBox="1"/>
          <p:nvPr/>
        </p:nvSpPr>
        <p:spPr>
          <a:xfrm>
            <a:off x="4792250" y="4206655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379848FD-F0C7-1940-8863-73B635122FB0}"/>
              </a:ext>
            </a:extLst>
          </p:cNvPr>
          <p:cNvSpPr txBox="1"/>
          <p:nvPr/>
        </p:nvSpPr>
        <p:spPr>
          <a:xfrm>
            <a:off x="2244140" y="463706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51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F8CFA963-3732-E26E-967F-A68CB939F908}"/>
              </a:ext>
            </a:extLst>
          </p:cNvPr>
          <p:cNvSpPr txBox="1"/>
          <p:nvPr/>
        </p:nvSpPr>
        <p:spPr>
          <a:xfrm>
            <a:off x="2840714" y="463706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52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B62E3801-9A95-E00B-4CB2-47B60BF12C61}"/>
              </a:ext>
            </a:extLst>
          </p:cNvPr>
          <p:cNvSpPr txBox="1"/>
          <p:nvPr/>
        </p:nvSpPr>
        <p:spPr>
          <a:xfrm>
            <a:off x="3491226" y="463706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53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CD93FCED-402B-45A9-FDBD-7AC5D3EB7A78}"/>
              </a:ext>
            </a:extLst>
          </p:cNvPr>
          <p:cNvSpPr txBox="1"/>
          <p:nvPr/>
        </p:nvSpPr>
        <p:spPr>
          <a:xfrm>
            <a:off x="4141738" y="463706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54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2FB5A5B7-A1C5-C85E-5025-309D488B6952}"/>
              </a:ext>
            </a:extLst>
          </p:cNvPr>
          <p:cNvSpPr txBox="1"/>
          <p:nvPr/>
        </p:nvSpPr>
        <p:spPr>
          <a:xfrm>
            <a:off x="4792250" y="463706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a</a:t>
            </a:r>
            <a:r>
              <a:rPr lang="en-US" altLang="zh-TW" sz="1600" dirty="0"/>
              <a:t>55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8" name="左右中括弧 127">
            <a:extLst>
              <a:ext uri="{FF2B5EF4-FFF2-40B4-BE49-F238E27FC236}">
                <a16:creationId xmlns:a16="http://schemas.microsoft.com/office/drawing/2014/main" id="{C065426D-EEFC-BDCB-9E86-DE72694EEC83}"/>
              </a:ext>
            </a:extLst>
          </p:cNvPr>
          <p:cNvSpPr/>
          <p:nvPr/>
        </p:nvSpPr>
        <p:spPr>
          <a:xfrm>
            <a:off x="1933759" y="2957102"/>
            <a:ext cx="3849735" cy="2216171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5F3B2025-C702-EAAB-0213-47720771A9A3}"/>
              </a:ext>
            </a:extLst>
          </p:cNvPr>
          <p:cNvSpPr txBox="1"/>
          <p:nvPr/>
        </p:nvSpPr>
        <p:spPr>
          <a:xfrm>
            <a:off x="6277147" y="286086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36" name="左右大括弧 135">
            <a:extLst>
              <a:ext uri="{FF2B5EF4-FFF2-40B4-BE49-F238E27FC236}">
                <a16:creationId xmlns:a16="http://schemas.microsoft.com/office/drawing/2014/main" id="{D93C9AA0-890C-D7D5-F5F1-DCED531E91F4}"/>
              </a:ext>
            </a:extLst>
          </p:cNvPr>
          <p:cNvSpPr/>
          <p:nvPr/>
        </p:nvSpPr>
        <p:spPr>
          <a:xfrm>
            <a:off x="6101087" y="3109555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53420724-1253-F8CE-0008-2EF0C61716DA}"/>
              </a:ext>
            </a:extLst>
          </p:cNvPr>
          <p:cNvSpPr txBox="1"/>
          <p:nvPr/>
        </p:nvSpPr>
        <p:spPr>
          <a:xfrm>
            <a:off x="6264806" y="3322530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45A6F902-0F2A-DBD0-20F5-71F01AF0601A}"/>
              </a:ext>
            </a:extLst>
          </p:cNvPr>
          <p:cNvSpPr txBox="1"/>
          <p:nvPr/>
        </p:nvSpPr>
        <p:spPr>
          <a:xfrm>
            <a:off x="6264806" y="3816892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8BABA683-EFE7-BAC5-08A0-E5FABF70CE76}"/>
              </a:ext>
            </a:extLst>
          </p:cNvPr>
          <p:cNvSpPr txBox="1"/>
          <p:nvPr/>
        </p:nvSpPr>
        <p:spPr>
          <a:xfrm>
            <a:off x="6264806" y="4307638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6D6490BB-DC98-4B39-9E41-AC14864C40AE}"/>
              </a:ext>
            </a:extLst>
          </p:cNvPr>
          <p:cNvSpPr txBox="1"/>
          <p:nvPr/>
        </p:nvSpPr>
        <p:spPr>
          <a:xfrm>
            <a:off x="6264806" y="4798384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156" name="箭號: 向右 155">
            <a:extLst>
              <a:ext uri="{FF2B5EF4-FFF2-40B4-BE49-F238E27FC236}">
                <a16:creationId xmlns:a16="http://schemas.microsoft.com/office/drawing/2014/main" id="{2C7CD522-B16F-AE70-B9B0-5154E79B8928}"/>
              </a:ext>
            </a:extLst>
          </p:cNvPr>
          <p:cNvSpPr/>
          <p:nvPr/>
        </p:nvSpPr>
        <p:spPr>
          <a:xfrm>
            <a:off x="7396631" y="4013778"/>
            <a:ext cx="650512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8" name="左右中括弧 227">
            <a:extLst>
              <a:ext uri="{FF2B5EF4-FFF2-40B4-BE49-F238E27FC236}">
                <a16:creationId xmlns:a16="http://schemas.microsoft.com/office/drawing/2014/main" id="{1D017D1F-DAB4-2E86-0806-B2234B19A249}"/>
              </a:ext>
            </a:extLst>
          </p:cNvPr>
          <p:cNvSpPr/>
          <p:nvPr/>
        </p:nvSpPr>
        <p:spPr>
          <a:xfrm>
            <a:off x="8301789" y="2716880"/>
            <a:ext cx="1899417" cy="2759726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文字方塊 289">
            <a:extLst>
              <a:ext uri="{FF2B5EF4-FFF2-40B4-BE49-F238E27FC236}">
                <a16:creationId xmlns:a16="http://schemas.microsoft.com/office/drawing/2014/main" id="{0DCCFCD6-2855-4579-ACB7-09DB78ABF504}"/>
              </a:ext>
            </a:extLst>
          </p:cNvPr>
          <p:cNvSpPr txBox="1"/>
          <p:nvPr/>
        </p:nvSpPr>
        <p:spPr>
          <a:xfrm>
            <a:off x="8926241" y="3707473"/>
            <a:ext cx="650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.</a:t>
            </a:r>
          </a:p>
          <a:p>
            <a:pPr algn="ctr"/>
            <a:r>
              <a:rPr lang="en-US" altLang="zh-TW" sz="2400" dirty="0"/>
              <a:t>.</a:t>
            </a:r>
          </a:p>
          <a:p>
            <a:pPr algn="ctr"/>
            <a:r>
              <a:rPr lang="en-US" altLang="zh-TW" sz="2400" dirty="0"/>
              <a:t>.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5AA012-42A2-5FBF-22E5-DC8B13B57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845" y="5110432"/>
            <a:ext cx="3522017" cy="68449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6B003F-FE0B-42FE-0650-FCB22EF8B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02" y="5289130"/>
            <a:ext cx="755599" cy="33835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477F568-06BE-D89D-2F26-7B42C797D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762" y="2828540"/>
            <a:ext cx="971470" cy="692403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0A1FEDE5-23C4-4996-7E44-96B7C664F811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0472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CCF9E-87B1-F6D5-3FE4-6272F15B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1D2D0E-7C8B-F449-1772-00E60A5EF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F0D59C-CAE5-313B-4F9A-DBAFAE42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8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71113C5-07E1-DE1E-2D81-6D1B0D9D20E8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67FD748-7CEF-0F63-F7D9-89D19741FF7A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12B4F9A-B058-46FC-CBD5-5D7E156E3C0E}"/>
              </a:ext>
            </a:extLst>
          </p:cNvPr>
          <p:cNvCxnSpPr>
            <a:cxnSpLocks/>
          </p:cNvCxnSpPr>
          <p:nvPr/>
        </p:nvCxnSpPr>
        <p:spPr>
          <a:xfrm>
            <a:off x="1572302" y="4226108"/>
            <a:ext cx="2" cy="1050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26B84E7-EA95-D0EA-4ABC-4577B061DE9C}"/>
              </a:ext>
            </a:extLst>
          </p:cNvPr>
          <p:cNvCxnSpPr>
            <a:cxnSpLocks/>
          </p:cNvCxnSpPr>
          <p:nvPr/>
        </p:nvCxnSpPr>
        <p:spPr>
          <a:xfrm flipH="1">
            <a:off x="1186983" y="5276849"/>
            <a:ext cx="385321" cy="4369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F3D1D6B-4E5C-73D4-5FDE-63D6E4DD2FDA}"/>
              </a:ext>
            </a:extLst>
          </p:cNvPr>
          <p:cNvCxnSpPr>
            <a:cxnSpLocks/>
          </p:cNvCxnSpPr>
          <p:nvPr/>
        </p:nvCxnSpPr>
        <p:spPr>
          <a:xfrm flipH="1">
            <a:off x="1572304" y="5276849"/>
            <a:ext cx="11141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E4262F-A1B4-CD35-411E-B9F391579AF2}"/>
              </a:ext>
            </a:extLst>
          </p:cNvPr>
          <p:cNvCxnSpPr>
            <a:cxnSpLocks/>
          </p:cNvCxnSpPr>
          <p:nvPr/>
        </p:nvCxnSpPr>
        <p:spPr>
          <a:xfrm flipV="1">
            <a:off x="1590774" y="4386134"/>
            <a:ext cx="440763" cy="86750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0395822-81E4-D415-5BA3-67F0E883D683}"/>
              </a:ext>
            </a:extLst>
          </p:cNvPr>
          <p:cNvCxnSpPr>
            <a:cxnSpLocks/>
          </p:cNvCxnSpPr>
          <p:nvPr/>
        </p:nvCxnSpPr>
        <p:spPr>
          <a:xfrm flipH="1" flipV="1">
            <a:off x="887073" y="4536790"/>
            <a:ext cx="675994" cy="7257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7D24810-A171-8202-16BC-5A7BC859448D}"/>
              </a:ext>
            </a:extLst>
          </p:cNvPr>
          <p:cNvCxnSpPr>
            <a:cxnSpLocks/>
          </p:cNvCxnSpPr>
          <p:nvPr/>
        </p:nvCxnSpPr>
        <p:spPr>
          <a:xfrm flipV="1">
            <a:off x="1590776" y="4751478"/>
            <a:ext cx="946670" cy="52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DF8820F-FC0D-BFED-53EF-EDB433BDB808}"/>
              </a:ext>
            </a:extLst>
          </p:cNvPr>
          <p:cNvSpPr txBox="1"/>
          <p:nvPr/>
        </p:nvSpPr>
        <p:spPr>
          <a:xfrm>
            <a:off x="315856" y="1939486"/>
            <a:ext cx="888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I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721CD87-14D7-D280-AE3D-BB018AAF3CE5}"/>
              </a:ext>
            </a:extLst>
          </p:cNvPr>
          <p:cNvSpPr txBox="1"/>
          <p:nvPr/>
        </p:nvSpPr>
        <p:spPr>
          <a:xfrm>
            <a:off x="1063710" y="1939486"/>
            <a:ext cx="110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err="1">
                <a:solidFill>
                  <a:srgbClr val="00B050"/>
                </a:solidFill>
              </a:rPr>
              <a:t>Iike</a:t>
            </a:r>
            <a:endParaRPr lang="zh-TW" altLang="en-US" sz="2800" dirty="0">
              <a:solidFill>
                <a:srgbClr val="00B05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C5F80F2-4885-60D9-E211-FD093C0FDC10}"/>
              </a:ext>
            </a:extLst>
          </p:cNvPr>
          <p:cNvSpPr txBox="1"/>
          <p:nvPr/>
        </p:nvSpPr>
        <p:spPr>
          <a:xfrm>
            <a:off x="1952706" y="1934868"/>
            <a:ext cx="1104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70C0"/>
                </a:solidFill>
              </a:rPr>
              <a:t>you</a:t>
            </a:r>
            <a:endParaRPr lang="zh-TW" altLang="en-US" sz="2800" dirty="0">
              <a:solidFill>
                <a:srgbClr val="0070C0"/>
              </a:solidFill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817D4A9B-C090-5DBD-D9B9-246FD0CB1715}"/>
              </a:ext>
            </a:extLst>
          </p:cNvPr>
          <p:cNvCxnSpPr>
            <a:cxnSpLocks/>
          </p:cNvCxnSpPr>
          <p:nvPr/>
        </p:nvCxnSpPr>
        <p:spPr>
          <a:xfrm>
            <a:off x="6143302" y="1083127"/>
            <a:ext cx="0" cy="95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C941F70-DED6-F5E3-273D-BC9F73E53ABC}"/>
              </a:ext>
            </a:extLst>
          </p:cNvPr>
          <p:cNvCxnSpPr>
            <a:cxnSpLocks/>
          </p:cNvCxnSpPr>
          <p:nvPr/>
        </p:nvCxnSpPr>
        <p:spPr>
          <a:xfrm flipH="1">
            <a:off x="6143302" y="2036278"/>
            <a:ext cx="99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7B3BC06E-A208-3479-2E5D-91D50DD9A7E4}"/>
              </a:ext>
            </a:extLst>
          </p:cNvPr>
          <p:cNvCxnSpPr>
            <a:cxnSpLocks/>
          </p:cNvCxnSpPr>
          <p:nvPr/>
        </p:nvCxnSpPr>
        <p:spPr>
          <a:xfrm flipV="1">
            <a:off x="6143301" y="1820185"/>
            <a:ext cx="610758" cy="216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FBC2B32-D094-CB72-5A9E-CECB0EC3098A}"/>
              </a:ext>
            </a:extLst>
          </p:cNvPr>
          <p:cNvCxnSpPr>
            <a:cxnSpLocks/>
          </p:cNvCxnSpPr>
          <p:nvPr/>
        </p:nvCxnSpPr>
        <p:spPr>
          <a:xfrm flipV="1">
            <a:off x="6155129" y="1146035"/>
            <a:ext cx="998688" cy="890244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474B542-6044-DC30-9FAC-CECCCDE56101}"/>
              </a:ext>
            </a:extLst>
          </p:cNvPr>
          <p:cNvCxnSpPr>
            <a:cxnSpLocks/>
          </p:cNvCxnSpPr>
          <p:nvPr/>
        </p:nvCxnSpPr>
        <p:spPr>
          <a:xfrm>
            <a:off x="6405760" y="3901619"/>
            <a:ext cx="0" cy="12703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FD3A12E7-C25F-17D2-1361-B7947372ECB7}"/>
              </a:ext>
            </a:extLst>
          </p:cNvPr>
          <p:cNvCxnSpPr>
            <a:cxnSpLocks/>
          </p:cNvCxnSpPr>
          <p:nvPr/>
        </p:nvCxnSpPr>
        <p:spPr>
          <a:xfrm flipH="1">
            <a:off x="5916233" y="5171960"/>
            <a:ext cx="489527" cy="4938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9730E0AA-4E6A-58FD-D914-BC64DF25D165}"/>
              </a:ext>
            </a:extLst>
          </p:cNvPr>
          <p:cNvCxnSpPr>
            <a:cxnSpLocks/>
          </p:cNvCxnSpPr>
          <p:nvPr/>
        </p:nvCxnSpPr>
        <p:spPr>
          <a:xfrm flipH="1">
            <a:off x="6405760" y="5171960"/>
            <a:ext cx="117301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45C3CE9B-4E23-DA59-B63B-FA5C6BBBB4EC}"/>
              </a:ext>
            </a:extLst>
          </p:cNvPr>
          <p:cNvCxnSpPr>
            <a:cxnSpLocks/>
          </p:cNvCxnSpPr>
          <p:nvPr/>
        </p:nvCxnSpPr>
        <p:spPr>
          <a:xfrm>
            <a:off x="7865018" y="1083127"/>
            <a:ext cx="0" cy="95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DB1AEA8-A989-40AC-40D1-A521BF4E26B5}"/>
              </a:ext>
            </a:extLst>
          </p:cNvPr>
          <p:cNvCxnSpPr>
            <a:cxnSpLocks/>
          </p:cNvCxnSpPr>
          <p:nvPr/>
        </p:nvCxnSpPr>
        <p:spPr>
          <a:xfrm flipH="1">
            <a:off x="7865018" y="2036278"/>
            <a:ext cx="99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4674A860-A5E0-7FE9-56F5-49B4A12B7240}"/>
              </a:ext>
            </a:extLst>
          </p:cNvPr>
          <p:cNvCxnSpPr>
            <a:cxnSpLocks/>
          </p:cNvCxnSpPr>
          <p:nvPr/>
        </p:nvCxnSpPr>
        <p:spPr>
          <a:xfrm flipV="1">
            <a:off x="7865017" y="1820185"/>
            <a:ext cx="610758" cy="216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584A663E-076A-9A10-048A-15F3B479B2BE}"/>
              </a:ext>
            </a:extLst>
          </p:cNvPr>
          <p:cNvCxnSpPr>
            <a:cxnSpLocks/>
          </p:cNvCxnSpPr>
          <p:nvPr/>
        </p:nvCxnSpPr>
        <p:spPr>
          <a:xfrm flipV="1">
            <a:off x="7876845" y="804792"/>
            <a:ext cx="522448" cy="1231487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81D382A6-3037-81B6-20A1-F8AB3441E0AE}"/>
              </a:ext>
            </a:extLst>
          </p:cNvPr>
          <p:cNvCxnSpPr>
            <a:cxnSpLocks/>
          </p:cNvCxnSpPr>
          <p:nvPr/>
        </p:nvCxnSpPr>
        <p:spPr>
          <a:xfrm flipH="1" flipV="1">
            <a:off x="5770202" y="4919516"/>
            <a:ext cx="635557" cy="252443"/>
          </a:xfrm>
          <a:prstGeom prst="straightConnector1">
            <a:avLst/>
          </a:prstGeom>
          <a:ln w="3810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A3FAB44D-AA9C-03DE-2126-61147023D77A}"/>
              </a:ext>
            </a:extLst>
          </p:cNvPr>
          <p:cNvCxnSpPr>
            <a:cxnSpLocks/>
          </p:cNvCxnSpPr>
          <p:nvPr/>
        </p:nvCxnSpPr>
        <p:spPr>
          <a:xfrm flipV="1">
            <a:off x="6424231" y="4215301"/>
            <a:ext cx="431518" cy="931025"/>
          </a:xfrm>
          <a:prstGeom prst="straightConnector1">
            <a:avLst/>
          </a:prstGeom>
          <a:ln w="38100"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C023674D-3197-E387-537C-615822F69FD3}"/>
              </a:ext>
            </a:extLst>
          </p:cNvPr>
          <p:cNvCxnSpPr>
            <a:cxnSpLocks/>
          </p:cNvCxnSpPr>
          <p:nvPr/>
        </p:nvCxnSpPr>
        <p:spPr>
          <a:xfrm flipH="1" flipV="1">
            <a:off x="9492833" y="4089760"/>
            <a:ext cx="1158570" cy="438857"/>
          </a:xfrm>
          <a:prstGeom prst="straightConnector1">
            <a:avLst/>
          </a:prstGeom>
          <a:ln w="38100">
            <a:solidFill>
              <a:srgbClr val="FF99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D44CBA67-C288-666E-AC37-06FDF1A23374}"/>
              </a:ext>
            </a:extLst>
          </p:cNvPr>
          <p:cNvCxnSpPr>
            <a:cxnSpLocks/>
          </p:cNvCxnSpPr>
          <p:nvPr/>
        </p:nvCxnSpPr>
        <p:spPr>
          <a:xfrm flipH="1">
            <a:off x="9492833" y="3778818"/>
            <a:ext cx="505909" cy="29745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箭號: 向右 84">
            <a:extLst>
              <a:ext uri="{FF2B5EF4-FFF2-40B4-BE49-F238E27FC236}">
                <a16:creationId xmlns:a16="http://schemas.microsoft.com/office/drawing/2014/main" id="{DA911183-2CF1-ED9C-E7C1-79F802E1CDE2}"/>
              </a:ext>
            </a:extLst>
          </p:cNvPr>
          <p:cNvSpPr/>
          <p:nvPr/>
        </p:nvSpPr>
        <p:spPr>
          <a:xfrm rot="19716041">
            <a:off x="3456779" y="3448134"/>
            <a:ext cx="2671304" cy="20656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箭號: 向右 86">
            <a:extLst>
              <a:ext uri="{FF2B5EF4-FFF2-40B4-BE49-F238E27FC236}">
                <a16:creationId xmlns:a16="http://schemas.microsoft.com/office/drawing/2014/main" id="{4FA11605-5956-7CFC-36A7-997BE0EE0FA4}"/>
              </a:ext>
            </a:extLst>
          </p:cNvPr>
          <p:cNvSpPr/>
          <p:nvPr/>
        </p:nvSpPr>
        <p:spPr>
          <a:xfrm>
            <a:off x="4102151" y="5066144"/>
            <a:ext cx="1046623" cy="17229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箭號: 向右 88">
            <a:extLst>
              <a:ext uri="{FF2B5EF4-FFF2-40B4-BE49-F238E27FC236}">
                <a16:creationId xmlns:a16="http://schemas.microsoft.com/office/drawing/2014/main" id="{9A2DD531-09AC-5A50-B604-A2486DF0AB1E}"/>
              </a:ext>
            </a:extLst>
          </p:cNvPr>
          <p:cNvSpPr/>
          <p:nvPr/>
        </p:nvSpPr>
        <p:spPr>
          <a:xfrm>
            <a:off x="8137348" y="4207826"/>
            <a:ext cx="734584" cy="20457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48AA7754-30D7-A5A2-F666-A53BEDE7C183}"/>
              </a:ext>
            </a:extLst>
          </p:cNvPr>
          <p:cNvSpPr txBox="1"/>
          <p:nvPr/>
        </p:nvSpPr>
        <p:spPr>
          <a:xfrm>
            <a:off x="3672411" y="2490541"/>
            <a:ext cx="16806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/>
              <a:t>Q</a:t>
            </a:r>
            <a:r>
              <a:rPr lang="zh-TW" altLang="en-US" sz="2000" dirty="0"/>
              <a:t>、</a:t>
            </a:r>
            <a:r>
              <a:rPr lang="en-US" altLang="zh-TW" sz="2000" dirty="0"/>
              <a:t>K space</a:t>
            </a:r>
            <a:endParaRPr lang="zh-TW" altLang="en-US" sz="20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71B04A04-8916-2AAC-98E7-094BB1150B1D}"/>
              </a:ext>
            </a:extLst>
          </p:cNvPr>
          <p:cNvSpPr txBox="1"/>
          <p:nvPr/>
        </p:nvSpPr>
        <p:spPr>
          <a:xfrm>
            <a:off x="4006129" y="4457161"/>
            <a:ext cx="1393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V</a:t>
            </a:r>
            <a:r>
              <a:rPr lang="zh-TW" altLang="en-US" sz="2000" dirty="0"/>
              <a:t>、</a:t>
            </a:r>
            <a:r>
              <a:rPr lang="en-US" altLang="zh-TW" sz="2000" dirty="0"/>
              <a:t>Shift</a:t>
            </a:r>
            <a:endParaRPr lang="zh-TW" altLang="en-US" sz="2000" dirty="0"/>
          </a:p>
        </p:txBody>
      </p: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F8F752BB-4BE0-704F-E773-991709D1D751}"/>
              </a:ext>
            </a:extLst>
          </p:cNvPr>
          <p:cNvCxnSpPr>
            <a:cxnSpLocks/>
          </p:cNvCxnSpPr>
          <p:nvPr/>
        </p:nvCxnSpPr>
        <p:spPr>
          <a:xfrm>
            <a:off x="10683971" y="3482494"/>
            <a:ext cx="2" cy="1050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E586F696-43B5-B727-64FF-7F7D0491A3E0}"/>
              </a:ext>
            </a:extLst>
          </p:cNvPr>
          <p:cNvCxnSpPr>
            <a:cxnSpLocks/>
          </p:cNvCxnSpPr>
          <p:nvPr/>
        </p:nvCxnSpPr>
        <p:spPr>
          <a:xfrm flipH="1">
            <a:off x="10298652" y="4533235"/>
            <a:ext cx="385321" cy="4369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C2CBDC33-E39D-B800-0B26-A56722B6F7DD}"/>
              </a:ext>
            </a:extLst>
          </p:cNvPr>
          <p:cNvCxnSpPr>
            <a:cxnSpLocks/>
          </p:cNvCxnSpPr>
          <p:nvPr/>
        </p:nvCxnSpPr>
        <p:spPr>
          <a:xfrm flipH="1">
            <a:off x="10683973" y="4533235"/>
            <a:ext cx="11141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491A7D14-720F-B9F4-7A80-044732F6CC59}"/>
              </a:ext>
            </a:extLst>
          </p:cNvPr>
          <p:cNvCxnSpPr>
            <a:cxnSpLocks/>
          </p:cNvCxnSpPr>
          <p:nvPr/>
        </p:nvCxnSpPr>
        <p:spPr>
          <a:xfrm flipV="1">
            <a:off x="10702443" y="3642520"/>
            <a:ext cx="440763" cy="86750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01F513BC-D422-7F46-DD44-184BDF7B7C09}"/>
              </a:ext>
            </a:extLst>
          </p:cNvPr>
          <p:cNvCxnSpPr>
            <a:cxnSpLocks/>
          </p:cNvCxnSpPr>
          <p:nvPr/>
        </p:nvCxnSpPr>
        <p:spPr>
          <a:xfrm flipH="1" flipV="1">
            <a:off x="9998742" y="3793176"/>
            <a:ext cx="675994" cy="7257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FAAB4C78-EC70-E4A0-2765-5E57D2EB13AF}"/>
              </a:ext>
            </a:extLst>
          </p:cNvPr>
          <p:cNvCxnSpPr>
            <a:cxnSpLocks/>
          </p:cNvCxnSpPr>
          <p:nvPr/>
        </p:nvCxnSpPr>
        <p:spPr>
          <a:xfrm flipV="1">
            <a:off x="10702445" y="4007864"/>
            <a:ext cx="946670" cy="5207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ED99C2-ECFA-5A6D-FCF9-AD8250CAFEE0}"/>
              </a:ext>
            </a:extLst>
          </p:cNvPr>
          <p:cNvSpPr txBox="1"/>
          <p:nvPr/>
        </p:nvSpPr>
        <p:spPr>
          <a:xfrm>
            <a:off x="7765731" y="3766409"/>
            <a:ext cx="1477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Attention</a:t>
            </a:r>
            <a:endParaRPr lang="zh-TW" altLang="en-US" sz="2000" dirty="0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22A5849C-CC6F-44F1-CA7B-7239E483235E}"/>
              </a:ext>
            </a:extLst>
          </p:cNvPr>
          <p:cNvSpPr/>
          <p:nvPr/>
        </p:nvSpPr>
        <p:spPr>
          <a:xfrm rot="5400000">
            <a:off x="1217825" y="3158373"/>
            <a:ext cx="733952" cy="2464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E1F8C6-E3A5-BF03-C463-59282401E25F}"/>
              </a:ext>
            </a:extLst>
          </p:cNvPr>
          <p:cNvSpPr txBox="1"/>
          <p:nvPr/>
        </p:nvSpPr>
        <p:spPr>
          <a:xfrm>
            <a:off x="1858784" y="3095020"/>
            <a:ext cx="1661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Embedding</a:t>
            </a:r>
            <a:endParaRPr lang="zh-TW" altLang="en-US" sz="20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D8120BD-3F03-EEB1-82A3-64D254EF8525}"/>
              </a:ext>
            </a:extLst>
          </p:cNvPr>
          <p:cNvCxnSpPr>
            <a:cxnSpLocks/>
          </p:cNvCxnSpPr>
          <p:nvPr/>
        </p:nvCxnSpPr>
        <p:spPr>
          <a:xfrm>
            <a:off x="7053084" y="2481566"/>
            <a:ext cx="0" cy="95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9E7E911-076B-E550-8379-18BA4A7717EE}"/>
              </a:ext>
            </a:extLst>
          </p:cNvPr>
          <p:cNvCxnSpPr>
            <a:cxnSpLocks/>
          </p:cNvCxnSpPr>
          <p:nvPr/>
        </p:nvCxnSpPr>
        <p:spPr>
          <a:xfrm flipH="1">
            <a:off x="7053084" y="3434717"/>
            <a:ext cx="9986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DC8A6F5-48BB-1952-895D-10DF7C0B6403}"/>
              </a:ext>
            </a:extLst>
          </p:cNvPr>
          <p:cNvCxnSpPr>
            <a:cxnSpLocks/>
          </p:cNvCxnSpPr>
          <p:nvPr/>
        </p:nvCxnSpPr>
        <p:spPr>
          <a:xfrm flipV="1">
            <a:off x="7053083" y="3218624"/>
            <a:ext cx="610758" cy="2160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EA4031A-0E5E-C2DD-BE8C-8D48A7AA08D7}"/>
              </a:ext>
            </a:extLst>
          </p:cNvPr>
          <p:cNvCxnSpPr>
            <a:cxnSpLocks/>
          </p:cNvCxnSpPr>
          <p:nvPr/>
        </p:nvCxnSpPr>
        <p:spPr>
          <a:xfrm flipV="1">
            <a:off x="7053083" y="2603655"/>
            <a:ext cx="1084986" cy="819429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8CB623D-5CDD-AD32-9B45-06180BA7B8E8}"/>
              </a:ext>
            </a:extLst>
          </p:cNvPr>
          <p:cNvCxnSpPr>
            <a:cxnSpLocks/>
          </p:cNvCxnSpPr>
          <p:nvPr/>
        </p:nvCxnSpPr>
        <p:spPr>
          <a:xfrm flipH="1" flipV="1">
            <a:off x="5622755" y="4077485"/>
            <a:ext cx="768908" cy="109447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A41AE16-BD88-9861-0A13-4532D7BE3144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4718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2DC4-8D98-69AF-339E-49BA94C5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4198F-E1ED-3727-3FA8-D71CE3DC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Muti-Head Attention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7B9674-FF1B-793B-BAB1-F52E1617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9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CB36514-ABB2-B803-0EBB-B9645D431136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BC1E518-D0B5-8BC6-0289-48ABA2A3B0A4}"/>
              </a:ext>
            </a:extLst>
          </p:cNvPr>
          <p:cNvSpPr txBox="1"/>
          <p:nvPr/>
        </p:nvSpPr>
        <p:spPr>
          <a:xfrm>
            <a:off x="10520218" y="249937"/>
            <a:ext cx="137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06A3820-FB77-1B3D-B8B1-2C01233EA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23" y="1983983"/>
            <a:ext cx="6096313" cy="1219263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E53697AF-A9BC-C073-E2BE-FE7D6F3A7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80" y="1933945"/>
            <a:ext cx="2860450" cy="372777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0F23261-2DC0-012D-6259-76C68D21F168}"/>
              </a:ext>
            </a:extLst>
          </p:cNvPr>
          <p:cNvSpPr txBox="1"/>
          <p:nvPr/>
        </p:nvSpPr>
        <p:spPr>
          <a:xfrm>
            <a:off x="403346" y="5894685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A187FE1-6516-CB6F-6A5B-9B2D439DD4AB}"/>
              </a:ext>
            </a:extLst>
          </p:cNvPr>
          <p:cNvSpPr txBox="1"/>
          <p:nvPr/>
        </p:nvSpPr>
        <p:spPr>
          <a:xfrm>
            <a:off x="4299157" y="3233524"/>
            <a:ext cx="266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i="1" dirty="0"/>
              <a:t>W </a:t>
            </a:r>
            <a:r>
              <a:rPr lang="en-US" altLang="zh-TW" sz="1200" dirty="0"/>
              <a:t>: </a:t>
            </a:r>
            <a:r>
              <a:rPr lang="en-US" altLang="zh-TW" sz="1600" dirty="0"/>
              <a:t> </a:t>
            </a:r>
            <a:r>
              <a:rPr lang="zh-TW" altLang="zh-TW" sz="1200" dirty="0"/>
              <a:t>Matrix of a linear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537167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F7D4C-F91C-5D5C-47C0-664DA6A8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E2FAF-7FA5-AC6D-1828-1E0B79411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7356"/>
            <a:ext cx="9144000" cy="723287"/>
          </a:xfrm>
        </p:spPr>
        <p:txBody>
          <a:bodyPr>
            <a:noAutofit/>
          </a:bodyPr>
          <a:lstStyle/>
          <a:p>
            <a:r>
              <a:rPr lang="en-US" altLang="zh-TW" sz="4800" dirty="0"/>
              <a:t>Motivation</a:t>
            </a:r>
            <a:endParaRPr lang="zh-TW" alt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5C4C7-EB28-328D-C98B-42D5E3AB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10</a:t>
            </a:fld>
            <a:endParaRPr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1AA5FF-B8B2-1CA6-9A12-F7B03C80485A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775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AAF2-A734-EA1E-8A86-08EC3E1D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0BF496-2C4B-ACF8-199B-590995EB6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Why Deep Learning Struggles with Tabular Data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6104C2-6720-C677-76C9-98690DC0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11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33C0F00-8A63-787C-FE95-BADE2D8EB426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91CF346-E2D4-F109-BE03-05B9B48BE208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9DC9BB0-39C5-6F58-C145-F9CFF55741E9}"/>
              </a:ext>
            </a:extLst>
          </p:cNvPr>
          <p:cNvSpPr txBox="1"/>
          <p:nvPr/>
        </p:nvSpPr>
        <p:spPr>
          <a:xfrm>
            <a:off x="838200" y="1674827"/>
            <a:ext cx="108550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Heterogeneous Feature Space</a:t>
            </a: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Composed of diverse data types (continuous, categorical, and ordinal) drawn from entirely different distributions.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No inherent spatial or sequential structure, unlike images or text.</a:t>
            </a:r>
            <a:endParaRPr lang="en-US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Arbitrary Column Ordering</a:t>
            </a: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Column order carries no semantic meaning.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Models must be strictly </a:t>
            </a: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permutation-equivariant</a:t>
            </a: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 to yield consistent outputs</a:t>
            </a:r>
            <a:r>
              <a:rPr lang="en-US" altLang="zh-TW" sz="20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zh-TW" sz="1400" b="0" i="0" dirty="0">
              <a:solidFill>
                <a:srgbClr val="C7C7C7"/>
              </a:solidFill>
              <a:effectLst/>
              <a:latin typeface="Google Sans Text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111B139-2B7E-496A-2B33-943598C344EA}"/>
              </a:ext>
            </a:extLst>
          </p:cNvPr>
          <p:cNvSpPr txBox="1"/>
          <p:nvPr/>
        </p:nvSpPr>
        <p:spPr>
          <a:xfrm>
            <a:off x="1710993" y="5792963"/>
            <a:ext cx="27512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Image source : </a:t>
            </a:r>
            <a:r>
              <a:rPr lang="zh-TW" altLang="en-US" sz="1200" dirty="0"/>
              <a:t>https://reurl.cc/5XRxpn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09BBE40-72E6-CB13-A074-E4EE22FA6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230" y="4229372"/>
            <a:ext cx="1131911" cy="1499652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B10467E-26C6-C70B-394E-B273F06DE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193544"/>
              </p:ext>
            </p:extLst>
          </p:nvPr>
        </p:nvGraphicFramePr>
        <p:xfrm>
          <a:off x="5310910" y="4521056"/>
          <a:ext cx="552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15">
                  <a:extLst>
                    <a:ext uri="{9D8B030D-6E8A-4147-A177-3AD203B41FA5}">
                      <a16:colId xmlns:a16="http://schemas.microsoft.com/office/drawing/2014/main" val="2337867303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473245226"/>
                    </a:ext>
                  </a:extLst>
                </a:gridCol>
                <a:gridCol w="1841115">
                  <a:extLst>
                    <a:ext uri="{9D8B030D-6E8A-4147-A177-3AD203B41FA5}">
                      <a16:colId xmlns:a16="http://schemas.microsoft.com/office/drawing/2014/main" val="2060923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height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blood type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 intensity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05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170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02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180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49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155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severe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585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AB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severe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37871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ED019660-3FEC-C0DE-4369-6CCCE8855C8F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0378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FE7F-7A56-C434-83F0-DC63BA64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E2F850-6B9A-4629-E254-88837838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The Interpretability and Robustness Gap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FD381A-9C22-5AF2-CF2E-5103FF44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12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635F598-FDC3-0974-C718-E96A0E3AFFF0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10CF224-B0B7-168A-DA74-4D1E6E948BDE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9A6933-E293-F26E-CAAE-BFE570C8B2FB}"/>
              </a:ext>
            </a:extLst>
          </p:cNvPr>
          <p:cNvSpPr txBox="1"/>
          <p:nvPr/>
        </p:nvSpPr>
        <p:spPr>
          <a:xfrm>
            <a:off x="838200" y="2142578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The "Black-Box" Adoption Barrier</a:t>
            </a:r>
            <a:endParaRPr lang="en-US" altLang="zh-TW" sz="20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Although deep learning matches tree-based SOTA models (e.g., GBDTs), real-world adoption is limited by a lack of transparency.</a:t>
            </a:r>
            <a:endParaRPr lang="en-US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zh-TW" sz="2000" dirty="0"/>
              <a:t>Current attention-based solutions often fail to balance model capacity with clear, dual-level explanations.</a:t>
            </a:r>
            <a:endParaRPr lang="zh-TW" altLang="zh-TW" sz="1400" dirty="0">
              <a:solidFill>
                <a:srgbClr val="C7C7C7"/>
              </a:solidFill>
              <a:latin typeface="Google Sans Text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541CB57-F584-A683-BBC1-BD21DAB74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464" y="5188268"/>
            <a:ext cx="1745570" cy="118871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A8E22C-0CE5-36EB-C99D-C38073BE8A50}"/>
              </a:ext>
            </a:extLst>
          </p:cNvPr>
          <p:cNvSpPr txBox="1"/>
          <p:nvPr/>
        </p:nvSpPr>
        <p:spPr>
          <a:xfrm>
            <a:off x="6999551" y="4860787"/>
            <a:ext cx="1745570" cy="369332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b="1" dirty="0"/>
              <a:t>Performance</a:t>
            </a:r>
            <a:endParaRPr lang="en-US" altLang="zh-TW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11879E-9F3D-F76E-FF2A-2F8FF3F1F47F}"/>
              </a:ext>
            </a:extLst>
          </p:cNvPr>
          <p:cNvSpPr txBox="1"/>
          <p:nvPr/>
        </p:nvSpPr>
        <p:spPr>
          <a:xfrm>
            <a:off x="9155377" y="4860787"/>
            <a:ext cx="1745570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zh-TW" b="1" dirty="0"/>
              <a:t>Interpretability</a:t>
            </a:r>
            <a:endParaRPr lang="en-US" altLang="zh-TW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E188F51-E70A-18D7-71C1-889642EA30B4}"/>
              </a:ext>
            </a:extLst>
          </p:cNvPr>
          <p:cNvSpPr txBox="1"/>
          <p:nvPr/>
        </p:nvSpPr>
        <p:spPr>
          <a:xfrm>
            <a:off x="8451698" y="6352143"/>
            <a:ext cx="2449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Image source : </a:t>
            </a:r>
            <a:r>
              <a:rPr lang="en-US" altLang="zh-TW" dirty="0" err="1"/>
              <a:t>Pngtree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3889F8-A75D-BCAD-4427-CBC399C366F1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0345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60BC8-AFFF-2B0A-5E29-97AA307E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D74699-E206-F6B6-2492-41F622A3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Unifying Local and Global Perspectives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B0732C-D11E-329B-BED4-FC0C3244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13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5341788-41E2-A5B9-D590-6A3D64D713D2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8CEE69E-6F39-EC5F-B344-A56B338B6CFD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Motivation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532254-C84D-159B-63C2-5C3844BD3CC3}"/>
              </a:ext>
            </a:extLst>
          </p:cNvPr>
          <p:cNvSpPr txBox="1"/>
          <p:nvPr/>
        </p:nvSpPr>
        <p:spPr>
          <a:xfrm>
            <a:off x="593559" y="1955145"/>
            <a:ext cx="64930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Dual Structure of Tabular Patterns</a:t>
            </a: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Local Level</a:t>
            </a: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: Instance-specific, fine-grained feature interactions unique to individual samples.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Global Level</a:t>
            </a: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: Dataset-wide, population-level statistical dependencies consistent across all samples.</a:t>
            </a:r>
            <a:endParaRPr lang="en-US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The Research Gap</a:t>
            </a: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Integrating multi-scale (local and global) attention in tabular learning remains </a:t>
            </a:r>
            <a:r>
              <a:rPr lang="zh-TW" altLang="zh-TW" sz="2000" i="0" dirty="0">
                <a:solidFill>
                  <a:schemeClr val="tx1"/>
                </a:solidFill>
                <a:effectLst/>
                <a:latin typeface="+mn-lt"/>
              </a:rPr>
              <a:t>underexplored</a:t>
            </a: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TW" altLang="zh-TW" sz="2000" b="0" i="0" dirty="0">
                <a:solidFill>
                  <a:schemeClr val="tx1"/>
                </a:solidFill>
                <a:effectLst/>
                <a:latin typeface="+mn-lt"/>
              </a:rPr>
              <a:t>Traditional methods process attention independently, missing </a:t>
            </a:r>
            <a:r>
              <a:rPr lang="zh-TW" altLang="zh-TW" sz="2000" b="1" i="0" dirty="0">
                <a:solidFill>
                  <a:schemeClr val="tx1"/>
                </a:solidFill>
                <a:effectLst/>
                <a:latin typeface="+mn-lt"/>
              </a:rPr>
              <a:t>cross-scale interactions</a:t>
            </a:r>
            <a:r>
              <a:rPr lang="en-US" altLang="zh-TW" sz="20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zh-TW" sz="20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zh-TW" altLang="zh-TW" sz="2000" dirty="0"/>
            </a:br>
            <a:endParaRPr lang="zh-TW" altLang="en-US" sz="20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1797EB9-587D-30AA-74E4-9CC76D942206}"/>
              </a:ext>
            </a:extLst>
          </p:cNvPr>
          <p:cNvSpPr/>
          <p:nvPr/>
        </p:nvSpPr>
        <p:spPr>
          <a:xfrm>
            <a:off x="7424579" y="2149642"/>
            <a:ext cx="2265946" cy="218991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F83C6B0-1B7C-1917-6549-524BE9663982}"/>
              </a:ext>
            </a:extLst>
          </p:cNvPr>
          <p:cNvSpPr/>
          <p:nvPr/>
        </p:nvSpPr>
        <p:spPr>
          <a:xfrm>
            <a:off x="9280358" y="2149642"/>
            <a:ext cx="2265946" cy="21899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A2B7C3D-E41E-65FF-2576-544DD99FA372}"/>
              </a:ext>
            </a:extLst>
          </p:cNvPr>
          <p:cNvSpPr txBox="1"/>
          <p:nvPr/>
        </p:nvSpPr>
        <p:spPr>
          <a:xfrm>
            <a:off x="8016547" y="3000261"/>
            <a:ext cx="1118337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Local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C4D7DF2-CD96-68DD-6D4C-0994C15CF3D3}"/>
              </a:ext>
            </a:extLst>
          </p:cNvPr>
          <p:cNvSpPr txBox="1"/>
          <p:nvPr/>
        </p:nvSpPr>
        <p:spPr>
          <a:xfrm>
            <a:off x="9872326" y="3000260"/>
            <a:ext cx="1118337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/>
              <a:t>Global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68C08F-37B5-DF2B-0A8F-9E9C496DDEC8}"/>
              </a:ext>
            </a:extLst>
          </p:cNvPr>
          <p:cNvSpPr txBox="1"/>
          <p:nvPr/>
        </p:nvSpPr>
        <p:spPr>
          <a:xfrm>
            <a:off x="7787716" y="5117121"/>
            <a:ext cx="3566084" cy="46166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zh-TW" sz="2400" b="1" i="0" dirty="0">
                <a:solidFill>
                  <a:schemeClr val="tx1"/>
                </a:solidFill>
                <a:effectLst/>
                <a:latin typeface="+mn-lt"/>
              </a:rPr>
              <a:t>Cross-Attention Fusion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BF89595-89CC-D0F6-0DC0-D8181368217F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56117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B8091-F1C8-292B-0CB4-D3785A50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A416F-0D67-AE23-4791-E92651429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7356"/>
            <a:ext cx="9144000" cy="723287"/>
          </a:xfrm>
        </p:spPr>
        <p:txBody>
          <a:bodyPr>
            <a:noAutofit/>
          </a:bodyPr>
          <a:lstStyle/>
          <a:p>
            <a:r>
              <a:rPr lang="en-US" altLang="zh-TW" sz="4800" dirty="0"/>
              <a:t>Methods</a:t>
            </a:r>
            <a:endParaRPr lang="zh-TW" alt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6262F-3E4A-DE90-69E4-179A4A43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14</a:t>
            </a:fld>
            <a:endParaRPr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FFF08D3-8889-98B9-2738-E3B2600B6B84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55917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FE74-9389-B381-24CE-432EB509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12CFBF-EC25-6A96-D8FB-C9BB4502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Feature embedding block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77E38D-3141-FC0A-8B1E-D09BB5B3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15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731D854-4FE0-A966-E791-FBEEB90EE004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4363C94-098E-6F81-227D-4BE663543C9E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E7455B-1F26-B063-9705-21CAED2E4144}"/>
              </a:ext>
            </a:extLst>
          </p:cNvPr>
          <p:cNvSpPr txBox="1"/>
          <p:nvPr/>
        </p:nvSpPr>
        <p:spPr>
          <a:xfrm>
            <a:off x="6875448" y="142446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7FF21D-92F7-601E-7ED7-0B96F0FEA103}"/>
              </a:ext>
            </a:extLst>
          </p:cNvPr>
          <p:cNvSpPr txBox="1"/>
          <p:nvPr/>
        </p:nvSpPr>
        <p:spPr>
          <a:xfrm>
            <a:off x="7472022" y="142446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80BEA3-EF4D-10B2-8BAC-B913E5A1174D}"/>
              </a:ext>
            </a:extLst>
          </p:cNvPr>
          <p:cNvSpPr txBox="1"/>
          <p:nvPr/>
        </p:nvSpPr>
        <p:spPr>
          <a:xfrm>
            <a:off x="8122534" y="142446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3F354FF-B566-52A1-C635-16C6EDBC22C3}"/>
              </a:ext>
            </a:extLst>
          </p:cNvPr>
          <p:cNvSpPr txBox="1"/>
          <p:nvPr/>
        </p:nvSpPr>
        <p:spPr>
          <a:xfrm>
            <a:off x="8773046" y="142446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0280AC6-6D7A-5D88-A596-B1868D480DEA}"/>
              </a:ext>
            </a:extLst>
          </p:cNvPr>
          <p:cNvSpPr txBox="1"/>
          <p:nvPr/>
        </p:nvSpPr>
        <p:spPr>
          <a:xfrm>
            <a:off x="9423558" y="1424464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15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A62D82F-1476-AFCB-688B-8F18F0477139}"/>
              </a:ext>
            </a:extLst>
          </p:cNvPr>
          <p:cNvSpPr txBox="1"/>
          <p:nvPr/>
        </p:nvSpPr>
        <p:spPr>
          <a:xfrm>
            <a:off x="6875448" y="185525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600D8BA-F1D1-D87F-2A76-9BA2D9900F2E}"/>
              </a:ext>
            </a:extLst>
          </p:cNvPr>
          <p:cNvSpPr txBox="1"/>
          <p:nvPr/>
        </p:nvSpPr>
        <p:spPr>
          <a:xfrm>
            <a:off x="7472022" y="185525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C1A9575-80FD-FD13-A191-9CD9BAF0E283}"/>
              </a:ext>
            </a:extLst>
          </p:cNvPr>
          <p:cNvSpPr txBox="1"/>
          <p:nvPr/>
        </p:nvSpPr>
        <p:spPr>
          <a:xfrm>
            <a:off x="8122534" y="185525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FDBE94C-3E62-7B28-0E6D-DFE77BD163A4}"/>
              </a:ext>
            </a:extLst>
          </p:cNvPr>
          <p:cNvSpPr txBox="1"/>
          <p:nvPr/>
        </p:nvSpPr>
        <p:spPr>
          <a:xfrm>
            <a:off x="8773046" y="185525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69064DF-F4BE-E550-A787-37A429B11479}"/>
              </a:ext>
            </a:extLst>
          </p:cNvPr>
          <p:cNvSpPr txBox="1"/>
          <p:nvPr/>
        </p:nvSpPr>
        <p:spPr>
          <a:xfrm>
            <a:off x="9423558" y="1855257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25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2E41D6C-1EBA-5732-C705-B64CC12EA01E}"/>
              </a:ext>
            </a:extLst>
          </p:cNvPr>
          <p:cNvSpPr txBox="1"/>
          <p:nvPr/>
        </p:nvSpPr>
        <p:spPr>
          <a:xfrm>
            <a:off x="6875448" y="22852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F24FFA1-7D95-5330-7C21-40664A99E10D}"/>
              </a:ext>
            </a:extLst>
          </p:cNvPr>
          <p:cNvSpPr txBox="1"/>
          <p:nvPr/>
        </p:nvSpPr>
        <p:spPr>
          <a:xfrm>
            <a:off x="7472022" y="22852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6A4A8E8-8A6A-7DC3-DDCB-A71E1D07104D}"/>
              </a:ext>
            </a:extLst>
          </p:cNvPr>
          <p:cNvSpPr txBox="1"/>
          <p:nvPr/>
        </p:nvSpPr>
        <p:spPr>
          <a:xfrm>
            <a:off x="8122534" y="22852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5DE9108-4AFA-D176-CE00-E35CF647FD00}"/>
              </a:ext>
            </a:extLst>
          </p:cNvPr>
          <p:cNvSpPr txBox="1"/>
          <p:nvPr/>
        </p:nvSpPr>
        <p:spPr>
          <a:xfrm>
            <a:off x="8773046" y="22852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34292C9-9065-F580-049F-DE8735452A53}"/>
              </a:ext>
            </a:extLst>
          </p:cNvPr>
          <p:cNvSpPr txBox="1"/>
          <p:nvPr/>
        </p:nvSpPr>
        <p:spPr>
          <a:xfrm>
            <a:off x="9423558" y="2285288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35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FBBB689-9160-CCA4-88B5-29A202C88D20}"/>
              </a:ext>
            </a:extLst>
          </p:cNvPr>
          <p:cNvSpPr txBox="1"/>
          <p:nvPr/>
        </p:nvSpPr>
        <p:spPr>
          <a:xfrm>
            <a:off x="6875448" y="27157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6FE2316-CA02-9F7F-56BA-259E51F69D6E}"/>
              </a:ext>
            </a:extLst>
          </p:cNvPr>
          <p:cNvSpPr txBox="1"/>
          <p:nvPr/>
        </p:nvSpPr>
        <p:spPr>
          <a:xfrm>
            <a:off x="7472022" y="27157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22A7BA6-E816-C986-C72A-C519DCA64D03}"/>
              </a:ext>
            </a:extLst>
          </p:cNvPr>
          <p:cNvSpPr txBox="1"/>
          <p:nvPr/>
        </p:nvSpPr>
        <p:spPr>
          <a:xfrm>
            <a:off x="8122534" y="27157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FEBB5AC-D0B6-F5BB-1776-DB73E968B7AB}"/>
              </a:ext>
            </a:extLst>
          </p:cNvPr>
          <p:cNvSpPr txBox="1"/>
          <p:nvPr/>
        </p:nvSpPr>
        <p:spPr>
          <a:xfrm>
            <a:off x="8773046" y="27157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99BA442-8A09-2979-7554-4B09B75531DC}"/>
              </a:ext>
            </a:extLst>
          </p:cNvPr>
          <p:cNvSpPr txBox="1"/>
          <p:nvPr/>
        </p:nvSpPr>
        <p:spPr>
          <a:xfrm>
            <a:off x="9423558" y="27157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45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DF5D3C8-1245-3547-AABF-44C927DFD078}"/>
              </a:ext>
            </a:extLst>
          </p:cNvPr>
          <p:cNvSpPr txBox="1"/>
          <p:nvPr/>
        </p:nvSpPr>
        <p:spPr>
          <a:xfrm>
            <a:off x="6875448" y="31461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DA4DB868-357F-FC3E-0773-A19C12153ECC}"/>
              </a:ext>
            </a:extLst>
          </p:cNvPr>
          <p:cNvSpPr txBox="1"/>
          <p:nvPr/>
        </p:nvSpPr>
        <p:spPr>
          <a:xfrm>
            <a:off x="7472022" y="31461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C67D44D-4444-F114-A63F-79A80E2B9BB8}"/>
              </a:ext>
            </a:extLst>
          </p:cNvPr>
          <p:cNvSpPr txBox="1"/>
          <p:nvPr/>
        </p:nvSpPr>
        <p:spPr>
          <a:xfrm>
            <a:off x="8122534" y="31461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F910714F-2618-EB4B-8A65-DF265CE69981}"/>
              </a:ext>
            </a:extLst>
          </p:cNvPr>
          <p:cNvSpPr txBox="1"/>
          <p:nvPr/>
        </p:nvSpPr>
        <p:spPr>
          <a:xfrm>
            <a:off x="8773046" y="31461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902729D-66D2-F965-9AC8-9287C3B48A64}"/>
              </a:ext>
            </a:extLst>
          </p:cNvPr>
          <p:cNvSpPr txBox="1"/>
          <p:nvPr/>
        </p:nvSpPr>
        <p:spPr>
          <a:xfrm>
            <a:off x="9423558" y="31461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55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60" name="左右中括弧 59">
            <a:extLst>
              <a:ext uri="{FF2B5EF4-FFF2-40B4-BE49-F238E27FC236}">
                <a16:creationId xmlns:a16="http://schemas.microsoft.com/office/drawing/2014/main" id="{2458F110-E7D9-557B-EF35-2EAEBD8BE51B}"/>
              </a:ext>
            </a:extLst>
          </p:cNvPr>
          <p:cNvSpPr/>
          <p:nvPr/>
        </p:nvSpPr>
        <p:spPr>
          <a:xfrm>
            <a:off x="6565067" y="1466148"/>
            <a:ext cx="3849735" cy="3167012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左右大括弧 71">
            <a:extLst>
              <a:ext uri="{FF2B5EF4-FFF2-40B4-BE49-F238E27FC236}">
                <a16:creationId xmlns:a16="http://schemas.microsoft.com/office/drawing/2014/main" id="{89577F0C-7492-5E47-84EF-FF4E7ACE0F2A}"/>
              </a:ext>
            </a:extLst>
          </p:cNvPr>
          <p:cNvSpPr/>
          <p:nvPr/>
        </p:nvSpPr>
        <p:spPr>
          <a:xfrm>
            <a:off x="883357" y="1574805"/>
            <a:ext cx="3986207" cy="1024244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64FC5225-CBF8-D131-9415-15C687B30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57" y="2693330"/>
            <a:ext cx="1945369" cy="764653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3C528D43-C05A-0ABB-3FB2-E7FE27C5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57" y="3595473"/>
            <a:ext cx="1723696" cy="469107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0827A288-C46E-E243-A624-F209964EE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57" y="4340994"/>
            <a:ext cx="2105319" cy="485843"/>
          </a:xfrm>
          <a:prstGeom prst="rect">
            <a:avLst/>
          </a:prstGeom>
        </p:spPr>
      </p:pic>
      <p:sp>
        <p:nvSpPr>
          <p:cNvPr id="81" name="文字方塊 80">
            <a:extLst>
              <a:ext uri="{FF2B5EF4-FFF2-40B4-BE49-F238E27FC236}">
                <a16:creationId xmlns:a16="http://schemas.microsoft.com/office/drawing/2014/main" id="{801D1CED-3E61-F127-0632-6849210A2A3A}"/>
              </a:ext>
            </a:extLst>
          </p:cNvPr>
          <p:cNvSpPr txBox="1"/>
          <p:nvPr/>
        </p:nvSpPr>
        <p:spPr>
          <a:xfrm>
            <a:off x="1082015" y="1623568"/>
            <a:ext cx="3804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</a:t>
            </a:r>
            <a:r>
              <a:rPr lang="en-US" altLang="zh-TW" sz="1200" dirty="0"/>
              <a:t>1</a:t>
            </a:r>
            <a:r>
              <a:rPr lang="en-US" altLang="zh-TW" dirty="0"/>
              <a:t> : gender(male, female)</a:t>
            </a:r>
          </a:p>
          <a:p>
            <a:endParaRPr lang="en-US" altLang="zh-TW" dirty="0"/>
          </a:p>
          <a:p>
            <a:r>
              <a:rPr lang="en-US" altLang="zh-TW" dirty="0"/>
              <a:t>X</a:t>
            </a:r>
            <a:r>
              <a:rPr lang="en-US" altLang="zh-TW" sz="1200" dirty="0"/>
              <a:t>2</a:t>
            </a:r>
            <a:r>
              <a:rPr lang="en-US" altLang="zh-TW" dirty="0"/>
              <a:t> : city(Taipei,</a:t>
            </a:r>
            <a:r>
              <a:rPr lang="zh-TW" altLang="zh-TW" dirty="0"/>
              <a:t>Taichung, Kaohsiung</a:t>
            </a:r>
            <a:r>
              <a:rPr lang="en-US" altLang="zh-TW" dirty="0"/>
              <a:t>)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8F751A5-B6AF-1067-1AE1-6CDF95FE7531}"/>
              </a:ext>
            </a:extLst>
          </p:cNvPr>
          <p:cNvSpPr txBox="1"/>
          <p:nvPr/>
        </p:nvSpPr>
        <p:spPr>
          <a:xfrm>
            <a:off x="6875448" y="360587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61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7B04A6A3-CF00-4E8E-19F3-9066F5CBEA8A}"/>
              </a:ext>
            </a:extLst>
          </p:cNvPr>
          <p:cNvSpPr txBox="1"/>
          <p:nvPr/>
        </p:nvSpPr>
        <p:spPr>
          <a:xfrm>
            <a:off x="7472022" y="360587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62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D9368F7E-BA3F-90EE-7E77-1E8EC82AB937}"/>
              </a:ext>
            </a:extLst>
          </p:cNvPr>
          <p:cNvSpPr txBox="1"/>
          <p:nvPr/>
        </p:nvSpPr>
        <p:spPr>
          <a:xfrm>
            <a:off x="8122534" y="360587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63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B13FFA79-6413-792C-2C87-01E36ECCC8D7}"/>
              </a:ext>
            </a:extLst>
          </p:cNvPr>
          <p:cNvSpPr txBox="1"/>
          <p:nvPr/>
        </p:nvSpPr>
        <p:spPr>
          <a:xfrm>
            <a:off x="8773046" y="360587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64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6C6A6424-6BCC-CA56-81B8-066746B34F6A}"/>
              </a:ext>
            </a:extLst>
          </p:cNvPr>
          <p:cNvSpPr txBox="1"/>
          <p:nvPr/>
        </p:nvSpPr>
        <p:spPr>
          <a:xfrm>
            <a:off x="9423558" y="360587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65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DCFB413D-813F-8212-6737-8BD4CE7517C4}"/>
              </a:ext>
            </a:extLst>
          </p:cNvPr>
          <p:cNvSpPr txBox="1"/>
          <p:nvPr/>
        </p:nvSpPr>
        <p:spPr>
          <a:xfrm>
            <a:off x="6875448" y="40190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71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2CD2CBDD-12D9-575E-D2BB-BE7FCA14CCE3}"/>
              </a:ext>
            </a:extLst>
          </p:cNvPr>
          <p:cNvSpPr txBox="1"/>
          <p:nvPr/>
        </p:nvSpPr>
        <p:spPr>
          <a:xfrm>
            <a:off x="7472022" y="40190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72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6467E413-F408-C54A-CB17-1522EE4FE400}"/>
              </a:ext>
            </a:extLst>
          </p:cNvPr>
          <p:cNvSpPr txBox="1"/>
          <p:nvPr/>
        </p:nvSpPr>
        <p:spPr>
          <a:xfrm>
            <a:off x="8122534" y="40190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73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9ABF6C64-3A78-6816-D990-D6113ED9DD8F}"/>
              </a:ext>
            </a:extLst>
          </p:cNvPr>
          <p:cNvSpPr txBox="1"/>
          <p:nvPr/>
        </p:nvSpPr>
        <p:spPr>
          <a:xfrm>
            <a:off x="8773046" y="40190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74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7733013C-3F46-1B39-2C4A-75F4AFFBE991}"/>
              </a:ext>
            </a:extLst>
          </p:cNvPr>
          <p:cNvSpPr txBox="1"/>
          <p:nvPr/>
        </p:nvSpPr>
        <p:spPr>
          <a:xfrm>
            <a:off x="9423558" y="40190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e</a:t>
            </a:r>
            <a:r>
              <a:rPr lang="en-US" altLang="zh-TW" sz="1600" dirty="0"/>
              <a:t>75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4D9E3731-E491-17ED-E11F-70BA4449A6EF}"/>
              </a:ext>
            </a:extLst>
          </p:cNvPr>
          <p:cNvSpPr txBox="1"/>
          <p:nvPr/>
        </p:nvSpPr>
        <p:spPr>
          <a:xfrm>
            <a:off x="6875448" y="50001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11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5729CD25-7C41-AA9D-AA41-CFCB7D679001}"/>
              </a:ext>
            </a:extLst>
          </p:cNvPr>
          <p:cNvSpPr txBox="1"/>
          <p:nvPr/>
        </p:nvSpPr>
        <p:spPr>
          <a:xfrm>
            <a:off x="7472022" y="50001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12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6BAE9714-78FA-5547-081D-0BA693D9C70F}"/>
              </a:ext>
            </a:extLst>
          </p:cNvPr>
          <p:cNvSpPr txBox="1"/>
          <p:nvPr/>
        </p:nvSpPr>
        <p:spPr>
          <a:xfrm>
            <a:off x="8122534" y="50001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13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9F86964-99D3-FA58-24B3-6370934866AE}"/>
              </a:ext>
            </a:extLst>
          </p:cNvPr>
          <p:cNvSpPr txBox="1"/>
          <p:nvPr/>
        </p:nvSpPr>
        <p:spPr>
          <a:xfrm>
            <a:off x="8773046" y="50001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14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3C4F7B66-6A83-824F-DE7E-9B9162BADC41}"/>
              </a:ext>
            </a:extLst>
          </p:cNvPr>
          <p:cNvSpPr txBox="1"/>
          <p:nvPr/>
        </p:nvSpPr>
        <p:spPr>
          <a:xfrm>
            <a:off x="9423558" y="5000119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15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95C41F8D-8747-27DC-60DF-B3725C581075}"/>
              </a:ext>
            </a:extLst>
          </p:cNvPr>
          <p:cNvSpPr txBox="1"/>
          <p:nvPr/>
        </p:nvSpPr>
        <p:spPr>
          <a:xfrm>
            <a:off x="6875448" y="54309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21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D6C0664A-413E-36A6-9B46-93374C0444BD}"/>
              </a:ext>
            </a:extLst>
          </p:cNvPr>
          <p:cNvSpPr txBox="1"/>
          <p:nvPr/>
        </p:nvSpPr>
        <p:spPr>
          <a:xfrm>
            <a:off x="7472022" y="54309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22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E29ADCD7-4EA8-7F25-D5FC-4E2B752AC5D2}"/>
              </a:ext>
            </a:extLst>
          </p:cNvPr>
          <p:cNvSpPr txBox="1"/>
          <p:nvPr/>
        </p:nvSpPr>
        <p:spPr>
          <a:xfrm>
            <a:off x="8122534" y="54309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23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905F30DB-BA10-92BA-DDFA-26A459B80731}"/>
              </a:ext>
            </a:extLst>
          </p:cNvPr>
          <p:cNvSpPr txBox="1"/>
          <p:nvPr/>
        </p:nvSpPr>
        <p:spPr>
          <a:xfrm>
            <a:off x="8773046" y="54309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24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4D308DDD-999D-8188-D5DB-6A9D0CF182F8}"/>
              </a:ext>
            </a:extLst>
          </p:cNvPr>
          <p:cNvSpPr txBox="1"/>
          <p:nvPr/>
        </p:nvSpPr>
        <p:spPr>
          <a:xfrm>
            <a:off x="9423558" y="543091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f</a:t>
            </a:r>
            <a:r>
              <a:rPr lang="en-US" altLang="zh-TW" sz="1600" dirty="0"/>
              <a:t>25</a:t>
            </a:r>
            <a:r>
              <a:rPr lang="en-US" altLang="zh-TW" dirty="0"/>
              <a:t> </a:t>
            </a:r>
            <a:endParaRPr lang="zh-TW" altLang="en-US" sz="2400" dirty="0"/>
          </a:p>
        </p:txBody>
      </p:sp>
      <p:sp>
        <p:nvSpPr>
          <p:cNvPr id="125" name="左右中括弧 124">
            <a:extLst>
              <a:ext uri="{FF2B5EF4-FFF2-40B4-BE49-F238E27FC236}">
                <a16:creationId xmlns:a16="http://schemas.microsoft.com/office/drawing/2014/main" id="{C051CCEC-BBBE-0D44-7875-4AD414ADB607}"/>
              </a:ext>
            </a:extLst>
          </p:cNvPr>
          <p:cNvSpPr/>
          <p:nvPr/>
        </p:nvSpPr>
        <p:spPr>
          <a:xfrm>
            <a:off x="6565067" y="5041803"/>
            <a:ext cx="3849735" cy="929257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9F7890EE-4644-CFB0-313A-C85C1477CDCA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5AE68130-DB16-39E4-2862-72034DE4E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560" y="5531218"/>
            <a:ext cx="937508" cy="602684"/>
          </a:xfrm>
          <a:prstGeom prst="rect">
            <a:avLst/>
          </a:prstGeom>
        </p:spPr>
      </p:pic>
      <p:pic>
        <p:nvPicPr>
          <p:cNvPr id="137" name="圖片 136">
            <a:extLst>
              <a:ext uri="{FF2B5EF4-FFF2-40B4-BE49-F238E27FC236}">
                <a16:creationId xmlns:a16="http://schemas.microsoft.com/office/drawing/2014/main" id="{5D8D0751-C57B-FA36-D2D5-996E88B55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560" y="4112091"/>
            <a:ext cx="937508" cy="521912"/>
          </a:xfrm>
          <a:prstGeom prst="rect">
            <a:avLst/>
          </a:prstGeom>
        </p:spPr>
      </p:pic>
      <p:sp>
        <p:nvSpPr>
          <p:cNvPr id="139" name="矩形 138">
            <a:extLst>
              <a:ext uri="{FF2B5EF4-FFF2-40B4-BE49-F238E27FC236}">
                <a16:creationId xmlns:a16="http://schemas.microsoft.com/office/drawing/2014/main" id="{DD5FF1A5-4481-A614-5F5F-F48505E5B56D}"/>
              </a:ext>
            </a:extLst>
          </p:cNvPr>
          <p:cNvSpPr/>
          <p:nvPr/>
        </p:nvSpPr>
        <p:spPr>
          <a:xfrm>
            <a:off x="6923047" y="1545336"/>
            <a:ext cx="3133774" cy="121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B4132E0-0BFA-F5BE-5B4D-4670C9722512}"/>
              </a:ext>
            </a:extLst>
          </p:cNvPr>
          <p:cNvSpPr/>
          <p:nvPr/>
        </p:nvSpPr>
        <p:spPr>
          <a:xfrm>
            <a:off x="6880903" y="5113937"/>
            <a:ext cx="3133774" cy="3169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0CFD12E4-59E5-8974-F920-FC51E2190F11}"/>
              </a:ext>
            </a:extLst>
          </p:cNvPr>
          <p:cNvSpPr/>
          <p:nvPr/>
        </p:nvSpPr>
        <p:spPr>
          <a:xfrm>
            <a:off x="6917673" y="2880641"/>
            <a:ext cx="3133774" cy="165021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F412216-F4CB-A992-EF76-A5E936075B86}"/>
              </a:ext>
            </a:extLst>
          </p:cNvPr>
          <p:cNvSpPr/>
          <p:nvPr/>
        </p:nvSpPr>
        <p:spPr>
          <a:xfrm>
            <a:off x="6875448" y="5503047"/>
            <a:ext cx="3133774" cy="3872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C5B9BCF0-6096-8BF5-CB69-001BE8234A9C}"/>
              </a:ext>
            </a:extLst>
          </p:cNvPr>
          <p:cNvSpPr txBox="1"/>
          <p:nvPr/>
        </p:nvSpPr>
        <p:spPr>
          <a:xfrm>
            <a:off x="883357" y="4999604"/>
            <a:ext cx="46943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i="1" dirty="0"/>
              <a:t>| V</a:t>
            </a:r>
            <a:r>
              <a:rPr lang="en-US" altLang="zh-TW" sz="1100" i="1" dirty="0"/>
              <a:t>K </a:t>
            </a:r>
            <a:r>
              <a:rPr lang="en-US" altLang="zh-TW" sz="1600" i="1" dirty="0"/>
              <a:t>|</a:t>
            </a:r>
            <a:r>
              <a:rPr lang="en-US" altLang="zh-TW" sz="1600" dirty="0"/>
              <a:t> :</a:t>
            </a:r>
            <a:r>
              <a:rPr lang="zh-TW" altLang="zh-TW" sz="1600" dirty="0"/>
              <a:t> </a:t>
            </a:r>
            <a:r>
              <a:rPr lang="zh-TW" altLang="zh-TW" sz="1200" dirty="0"/>
              <a:t>Number of categories for the variable</a:t>
            </a:r>
          </a:p>
          <a:p>
            <a:r>
              <a:rPr lang="en-US" altLang="zh-TW" sz="1600" i="1" dirty="0"/>
              <a:t>S</a:t>
            </a:r>
            <a:r>
              <a:rPr lang="en-US" altLang="zh-TW" sz="1100" i="1" dirty="0"/>
              <a:t>K</a:t>
            </a:r>
            <a:r>
              <a:rPr lang="en-US" altLang="zh-TW" sz="1600" i="1" dirty="0"/>
              <a:t> : </a:t>
            </a:r>
            <a:r>
              <a:rPr lang="zh-TW" altLang="zh-TW" sz="1200" dirty="0"/>
              <a:t>Special codes such as UNK or MISS</a:t>
            </a:r>
            <a:endParaRPr lang="en-US" altLang="zh-TW" sz="1600" dirty="0"/>
          </a:p>
          <a:p>
            <a:r>
              <a:rPr lang="en-US" altLang="zh-TW" sz="2000" i="1" dirty="0"/>
              <a:t>i</a:t>
            </a:r>
            <a:r>
              <a:rPr lang="en-US" altLang="zh-TW" sz="1400" i="1" dirty="0"/>
              <a:t>f</a:t>
            </a:r>
            <a:r>
              <a:rPr lang="en-US" altLang="zh-TW" sz="2000" i="1" dirty="0"/>
              <a:t>(c) </a:t>
            </a:r>
            <a:r>
              <a:rPr lang="en-US" altLang="zh-TW" sz="1600" dirty="0"/>
              <a:t>: </a:t>
            </a:r>
            <a:r>
              <a:rPr lang="zh-TW" altLang="zh-TW" sz="1200" dirty="0"/>
              <a:t>The identifier of this category within its associated variable</a:t>
            </a:r>
          </a:p>
        </p:txBody>
      </p:sp>
    </p:spTree>
    <p:extLst>
      <p:ext uri="{BB962C8B-B14F-4D97-AF65-F5344CB8AC3E}">
        <p14:creationId xmlns:p14="http://schemas.microsoft.com/office/powerpoint/2010/main" val="4271422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35F-DDCF-2461-E6B3-321F6C60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0773E1-4152-9508-4C60-89C586E2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Feature embedding block</a:t>
            </a:r>
            <a:r>
              <a:rPr lang="zh-TW" altLang="en-US" sz="4000" dirty="0"/>
              <a:t> </a:t>
            </a:r>
            <a:r>
              <a:rPr lang="en-US" altLang="zh-TW" sz="4000" dirty="0"/>
              <a:t>(2)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2E68FC-D610-A77B-FA51-DA7FD928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16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EB1CEE1-94B2-7A9C-F901-F832377D3DB4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1EF2161-A4E0-ABE0-39BD-5F7177B7834C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64E4C0-97AB-A90A-F44E-2192FAB44855}"/>
              </a:ext>
            </a:extLst>
          </p:cNvPr>
          <p:cNvSpPr txBox="1"/>
          <p:nvPr/>
        </p:nvSpPr>
        <p:spPr>
          <a:xfrm>
            <a:off x="8697814" y="18861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r>
              <a:rPr lang="en-US" altLang="zh-TW" sz="1600" dirty="0">
                <a:solidFill>
                  <a:srgbClr val="FF0000"/>
                </a:solidFill>
              </a:rPr>
              <a:t>11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C414485-D138-9696-712F-E65D8B24BAF8}"/>
              </a:ext>
            </a:extLst>
          </p:cNvPr>
          <p:cNvSpPr txBox="1"/>
          <p:nvPr/>
        </p:nvSpPr>
        <p:spPr>
          <a:xfrm>
            <a:off x="9294388" y="18861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r>
              <a:rPr lang="en-US" altLang="zh-TW" sz="1600" dirty="0">
                <a:solidFill>
                  <a:srgbClr val="FF0000"/>
                </a:solidFill>
              </a:rPr>
              <a:t>12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F05B0A-C2DF-0598-BD9A-59ED470BFE7B}"/>
              </a:ext>
            </a:extLst>
          </p:cNvPr>
          <p:cNvSpPr txBox="1"/>
          <p:nvPr/>
        </p:nvSpPr>
        <p:spPr>
          <a:xfrm>
            <a:off x="9944900" y="18861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r>
              <a:rPr lang="en-US" altLang="zh-TW" sz="1600" dirty="0">
                <a:solidFill>
                  <a:srgbClr val="FF0000"/>
                </a:solidFill>
              </a:rPr>
              <a:t>13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9085125-A581-2D75-0502-32457EE035DD}"/>
              </a:ext>
            </a:extLst>
          </p:cNvPr>
          <p:cNvSpPr txBox="1"/>
          <p:nvPr/>
        </p:nvSpPr>
        <p:spPr>
          <a:xfrm>
            <a:off x="10595412" y="18861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r>
              <a:rPr lang="en-US" altLang="zh-TW" sz="1600" dirty="0">
                <a:solidFill>
                  <a:srgbClr val="FF0000"/>
                </a:solidFill>
              </a:rPr>
              <a:t>14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DA6EDE8-2537-ABA2-A740-23A6E8BA85C9}"/>
              </a:ext>
            </a:extLst>
          </p:cNvPr>
          <p:cNvSpPr txBox="1"/>
          <p:nvPr/>
        </p:nvSpPr>
        <p:spPr>
          <a:xfrm>
            <a:off x="11245924" y="1886100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e</a:t>
            </a:r>
            <a:r>
              <a:rPr lang="en-US" altLang="zh-TW" sz="1600" dirty="0">
                <a:solidFill>
                  <a:srgbClr val="FF0000"/>
                </a:solidFill>
              </a:rPr>
              <a:t>15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左右中括弧 26">
            <a:extLst>
              <a:ext uri="{FF2B5EF4-FFF2-40B4-BE49-F238E27FC236}">
                <a16:creationId xmlns:a16="http://schemas.microsoft.com/office/drawing/2014/main" id="{3D8A024F-387A-3FAF-8AE4-9E273232E65E}"/>
              </a:ext>
            </a:extLst>
          </p:cNvPr>
          <p:cNvSpPr/>
          <p:nvPr/>
        </p:nvSpPr>
        <p:spPr>
          <a:xfrm>
            <a:off x="8690987" y="1927784"/>
            <a:ext cx="3205449" cy="52322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E55E2E5-4E7B-8A46-E7B4-F6512463E889}"/>
              </a:ext>
            </a:extLst>
          </p:cNvPr>
          <p:cNvSpPr txBox="1"/>
          <p:nvPr/>
        </p:nvSpPr>
        <p:spPr>
          <a:xfrm>
            <a:off x="177282" y="1941662"/>
            <a:ext cx="3304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Standardize(</a:t>
            </a:r>
            <a:r>
              <a:rPr lang="en-US" altLang="zh-TW" sz="2000" dirty="0">
                <a:solidFill>
                  <a:srgbClr val="FF0000"/>
                </a:solidFill>
              </a:rPr>
              <a:t>X</a:t>
            </a:r>
            <a:r>
              <a:rPr lang="en-US" altLang="zh-TW" sz="1400" dirty="0">
                <a:solidFill>
                  <a:srgbClr val="FF0000"/>
                </a:solidFill>
              </a:rPr>
              <a:t>3</a:t>
            </a:r>
            <a:r>
              <a:rPr lang="en-US" altLang="zh-TW" sz="2000" dirty="0">
                <a:solidFill>
                  <a:srgbClr val="FF0000"/>
                </a:solidFill>
              </a:rPr>
              <a:t> : height</a:t>
            </a:r>
            <a:r>
              <a:rPr lang="en-US" altLang="zh-TW" sz="2000" dirty="0"/>
              <a:t>)</a:t>
            </a:r>
          </a:p>
        </p:txBody>
      </p:sp>
      <p:sp>
        <p:nvSpPr>
          <p:cNvPr id="37" name="乘號 36">
            <a:extLst>
              <a:ext uri="{FF2B5EF4-FFF2-40B4-BE49-F238E27FC236}">
                <a16:creationId xmlns:a16="http://schemas.microsoft.com/office/drawing/2014/main" id="{AE4640A3-7555-48E0-4355-10253F49FCAF}"/>
              </a:ext>
            </a:extLst>
          </p:cNvPr>
          <p:cNvSpPr/>
          <p:nvPr/>
        </p:nvSpPr>
        <p:spPr>
          <a:xfrm>
            <a:off x="3507562" y="2008089"/>
            <a:ext cx="262096" cy="32881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8C61C961-CECD-F9DB-3181-86266D995934}"/>
              </a:ext>
            </a:extLst>
          </p:cNvPr>
          <p:cNvSpPr txBox="1"/>
          <p:nvPr/>
        </p:nvSpPr>
        <p:spPr>
          <a:xfrm>
            <a:off x="4338188" y="1886100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</a:t>
            </a:r>
            <a:r>
              <a:rPr lang="en-US" altLang="zh-TW" sz="1600" dirty="0">
                <a:solidFill>
                  <a:srgbClr val="FF0000"/>
                </a:solidFill>
              </a:rPr>
              <a:t>11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左右中括弧 58">
            <a:extLst>
              <a:ext uri="{FF2B5EF4-FFF2-40B4-BE49-F238E27FC236}">
                <a16:creationId xmlns:a16="http://schemas.microsoft.com/office/drawing/2014/main" id="{621000AB-D099-D9DF-D573-88AD2014592C}"/>
              </a:ext>
            </a:extLst>
          </p:cNvPr>
          <p:cNvSpPr/>
          <p:nvPr/>
        </p:nvSpPr>
        <p:spPr>
          <a:xfrm>
            <a:off x="4330025" y="1927784"/>
            <a:ext cx="3205449" cy="52322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B497A65C-6276-4F07-8CFB-10F8D98FF17C}"/>
              </a:ext>
            </a:extLst>
          </p:cNvPr>
          <p:cNvSpPr txBox="1"/>
          <p:nvPr/>
        </p:nvSpPr>
        <p:spPr>
          <a:xfrm>
            <a:off x="4913473" y="1880107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</a:t>
            </a:r>
            <a:r>
              <a:rPr lang="en-US" altLang="zh-TW" sz="1600" dirty="0">
                <a:solidFill>
                  <a:srgbClr val="FF0000"/>
                </a:solidFill>
              </a:rPr>
              <a:t>12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0BADDAC9-0D1A-B8CC-F3D7-BB0ED8FBCD98}"/>
              </a:ext>
            </a:extLst>
          </p:cNvPr>
          <p:cNvSpPr txBox="1"/>
          <p:nvPr/>
        </p:nvSpPr>
        <p:spPr>
          <a:xfrm>
            <a:off x="5525056" y="1886100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</a:t>
            </a:r>
            <a:r>
              <a:rPr lang="en-US" altLang="zh-TW" sz="1600" dirty="0">
                <a:solidFill>
                  <a:srgbClr val="FF0000"/>
                </a:solidFill>
              </a:rPr>
              <a:t>13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5FAE182F-8EDE-1D96-C5BE-F11420A9AC2D}"/>
              </a:ext>
            </a:extLst>
          </p:cNvPr>
          <p:cNvSpPr txBox="1"/>
          <p:nvPr/>
        </p:nvSpPr>
        <p:spPr>
          <a:xfrm>
            <a:off x="6157340" y="1887172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</a:t>
            </a:r>
            <a:r>
              <a:rPr lang="en-US" altLang="zh-TW" sz="1600" dirty="0">
                <a:solidFill>
                  <a:srgbClr val="FF0000"/>
                </a:solidFill>
              </a:rPr>
              <a:t>14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86909D3D-2CE6-F18C-CFCC-5AFC6019B3E1}"/>
              </a:ext>
            </a:extLst>
          </p:cNvPr>
          <p:cNvSpPr txBox="1"/>
          <p:nvPr/>
        </p:nvSpPr>
        <p:spPr>
          <a:xfrm>
            <a:off x="6753914" y="1880107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w</a:t>
            </a:r>
            <a:r>
              <a:rPr lang="en-US" altLang="zh-TW" sz="1600" dirty="0">
                <a:solidFill>
                  <a:srgbClr val="FF0000"/>
                </a:solidFill>
              </a:rPr>
              <a:t>15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37C9CAF-1DC6-7B1B-CB36-1704BE4CAA7A}"/>
              </a:ext>
            </a:extLst>
          </p:cNvPr>
          <p:cNvSpPr txBox="1"/>
          <p:nvPr/>
        </p:nvSpPr>
        <p:spPr>
          <a:xfrm>
            <a:off x="8697814" y="26838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e</a:t>
            </a:r>
            <a:r>
              <a:rPr lang="en-US" altLang="zh-TW" sz="1600" dirty="0">
                <a:solidFill>
                  <a:srgbClr val="00B050"/>
                </a:solidFill>
              </a:rPr>
              <a:t>11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29A5255-5625-3424-708C-B21E4249BF9C}"/>
              </a:ext>
            </a:extLst>
          </p:cNvPr>
          <p:cNvSpPr txBox="1"/>
          <p:nvPr/>
        </p:nvSpPr>
        <p:spPr>
          <a:xfrm>
            <a:off x="9294388" y="26838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e</a:t>
            </a:r>
            <a:r>
              <a:rPr lang="en-US" altLang="zh-TW" sz="1600" dirty="0">
                <a:solidFill>
                  <a:srgbClr val="00B050"/>
                </a:solidFill>
              </a:rPr>
              <a:t>12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982E99B3-DC3C-A9C3-D8BA-87539308BFE7}"/>
              </a:ext>
            </a:extLst>
          </p:cNvPr>
          <p:cNvSpPr txBox="1"/>
          <p:nvPr/>
        </p:nvSpPr>
        <p:spPr>
          <a:xfrm>
            <a:off x="9944900" y="26838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e</a:t>
            </a:r>
            <a:r>
              <a:rPr lang="en-US" altLang="zh-TW" sz="1600" dirty="0">
                <a:solidFill>
                  <a:srgbClr val="00B050"/>
                </a:solidFill>
              </a:rPr>
              <a:t>13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670BA1B6-FA44-C161-184F-57160D8CADD1}"/>
              </a:ext>
            </a:extLst>
          </p:cNvPr>
          <p:cNvSpPr txBox="1"/>
          <p:nvPr/>
        </p:nvSpPr>
        <p:spPr>
          <a:xfrm>
            <a:off x="10595412" y="26838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e</a:t>
            </a:r>
            <a:r>
              <a:rPr lang="en-US" altLang="zh-TW" sz="1600" dirty="0">
                <a:solidFill>
                  <a:srgbClr val="00B050"/>
                </a:solidFill>
              </a:rPr>
              <a:t>14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9F88A81F-BAD1-3CC7-2EAB-9A9B1EC158C4}"/>
              </a:ext>
            </a:extLst>
          </p:cNvPr>
          <p:cNvSpPr txBox="1"/>
          <p:nvPr/>
        </p:nvSpPr>
        <p:spPr>
          <a:xfrm>
            <a:off x="11245924" y="2683862"/>
            <a:ext cx="650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e</a:t>
            </a:r>
            <a:r>
              <a:rPr lang="en-US" altLang="zh-TW" sz="1600" dirty="0">
                <a:solidFill>
                  <a:srgbClr val="00B050"/>
                </a:solidFill>
              </a:rPr>
              <a:t>15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90" name="左右中括弧 89">
            <a:extLst>
              <a:ext uri="{FF2B5EF4-FFF2-40B4-BE49-F238E27FC236}">
                <a16:creationId xmlns:a16="http://schemas.microsoft.com/office/drawing/2014/main" id="{522130B6-EA0A-BBCE-5B92-8CAA04F49C85}"/>
              </a:ext>
            </a:extLst>
          </p:cNvPr>
          <p:cNvSpPr/>
          <p:nvPr/>
        </p:nvSpPr>
        <p:spPr>
          <a:xfrm>
            <a:off x="8690987" y="2725546"/>
            <a:ext cx="3205449" cy="52322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FA3CD66F-281C-682F-4C31-F7FC3FCC0670}"/>
              </a:ext>
            </a:extLst>
          </p:cNvPr>
          <p:cNvSpPr txBox="1"/>
          <p:nvPr/>
        </p:nvSpPr>
        <p:spPr>
          <a:xfrm>
            <a:off x="177282" y="2739424"/>
            <a:ext cx="3304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Standardize(</a:t>
            </a:r>
            <a:r>
              <a:rPr lang="en-US" altLang="zh-TW" sz="2000" dirty="0">
                <a:solidFill>
                  <a:srgbClr val="00B050"/>
                </a:solidFill>
              </a:rPr>
              <a:t>X</a:t>
            </a:r>
            <a:r>
              <a:rPr lang="en-US" altLang="zh-TW" sz="1400" dirty="0">
                <a:solidFill>
                  <a:srgbClr val="00B050"/>
                </a:solidFill>
              </a:rPr>
              <a:t>4</a:t>
            </a:r>
            <a:r>
              <a:rPr lang="en-US" altLang="zh-TW" sz="2000" dirty="0">
                <a:solidFill>
                  <a:srgbClr val="00B050"/>
                </a:solidFill>
              </a:rPr>
              <a:t> : weight</a:t>
            </a:r>
            <a:r>
              <a:rPr lang="en-US" altLang="zh-TW" sz="2000" dirty="0"/>
              <a:t>)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0C64F147-543D-A951-D9A0-B044619CE64E}"/>
              </a:ext>
            </a:extLst>
          </p:cNvPr>
          <p:cNvSpPr txBox="1"/>
          <p:nvPr/>
        </p:nvSpPr>
        <p:spPr>
          <a:xfrm>
            <a:off x="4338188" y="2683862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w</a:t>
            </a:r>
            <a:r>
              <a:rPr lang="en-US" altLang="zh-TW" sz="1600" dirty="0">
                <a:solidFill>
                  <a:srgbClr val="00B050"/>
                </a:solidFill>
              </a:rPr>
              <a:t>11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04" name="左右中括弧 103">
            <a:extLst>
              <a:ext uri="{FF2B5EF4-FFF2-40B4-BE49-F238E27FC236}">
                <a16:creationId xmlns:a16="http://schemas.microsoft.com/office/drawing/2014/main" id="{4C749D27-E912-E245-1595-981BD45377E3}"/>
              </a:ext>
            </a:extLst>
          </p:cNvPr>
          <p:cNvSpPr/>
          <p:nvPr/>
        </p:nvSpPr>
        <p:spPr>
          <a:xfrm>
            <a:off x="4330025" y="2725546"/>
            <a:ext cx="3205449" cy="52322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等於 107">
            <a:extLst>
              <a:ext uri="{FF2B5EF4-FFF2-40B4-BE49-F238E27FC236}">
                <a16:creationId xmlns:a16="http://schemas.microsoft.com/office/drawing/2014/main" id="{9E9927A3-C38C-FD34-680D-F86C547BC62D}"/>
              </a:ext>
            </a:extLst>
          </p:cNvPr>
          <p:cNvSpPr/>
          <p:nvPr/>
        </p:nvSpPr>
        <p:spPr>
          <a:xfrm>
            <a:off x="7931383" y="2832529"/>
            <a:ext cx="358751" cy="28228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018900F4-1C16-D51E-5206-A8C48B02F69D}"/>
              </a:ext>
            </a:extLst>
          </p:cNvPr>
          <p:cNvSpPr txBox="1"/>
          <p:nvPr/>
        </p:nvSpPr>
        <p:spPr>
          <a:xfrm>
            <a:off x="4913473" y="2677869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w</a:t>
            </a:r>
            <a:r>
              <a:rPr lang="en-US" altLang="zh-TW" sz="1600" dirty="0">
                <a:solidFill>
                  <a:srgbClr val="00B050"/>
                </a:solidFill>
              </a:rPr>
              <a:t>12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F76ADDC7-C73B-7E42-D929-131FAF5ACE1E}"/>
              </a:ext>
            </a:extLst>
          </p:cNvPr>
          <p:cNvSpPr txBox="1"/>
          <p:nvPr/>
        </p:nvSpPr>
        <p:spPr>
          <a:xfrm>
            <a:off x="5525056" y="2683862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w</a:t>
            </a:r>
            <a:r>
              <a:rPr lang="en-US" altLang="zh-TW" sz="1600" dirty="0">
                <a:solidFill>
                  <a:srgbClr val="00B050"/>
                </a:solidFill>
              </a:rPr>
              <a:t>13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B2F18C39-030E-44A3-B5B2-4002FF99B980}"/>
              </a:ext>
            </a:extLst>
          </p:cNvPr>
          <p:cNvSpPr txBox="1"/>
          <p:nvPr/>
        </p:nvSpPr>
        <p:spPr>
          <a:xfrm>
            <a:off x="6157340" y="2684934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w</a:t>
            </a:r>
            <a:r>
              <a:rPr lang="en-US" altLang="zh-TW" sz="1600" dirty="0">
                <a:solidFill>
                  <a:srgbClr val="00B050"/>
                </a:solidFill>
              </a:rPr>
              <a:t>14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EAF00DC3-900E-8556-1F50-35EDDF4F2FD9}"/>
              </a:ext>
            </a:extLst>
          </p:cNvPr>
          <p:cNvSpPr txBox="1"/>
          <p:nvPr/>
        </p:nvSpPr>
        <p:spPr>
          <a:xfrm>
            <a:off x="6753914" y="2677869"/>
            <a:ext cx="74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00B050"/>
                </a:solidFill>
              </a:rPr>
              <a:t>w</a:t>
            </a:r>
            <a:r>
              <a:rPr lang="en-US" altLang="zh-TW" sz="1600" dirty="0">
                <a:solidFill>
                  <a:srgbClr val="00B050"/>
                </a:solidFill>
              </a:rPr>
              <a:t>15</a:t>
            </a:r>
            <a:r>
              <a:rPr lang="en-US" altLang="zh-TW" dirty="0">
                <a:solidFill>
                  <a:srgbClr val="00B050"/>
                </a:solidFill>
              </a:rPr>
              <a:t> 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pic>
        <p:nvPicPr>
          <p:cNvPr id="128" name="圖片 127">
            <a:extLst>
              <a:ext uri="{FF2B5EF4-FFF2-40B4-BE49-F238E27FC236}">
                <a16:creationId xmlns:a16="http://schemas.microsoft.com/office/drawing/2014/main" id="{187E3B1D-A7A5-55AC-41EE-7216AB227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987" y="3269465"/>
            <a:ext cx="937508" cy="521912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087DBC79-AB7F-05EE-E450-C645DF8CB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979" y="3251177"/>
            <a:ext cx="1057275" cy="647700"/>
          </a:xfrm>
          <a:prstGeom prst="rect">
            <a:avLst/>
          </a:prstGeom>
        </p:spPr>
      </p:pic>
      <p:pic>
        <p:nvPicPr>
          <p:cNvPr id="134" name="圖片 133">
            <a:extLst>
              <a:ext uri="{FF2B5EF4-FFF2-40B4-BE49-F238E27FC236}">
                <a16:creationId xmlns:a16="http://schemas.microsoft.com/office/drawing/2014/main" id="{8DF146D4-3C78-50AF-7503-2BC008373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57" y="4355083"/>
            <a:ext cx="2326731" cy="328984"/>
          </a:xfrm>
          <a:prstGeom prst="rect">
            <a:avLst/>
          </a:prstGeom>
        </p:spPr>
      </p:pic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ECC3F45A-93F0-00ED-ABE3-BCAD54AC0F7F}"/>
              </a:ext>
            </a:extLst>
          </p:cNvPr>
          <p:cNvSpPr txBox="1"/>
          <p:nvPr/>
        </p:nvSpPr>
        <p:spPr>
          <a:xfrm>
            <a:off x="5752236" y="369050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56" name="左右大括弧 155">
            <a:extLst>
              <a:ext uri="{FF2B5EF4-FFF2-40B4-BE49-F238E27FC236}">
                <a16:creationId xmlns:a16="http://schemas.microsoft.com/office/drawing/2014/main" id="{B2C5CAC1-1207-72D0-D422-9DB83847DC51}"/>
              </a:ext>
            </a:extLst>
          </p:cNvPr>
          <p:cNvSpPr/>
          <p:nvPr/>
        </p:nvSpPr>
        <p:spPr>
          <a:xfrm>
            <a:off x="5576176" y="393919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D3F28A56-90F5-A348-5049-E998492AD275}"/>
              </a:ext>
            </a:extLst>
          </p:cNvPr>
          <p:cNvSpPr txBox="1"/>
          <p:nvPr/>
        </p:nvSpPr>
        <p:spPr>
          <a:xfrm>
            <a:off x="5739895" y="415217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12C890E4-D0D1-96E4-5208-005BD340E31F}"/>
              </a:ext>
            </a:extLst>
          </p:cNvPr>
          <p:cNvSpPr txBox="1"/>
          <p:nvPr/>
        </p:nvSpPr>
        <p:spPr>
          <a:xfrm>
            <a:off x="5739895" y="464653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EA2B21AA-7919-C545-756E-A10B7D9F61CF}"/>
              </a:ext>
            </a:extLst>
          </p:cNvPr>
          <p:cNvSpPr txBox="1"/>
          <p:nvPr/>
        </p:nvSpPr>
        <p:spPr>
          <a:xfrm>
            <a:off x="5739895" y="513727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64" name="文字方塊 163">
            <a:extLst>
              <a:ext uri="{FF2B5EF4-FFF2-40B4-BE49-F238E27FC236}">
                <a16:creationId xmlns:a16="http://schemas.microsoft.com/office/drawing/2014/main" id="{C169B7C5-9248-70BA-B541-E4B8B005221C}"/>
              </a:ext>
            </a:extLst>
          </p:cNvPr>
          <p:cNvSpPr txBox="1"/>
          <p:nvPr/>
        </p:nvSpPr>
        <p:spPr>
          <a:xfrm>
            <a:off x="5739895" y="562802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E36D0E57-5F09-8E34-CF94-39A575A049BE}"/>
              </a:ext>
            </a:extLst>
          </p:cNvPr>
          <p:cNvSpPr txBox="1"/>
          <p:nvPr/>
        </p:nvSpPr>
        <p:spPr>
          <a:xfrm>
            <a:off x="3953665" y="369050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180" name="左右大括弧 179">
            <a:extLst>
              <a:ext uri="{FF2B5EF4-FFF2-40B4-BE49-F238E27FC236}">
                <a16:creationId xmlns:a16="http://schemas.microsoft.com/office/drawing/2014/main" id="{26F0CA05-04A1-85AE-06C5-A38535877326}"/>
              </a:ext>
            </a:extLst>
          </p:cNvPr>
          <p:cNvSpPr/>
          <p:nvPr/>
        </p:nvSpPr>
        <p:spPr>
          <a:xfrm>
            <a:off x="3777605" y="393919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B63A29C4-BBD9-0F41-BFAC-ED8CAE2B840E}"/>
              </a:ext>
            </a:extLst>
          </p:cNvPr>
          <p:cNvSpPr txBox="1"/>
          <p:nvPr/>
        </p:nvSpPr>
        <p:spPr>
          <a:xfrm>
            <a:off x="3941324" y="415217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2AF27BF6-A3DA-834F-8CF9-7DE3DFF55464}"/>
              </a:ext>
            </a:extLst>
          </p:cNvPr>
          <p:cNvSpPr txBox="1"/>
          <p:nvPr/>
        </p:nvSpPr>
        <p:spPr>
          <a:xfrm>
            <a:off x="3941324" y="464653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59162BB3-0706-917F-C594-3B582AB9135B}"/>
              </a:ext>
            </a:extLst>
          </p:cNvPr>
          <p:cNvSpPr txBox="1"/>
          <p:nvPr/>
        </p:nvSpPr>
        <p:spPr>
          <a:xfrm>
            <a:off x="3941324" y="513727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188" name="文字方塊 187">
            <a:extLst>
              <a:ext uri="{FF2B5EF4-FFF2-40B4-BE49-F238E27FC236}">
                <a16:creationId xmlns:a16="http://schemas.microsoft.com/office/drawing/2014/main" id="{CE13851E-3B9A-54D4-7AB5-9B0CDE526695}"/>
              </a:ext>
            </a:extLst>
          </p:cNvPr>
          <p:cNvSpPr txBox="1"/>
          <p:nvPr/>
        </p:nvSpPr>
        <p:spPr>
          <a:xfrm>
            <a:off x="3941324" y="562802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190" name="箭號: 向右 189">
            <a:extLst>
              <a:ext uri="{FF2B5EF4-FFF2-40B4-BE49-F238E27FC236}">
                <a16:creationId xmlns:a16="http://schemas.microsoft.com/office/drawing/2014/main" id="{FE68C5A5-E981-2BE4-6873-B2A37AE18707}"/>
              </a:ext>
            </a:extLst>
          </p:cNvPr>
          <p:cNvSpPr/>
          <p:nvPr/>
        </p:nvSpPr>
        <p:spPr>
          <a:xfrm>
            <a:off x="4996832" y="4829039"/>
            <a:ext cx="354395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58A5E885-0B4D-F119-3673-A7A67382FC7A}"/>
              </a:ext>
            </a:extLst>
          </p:cNvPr>
          <p:cNvSpPr txBox="1"/>
          <p:nvPr/>
        </p:nvSpPr>
        <p:spPr>
          <a:xfrm>
            <a:off x="4781756" y="4416599"/>
            <a:ext cx="76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Attn</a:t>
            </a:r>
          </a:p>
        </p:txBody>
      </p:sp>
      <p:sp>
        <p:nvSpPr>
          <p:cNvPr id="194" name="文字方塊 193">
            <a:extLst>
              <a:ext uri="{FF2B5EF4-FFF2-40B4-BE49-F238E27FC236}">
                <a16:creationId xmlns:a16="http://schemas.microsoft.com/office/drawing/2014/main" id="{D3D61C74-136A-83E8-A08B-D0B7D7B52DC7}"/>
              </a:ext>
            </a:extLst>
          </p:cNvPr>
          <p:cNvSpPr txBox="1"/>
          <p:nvPr/>
        </p:nvSpPr>
        <p:spPr>
          <a:xfrm>
            <a:off x="9677942" y="369050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196" name="左右大括弧 195">
            <a:extLst>
              <a:ext uri="{FF2B5EF4-FFF2-40B4-BE49-F238E27FC236}">
                <a16:creationId xmlns:a16="http://schemas.microsoft.com/office/drawing/2014/main" id="{F0569F82-2BD5-C557-DE81-03E11789261B}"/>
              </a:ext>
            </a:extLst>
          </p:cNvPr>
          <p:cNvSpPr/>
          <p:nvPr/>
        </p:nvSpPr>
        <p:spPr>
          <a:xfrm>
            <a:off x="9501882" y="393919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46F573B4-ED37-1271-3BF5-7617A23C31E3}"/>
              </a:ext>
            </a:extLst>
          </p:cNvPr>
          <p:cNvSpPr txBox="1"/>
          <p:nvPr/>
        </p:nvSpPr>
        <p:spPr>
          <a:xfrm>
            <a:off x="9665601" y="415217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EE4B2486-86F0-9CB5-0A52-9D68C6C0D3F2}"/>
              </a:ext>
            </a:extLst>
          </p:cNvPr>
          <p:cNvSpPr txBox="1"/>
          <p:nvPr/>
        </p:nvSpPr>
        <p:spPr>
          <a:xfrm>
            <a:off x="9665601" y="464653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202" name="文字方塊 201">
            <a:extLst>
              <a:ext uri="{FF2B5EF4-FFF2-40B4-BE49-F238E27FC236}">
                <a16:creationId xmlns:a16="http://schemas.microsoft.com/office/drawing/2014/main" id="{BDE86C63-756C-559B-15F3-F8C6EFA0AFCC}"/>
              </a:ext>
            </a:extLst>
          </p:cNvPr>
          <p:cNvSpPr txBox="1"/>
          <p:nvPr/>
        </p:nvSpPr>
        <p:spPr>
          <a:xfrm>
            <a:off x="9665601" y="513727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938BF3B4-9360-538F-5730-F5FA71C97A29}"/>
              </a:ext>
            </a:extLst>
          </p:cNvPr>
          <p:cNvSpPr txBox="1"/>
          <p:nvPr/>
        </p:nvSpPr>
        <p:spPr>
          <a:xfrm>
            <a:off x="9665601" y="562802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72C25847-1E84-5D10-982F-92CA09AC122E}"/>
              </a:ext>
            </a:extLst>
          </p:cNvPr>
          <p:cNvSpPr txBox="1"/>
          <p:nvPr/>
        </p:nvSpPr>
        <p:spPr>
          <a:xfrm>
            <a:off x="7879371" y="3690506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2</a:t>
            </a:r>
            <a:endParaRPr lang="zh-TW" altLang="en-US" sz="3200" dirty="0"/>
          </a:p>
        </p:txBody>
      </p:sp>
      <p:sp>
        <p:nvSpPr>
          <p:cNvPr id="208" name="左右大括弧 207">
            <a:extLst>
              <a:ext uri="{FF2B5EF4-FFF2-40B4-BE49-F238E27FC236}">
                <a16:creationId xmlns:a16="http://schemas.microsoft.com/office/drawing/2014/main" id="{276B5D7F-1815-9D66-69FD-A22379EE7049}"/>
              </a:ext>
            </a:extLst>
          </p:cNvPr>
          <p:cNvSpPr/>
          <p:nvPr/>
        </p:nvSpPr>
        <p:spPr>
          <a:xfrm>
            <a:off x="7703311" y="3939196"/>
            <a:ext cx="977951" cy="2008566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0" name="文字方塊 209">
            <a:extLst>
              <a:ext uri="{FF2B5EF4-FFF2-40B4-BE49-F238E27FC236}">
                <a16:creationId xmlns:a16="http://schemas.microsoft.com/office/drawing/2014/main" id="{2320DCDF-3F80-851F-5EC9-64199FA1A0F8}"/>
              </a:ext>
            </a:extLst>
          </p:cNvPr>
          <p:cNvSpPr txBox="1"/>
          <p:nvPr/>
        </p:nvSpPr>
        <p:spPr>
          <a:xfrm>
            <a:off x="7867030" y="4152171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1</a:t>
            </a:r>
            <a:endParaRPr lang="zh-TW" altLang="en-US" sz="3200" dirty="0"/>
          </a:p>
        </p:txBody>
      </p:sp>
      <p:sp>
        <p:nvSpPr>
          <p:cNvPr id="212" name="文字方塊 211">
            <a:extLst>
              <a:ext uri="{FF2B5EF4-FFF2-40B4-BE49-F238E27FC236}">
                <a16:creationId xmlns:a16="http://schemas.microsoft.com/office/drawing/2014/main" id="{CEE5BC4F-4A08-A044-A800-3D8A3625C9E3}"/>
              </a:ext>
            </a:extLst>
          </p:cNvPr>
          <p:cNvSpPr txBox="1"/>
          <p:nvPr/>
        </p:nvSpPr>
        <p:spPr>
          <a:xfrm>
            <a:off x="7867030" y="4646533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5</a:t>
            </a:r>
            <a:endParaRPr lang="zh-TW" altLang="en-US" sz="3200" dirty="0"/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B5CFE5C2-9F86-F9FE-0391-1B1E306C6566}"/>
              </a:ext>
            </a:extLst>
          </p:cNvPr>
          <p:cNvSpPr txBox="1"/>
          <p:nvPr/>
        </p:nvSpPr>
        <p:spPr>
          <a:xfrm>
            <a:off x="7867030" y="5137279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4</a:t>
            </a:r>
            <a:endParaRPr lang="zh-TW" altLang="en-US" sz="3200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7721B96D-AC55-5080-753C-946441505A61}"/>
              </a:ext>
            </a:extLst>
          </p:cNvPr>
          <p:cNvSpPr txBox="1"/>
          <p:nvPr/>
        </p:nvSpPr>
        <p:spPr>
          <a:xfrm>
            <a:off x="7867030" y="5628025"/>
            <a:ext cx="65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1400" dirty="0"/>
              <a:t>3</a:t>
            </a:r>
            <a:endParaRPr lang="zh-TW" altLang="en-US" sz="3200" dirty="0"/>
          </a:p>
        </p:txBody>
      </p:sp>
      <p:sp>
        <p:nvSpPr>
          <p:cNvPr id="218" name="箭號: 向右 217">
            <a:extLst>
              <a:ext uri="{FF2B5EF4-FFF2-40B4-BE49-F238E27FC236}">
                <a16:creationId xmlns:a16="http://schemas.microsoft.com/office/drawing/2014/main" id="{3FAE6BF3-B413-778E-4174-A3D24D9DC310}"/>
              </a:ext>
            </a:extLst>
          </p:cNvPr>
          <p:cNvSpPr/>
          <p:nvPr/>
        </p:nvSpPr>
        <p:spPr>
          <a:xfrm>
            <a:off x="8922538" y="4829039"/>
            <a:ext cx="354395" cy="2288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E0FD3482-56A2-4A0E-7EB9-C5DB9D533EDD}"/>
              </a:ext>
            </a:extLst>
          </p:cNvPr>
          <p:cNvSpPr txBox="1"/>
          <p:nvPr/>
        </p:nvSpPr>
        <p:spPr>
          <a:xfrm>
            <a:off x="8707462" y="4416599"/>
            <a:ext cx="76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Attn</a:t>
            </a: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152E853A-4E57-B747-9234-EF6497090C7D}"/>
              </a:ext>
            </a:extLst>
          </p:cNvPr>
          <p:cNvSpPr txBox="1"/>
          <p:nvPr/>
        </p:nvSpPr>
        <p:spPr>
          <a:xfrm>
            <a:off x="482616" y="3836586"/>
            <a:ext cx="3070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permutation-equivariant 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224" name="圖片 223">
            <a:extLst>
              <a:ext uri="{FF2B5EF4-FFF2-40B4-BE49-F238E27FC236}">
                <a16:creationId xmlns:a16="http://schemas.microsoft.com/office/drawing/2014/main" id="{04C17AFE-4D97-EAEC-3DDC-6A862E3F5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476" y="5609493"/>
            <a:ext cx="1445951" cy="475488"/>
          </a:xfrm>
          <a:prstGeom prst="rect">
            <a:avLst/>
          </a:prstGeom>
        </p:spPr>
      </p:pic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D339091C-2573-48C9-820C-CCE6691B4643}"/>
              </a:ext>
            </a:extLst>
          </p:cNvPr>
          <p:cNvSpPr txBox="1"/>
          <p:nvPr/>
        </p:nvSpPr>
        <p:spPr>
          <a:xfrm>
            <a:off x="482616" y="4838196"/>
            <a:ext cx="2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i="1" dirty="0"/>
              <a:t>P</a:t>
            </a:r>
            <a:r>
              <a:rPr lang="en-US" altLang="zh-TW" sz="1600" dirty="0"/>
              <a:t> : permutation matrix</a:t>
            </a:r>
            <a:endParaRPr lang="zh-TW" altLang="zh-TW" sz="1600" dirty="0"/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B2D69C5B-F61A-D791-8756-DC883D69F046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sp>
        <p:nvSpPr>
          <p:cNvPr id="5" name="乘號 4">
            <a:extLst>
              <a:ext uri="{FF2B5EF4-FFF2-40B4-BE49-F238E27FC236}">
                <a16:creationId xmlns:a16="http://schemas.microsoft.com/office/drawing/2014/main" id="{F737CCC7-FC64-9523-48AF-BB39EE92A68D}"/>
              </a:ext>
            </a:extLst>
          </p:cNvPr>
          <p:cNvSpPr/>
          <p:nvPr/>
        </p:nvSpPr>
        <p:spPr>
          <a:xfrm>
            <a:off x="3507562" y="2786004"/>
            <a:ext cx="262096" cy="32881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等於 8">
            <a:extLst>
              <a:ext uri="{FF2B5EF4-FFF2-40B4-BE49-F238E27FC236}">
                <a16:creationId xmlns:a16="http://schemas.microsoft.com/office/drawing/2014/main" id="{016F1D57-1CC7-2424-B540-5F5259508018}"/>
              </a:ext>
            </a:extLst>
          </p:cNvPr>
          <p:cNvSpPr/>
          <p:nvPr/>
        </p:nvSpPr>
        <p:spPr>
          <a:xfrm>
            <a:off x="7937269" y="2042099"/>
            <a:ext cx="358751" cy="28228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253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0B25-398C-5C2B-5319-992DC0C7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8348E-33E2-AED1-F66F-C9C4F6FE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Global attention layer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CE0120-1392-A46B-B605-37A604BD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17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8D9A801-0A22-5550-DADE-65ECAB058745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14FC1BE-17E2-961B-5C04-93942AD2A35E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F2E3DF83-2179-FE0A-3DBA-4E577595B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71" y="1660583"/>
            <a:ext cx="6269055" cy="29375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913D262-1E63-AEED-C43A-1952747BE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210" y="4598083"/>
            <a:ext cx="4708629" cy="114714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F0DBA8B-7BF2-6820-6684-0FBB7C434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928" y="5736679"/>
            <a:ext cx="3718560" cy="475465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D0129DCF-0073-412B-2915-7DCD9730E0AD}"/>
              </a:ext>
            </a:extLst>
          </p:cNvPr>
          <p:cNvSpPr/>
          <p:nvPr/>
        </p:nvSpPr>
        <p:spPr>
          <a:xfrm>
            <a:off x="6619210" y="4109098"/>
            <a:ext cx="4708628" cy="21115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FAC4F7E-55C8-B9E9-69CC-2B98CDE14E2D}"/>
              </a:ext>
            </a:extLst>
          </p:cNvPr>
          <p:cNvSpPr/>
          <p:nvPr/>
        </p:nvSpPr>
        <p:spPr>
          <a:xfrm>
            <a:off x="6619210" y="1075753"/>
            <a:ext cx="5462016" cy="26037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8F12FCDD-EABE-A0E5-2482-5E082BE47F75}"/>
              </a:ext>
            </a:extLst>
          </p:cNvPr>
          <p:cNvSpPr txBox="1"/>
          <p:nvPr/>
        </p:nvSpPr>
        <p:spPr>
          <a:xfrm>
            <a:off x="6645171" y="1153934"/>
            <a:ext cx="3070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/>
              <a:t>Initialization strategy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p:pic>
        <p:nvPicPr>
          <p:cNvPr id="100" name="圖片 99">
            <a:extLst>
              <a:ext uri="{FF2B5EF4-FFF2-40B4-BE49-F238E27FC236}">
                <a16:creationId xmlns:a16="http://schemas.microsoft.com/office/drawing/2014/main" id="{95E41615-FAA4-AD5C-3571-AD626A093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890" y="1584871"/>
            <a:ext cx="2734057" cy="523948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CCD022CC-B45A-96C7-4A1C-FAA39ECED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1375" y="2046454"/>
            <a:ext cx="1428949" cy="609685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70E511A9-2DBF-9034-7B36-4F3B67C92A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8555" y="2599214"/>
            <a:ext cx="4077269" cy="990738"/>
          </a:xfrm>
          <a:prstGeom prst="rect">
            <a:avLst/>
          </a:prstGeom>
        </p:spPr>
      </p:pic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3A2163A-63F2-C379-6CC6-99A8F29CB7F2}"/>
              </a:ext>
            </a:extLst>
          </p:cNvPr>
          <p:cNvSpPr txBox="1"/>
          <p:nvPr/>
        </p:nvSpPr>
        <p:spPr>
          <a:xfrm>
            <a:off x="224109" y="4766530"/>
            <a:ext cx="46943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mm : </a:t>
            </a:r>
            <a:r>
              <a:rPr lang="zh-TW" altLang="zh-TW" sz="1200" dirty="0"/>
              <a:t>matrix multiplication</a:t>
            </a:r>
            <a:endParaRPr lang="en-US" altLang="zh-TW" sz="1200" dirty="0"/>
          </a:p>
          <a:p>
            <a:r>
              <a:rPr lang="en-US" altLang="zh-TW" sz="1600" i="1" dirty="0"/>
              <a:t>b</a:t>
            </a:r>
            <a:r>
              <a:rPr lang="en-US" altLang="zh-TW" sz="1600" dirty="0"/>
              <a:t>:</a:t>
            </a:r>
            <a:r>
              <a:rPr lang="zh-TW" altLang="zh-TW" sz="1600" dirty="0"/>
              <a:t> </a:t>
            </a:r>
            <a:r>
              <a:rPr lang="en-US" altLang="zh-TW" sz="1200" dirty="0"/>
              <a:t>Batch size</a:t>
            </a:r>
            <a:endParaRPr lang="zh-TW" altLang="zh-TW" sz="1200" dirty="0"/>
          </a:p>
          <a:p>
            <a:r>
              <a:rPr lang="en-US" altLang="zh-TW" sz="1600" i="1" dirty="0" err="1"/>
              <a:t>n</a:t>
            </a:r>
            <a:r>
              <a:rPr lang="en-US" altLang="zh-TW" sz="1100" i="1" dirty="0" err="1"/>
              <a:t>v</a:t>
            </a:r>
            <a:r>
              <a:rPr lang="en-US" altLang="zh-TW" sz="1600" i="1" dirty="0"/>
              <a:t> : </a:t>
            </a:r>
            <a:r>
              <a:rPr lang="zh-TW" altLang="zh-TW" sz="1200" dirty="0"/>
              <a:t>Number of features</a:t>
            </a:r>
            <a:endParaRPr lang="en-US" altLang="zh-TW" sz="1600" dirty="0"/>
          </a:p>
          <a:p>
            <a:r>
              <a:rPr lang="en-US" altLang="zh-TW" sz="1600" i="1" dirty="0"/>
              <a:t>d</a:t>
            </a:r>
            <a:r>
              <a:rPr lang="en-US" altLang="zh-TW" sz="1100" i="1" dirty="0"/>
              <a:t>v</a:t>
            </a:r>
            <a:r>
              <a:rPr lang="en-US" altLang="zh-TW" sz="1600" i="1" dirty="0"/>
              <a:t> : </a:t>
            </a:r>
            <a:r>
              <a:rPr lang="zh-TW" altLang="zh-TW" sz="1200" dirty="0"/>
              <a:t>embedding dimension</a:t>
            </a:r>
            <a:endParaRPr lang="zh-TW" altLang="zh-TW" dirty="0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32ADD601-8A01-C39C-CBA6-5DBE8CA0CDC0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4CB538-E351-D6EC-3B83-C6D92B8609F8}"/>
              </a:ext>
            </a:extLst>
          </p:cNvPr>
          <p:cNvSpPr txBox="1"/>
          <p:nvPr/>
        </p:nvSpPr>
        <p:spPr>
          <a:xfrm>
            <a:off x="6679085" y="4198194"/>
            <a:ext cx="3070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Step 2 &amp; 3: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A0181A9-BDC8-4E05-336A-FFAF8958F0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499" y="4907741"/>
            <a:ext cx="2438740" cy="83831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F82409-E009-01C3-AAE2-7E4CEEC745FE}"/>
              </a:ext>
            </a:extLst>
          </p:cNvPr>
          <p:cNvSpPr txBox="1"/>
          <p:nvPr/>
        </p:nvSpPr>
        <p:spPr>
          <a:xfrm>
            <a:off x="3738648" y="5625593"/>
            <a:ext cx="2030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/>
              <a:t>(</a:t>
            </a:r>
            <a:r>
              <a:rPr lang="en-US" altLang="zh-TW" sz="1200" dirty="0" err="1"/>
              <a:t>pytorch</a:t>
            </a:r>
            <a:r>
              <a:rPr lang="en-US" altLang="zh-TW" sz="1200" dirty="0"/>
              <a:t> documentation)</a:t>
            </a:r>
            <a:endParaRPr lang="zh-TW" altLang="en-US" sz="1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5AD2FF-A99F-7AAB-6343-06B161C725FB}"/>
              </a:ext>
            </a:extLst>
          </p:cNvPr>
          <p:cNvSpPr txBox="1"/>
          <p:nvPr/>
        </p:nvSpPr>
        <p:spPr>
          <a:xfrm>
            <a:off x="3333499" y="4738464"/>
            <a:ext cx="8102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Norm :</a:t>
            </a:r>
            <a:endParaRPr lang="zh-TW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477883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CF9C-1C39-1E3D-88A4-16247146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ED6C12-68F6-ED86-3327-5A05F851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Global attention layer</a:t>
            </a:r>
            <a:r>
              <a:rPr lang="zh-TW" altLang="en-US" sz="4000" dirty="0"/>
              <a:t> </a:t>
            </a:r>
            <a:r>
              <a:rPr lang="en-US" altLang="zh-TW" sz="4000" dirty="0"/>
              <a:t>(2)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28FC4F-465A-37DF-78B3-62FBDB33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18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6CF7E40-77B0-F693-48DF-5101A2CCD08A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64B53FC-DE70-2EDC-95E6-4F309BD14DAC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2E7851-757C-7F21-4491-EA6E98D76144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801015D-D7DF-E0E9-F341-CD17C8303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36053"/>
            <a:ext cx="6315956" cy="171473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9B83819-1F64-AAA2-64E0-6298A078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23" y="1224769"/>
            <a:ext cx="3225659" cy="499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5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5EB3-69F4-7086-1CE3-D4123FD2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98BA0-3899-AF56-BDD4-4074DC378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Local</a:t>
            </a:r>
            <a:r>
              <a:rPr lang="zh-TW" altLang="zh-TW" sz="4000" dirty="0"/>
              <a:t> attention layer</a:t>
            </a:r>
            <a:r>
              <a:rPr lang="zh-TW" altLang="en-US" sz="40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C6D5ED-C41F-9D3C-B498-7887EBDA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19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FB5BFBC-8D92-F5D4-AB20-BEB1AE0F5055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D60CAF-D79A-A88C-E421-AE48E6C1B314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C9E154-C1BA-6494-45D8-F04228810655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3B0C07-B1F8-EEC7-3522-C9C176FD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516" y="1027906"/>
            <a:ext cx="3221497" cy="52730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3BE47EB-648C-5757-C257-C841E414A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66155"/>
            <a:ext cx="4728121" cy="9456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A37B934-7E9F-38B8-F4F3-2DFD9F087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55" y="2286709"/>
            <a:ext cx="2323195" cy="3027616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4D0B9A9F-BD86-3985-AEC4-8E8B7C0612E6}"/>
              </a:ext>
            </a:extLst>
          </p:cNvPr>
          <p:cNvSpPr txBox="1"/>
          <p:nvPr/>
        </p:nvSpPr>
        <p:spPr>
          <a:xfrm>
            <a:off x="2897750" y="2445907"/>
            <a:ext cx="266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i="1" dirty="0"/>
              <a:t>W </a:t>
            </a:r>
            <a:r>
              <a:rPr lang="en-US" altLang="zh-TW" sz="1200" dirty="0"/>
              <a:t>: </a:t>
            </a:r>
            <a:r>
              <a:rPr lang="en-US" altLang="zh-TW" sz="1600" dirty="0"/>
              <a:t> </a:t>
            </a:r>
            <a:r>
              <a:rPr lang="zh-TW" altLang="zh-TW" sz="1200" dirty="0"/>
              <a:t>Matrix of a linear transformation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5C7A2E6-044B-597E-9D70-0ACDD1635653}"/>
              </a:ext>
            </a:extLst>
          </p:cNvPr>
          <p:cNvSpPr txBox="1"/>
          <p:nvPr/>
        </p:nvSpPr>
        <p:spPr>
          <a:xfrm>
            <a:off x="777356" y="5273101"/>
            <a:ext cx="6070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Vaswani, A., Shazeer, N., Parmar, N., Uszkoreit, J., Jones, L., Gomez, A. N., ... &amp; Polosukhin, I. (2017). Attention is all you need.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Advances in neural information processing systems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30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E2338A-2FC8-6523-1680-359A6DBCCC2B}"/>
              </a:ext>
            </a:extLst>
          </p:cNvPr>
          <p:cNvSpPr/>
          <p:nvPr/>
        </p:nvSpPr>
        <p:spPr>
          <a:xfrm>
            <a:off x="685005" y="1543674"/>
            <a:ext cx="6255308" cy="425362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D0B49A03-F2A3-C2A3-DB88-84FCF8654122}"/>
              </a:ext>
            </a:extLst>
          </p:cNvPr>
          <p:cNvSpPr/>
          <p:nvPr/>
        </p:nvSpPr>
        <p:spPr>
          <a:xfrm>
            <a:off x="7132328" y="3374136"/>
            <a:ext cx="565172" cy="20142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90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5256-6328-AD97-B7FF-2A380DC0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FF4CAD-A6A7-17A8-EE70-A23536A6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Cross-attention layer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BE5A0E-91AA-A25F-24DA-9B014354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20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AA5E50D-2373-9749-7CF0-0AEA93C38DCE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50E4794-5FF6-FC38-7317-57E897C1428E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109560-9503-0041-366E-E7F13F83390B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CC5A149-692F-B726-DFB9-879F9E928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40" y="2206741"/>
            <a:ext cx="2833549" cy="45589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8253F37-B5A9-E0CA-0342-1C2D1D78F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107" y="2668923"/>
            <a:ext cx="2156954" cy="34315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D675DC8-5CB6-F1EB-F49D-87FA5BE4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027" y="3155008"/>
            <a:ext cx="5253969" cy="117353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3B08538-6C94-9F5B-AE64-8F0742937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58" y="1533374"/>
            <a:ext cx="5859760" cy="4081042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EE7A9158-4B54-9656-F022-4FFEB3178166}"/>
              </a:ext>
            </a:extLst>
          </p:cNvPr>
          <p:cNvSpPr txBox="1"/>
          <p:nvPr/>
        </p:nvSpPr>
        <p:spPr>
          <a:xfrm>
            <a:off x="6632340" y="4361412"/>
            <a:ext cx="35936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i="1" dirty="0"/>
              <a:t>Q</a:t>
            </a:r>
            <a:r>
              <a:rPr lang="en-US" altLang="zh-TW" sz="1100" i="1" dirty="0"/>
              <a:t>l</a:t>
            </a:r>
            <a:r>
              <a:rPr lang="en-US" altLang="zh-TW" sz="1600" i="1" dirty="0"/>
              <a:t> </a:t>
            </a:r>
            <a:r>
              <a:rPr lang="en-US" altLang="zh-TW" sz="1600" dirty="0"/>
              <a:t>:</a:t>
            </a:r>
            <a:r>
              <a:rPr lang="zh-TW" altLang="zh-TW" sz="1600" dirty="0"/>
              <a:t> </a:t>
            </a:r>
            <a:r>
              <a:rPr lang="zh-TW" altLang="zh-TW" sz="1200" dirty="0"/>
              <a:t>Query obtained from the local attention layer</a:t>
            </a:r>
            <a:endParaRPr lang="en-US" altLang="zh-TW" sz="1600" dirty="0"/>
          </a:p>
          <a:p>
            <a:r>
              <a:rPr lang="en-US" altLang="zh-TW" sz="1600" i="1" dirty="0"/>
              <a:t>K</a:t>
            </a:r>
            <a:r>
              <a:rPr lang="en-US" altLang="zh-TW" sz="1100" i="1" dirty="0"/>
              <a:t>g</a:t>
            </a:r>
            <a:r>
              <a:rPr lang="en-US" altLang="zh-TW" sz="1600" i="1" dirty="0"/>
              <a:t> : </a:t>
            </a:r>
            <a:r>
              <a:rPr lang="en-US" altLang="zh-TW" sz="1200" dirty="0"/>
              <a:t>Key</a:t>
            </a:r>
            <a:r>
              <a:rPr lang="zh-TW" altLang="zh-TW" sz="1200" dirty="0"/>
              <a:t> obtained from the </a:t>
            </a:r>
            <a:r>
              <a:rPr lang="en-US" altLang="zh-TW" sz="1200" dirty="0"/>
              <a:t>global</a:t>
            </a:r>
            <a:r>
              <a:rPr lang="zh-TW" altLang="zh-TW" sz="1200" dirty="0"/>
              <a:t> attention layer</a:t>
            </a:r>
            <a:endParaRPr lang="en-US" altLang="zh-TW" sz="1600" dirty="0"/>
          </a:p>
          <a:p>
            <a:r>
              <a:rPr lang="en-US" altLang="zh-TW" sz="1600" i="1" dirty="0"/>
              <a:t>V</a:t>
            </a:r>
            <a:r>
              <a:rPr lang="en-US" altLang="zh-TW" sz="1100" i="1" dirty="0"/>
              <a:t>g</a:t>
            </a:r>
            <a:r>
              <a:rPr lang="en-US" altLang="zh-TW" sz="1600" i="1" dirty="0"/>
              <a:t> : </a:t>
            </a:r>
            <a:r>
              <a:rPr lang="en-US" altLang="zh-TW" sz="1200" dirty="0"/>
              <a:t>Value</a:t>
            </a:r>
            <a:r>
              <a:rPr lang="zh-TW" altLang="zh-TW" sz="1200" dirty="0"/>
              <a:t> obtained from the </a:t>
            </a:r>
            <a:r>
              <a:rPr lang="en-US" altLang="zh-TW" sz="1200" dirty="0"/>
              <a:t>global</a:t>
            </a:r>
            <a:r>
              <a:rPr lang="zh-TW" altLang="zh-TW" sz="1200" dirty="0"/>
              <a:t> attention layer</a:t>
            </a:r>
            <a:endParaRPr lang="en-US" altLang="zh-TW" sz="1600" dirty="0"/>
          </a:p>
          <a:p>
            <a:r>
              <a:rPr lang="en-US" altLang="zh-TW" sz="1600" i="1" dirty="0"/>
              <a:t>W </a:t>
            </a:r>
            <a:r>
              <a:rPr lang="en-US" altLang="zh-TW" sz="1200" dirty="0"/>
              <a:t>: </a:t>
            </a:r>
            <a:r>
              <a:rPr lang="en-US" altLang="zh-TW" sz="1600" dirty="0"/>
              <a:t> </a:t>
            </a:r>
            <a:r>
              <a:rPr lang="zh-TW" altLang="zh-TW" sz="1200" dirty="0"/>
              <a:t>Matrix of a linear transformation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864B92-BE93-B13A-20AA-7CE744276D13}"/>
              </a:ext>
            </a:extLst>
          </p:cNvPr>
          <p:cNvSpPr/>
          <p:nvPr/>
        </p:nvSpPr>
        <p:spPr>
          <a:xfrm>
            <a:off x="6551027" y="1690688"/>
            <a:ext cx="5432331" cy="385512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22EE917-6E99-2D1D-F1FE-9097B46EC798}"/>
              </a:ext>
            </a:extLst>
          </p:cNvPr>
          <p:cNvSpPr txBox="1"/>
          <p:nvPr/>
        </p:nvSpPr>
        <p:spPr>
          <a:xfrm>
            <a:off x="6632340" y="1773757"/>
            <a:ext cx="3070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Step 2 &amp; 3:</a:t>
            </a:r>
            <a:endParaRPr lang="zh-TW" altLang="en-US" sz="20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95994B1-9FFE-7BE1-01D5-3116B1071FE8}"/>
              </a:ext>
            </a:extLst>
          </p:cNvPr>
          <p:cNvCxnSpPr>
            <a:cxnSpLocks/>
          </p:cNvCxnSpPr>
          <p:nvPr/>
        </p:nvCxnSpPr>
        <p:spPr>
          <a:xfrm>
            <a:off x="9702380" y="3968007"/>
            <a:ext cx="184423" cy="2712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1CD7A1B-E4A6-1AF4-57F4-FDCB1A9600DB}"/>
              </a:ext>
            </a:extLst>
          </p:cNvPr>
          <p:cNvCxnSpPr>
            <a:cxnSpLocks/>
          </p:cNvCxnSpPr>
          <p:nvPr/>
        </p:nvCxnSpPr>
        <p:spPr>
          <a:xfrm flipH="1">
            <a:off x="9692434" y="3968007"/>
            <a:ext cx="194369" cy="2784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E6A7584-D5B8-46DA-DB67-2515667B43FF}"/>
              </a:ext>
            </a:extLst>
          </p:cNvPr>
          <p:cNvSpPr txBox="1"/>
          <p:nvPr/>
        </p:nvSpPr>
        <p:spPr>
          <a:xfrm>
            <a:off x="5095260" y="5669056"/>
            <a:ext cx="22635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mm : </a:t>
            </a:r>
            <a:r>
              <a:rPr lang="zh-TW" altLang="zh-TW" sz="1200" dirty="0"/>
              <a:t>matrix multiplication</a:t>
            </a:r>
            <a:endParaRPr lang="en-US" altLang="zh-TW" sz="1200" dirty="0"/>
          </a:p>
          <a:p>
            <a:r>
              <a:rPr lang="en-US" altLang="zh-TW" sz="1600" i="1" dirty="0"/>
              <a:t>b</a:t>
            </a:r>
            <a:r>
              <a:rPr lang="en-US" altLang="zh-TW" sz="1600" dirty="0"/>
              <a:t>:</a:t>
            </a:r>
            <a:r>
              <a:rPr lang="zh-TW" altLang="zh-TW" sz="1600" dirty="0"/>
              <a:t> </a:t>
            </a:r>
            <a:r>
              <a:rPr lang="en-US" altLang="zh-TW" sz="1200" dirty="0"/>
              <a:t>Batch size</a:t>
            </a:r>
            <a:endParaRPr lang="zh-TW" altLang="zh-TW" sz="1200" dirty="0"/>
          </a:p>
          <a:p>
            <a:r>
              <a:rPr lang="en-US" altLang="zh-TW" sz="1600" i="1" dirty="0"/>
              <a:t>n : </a:t>
            </a:r>
            <a:r>
              <a:rPr lang="zh-TW" altLang="zh-TW" sz="1200" dirty="0"/>
              <a:t>Number of features</a:t>
            </a:r>
            <a:endParaRPr lang="en-US" altLang="zh-TW" sz="1600" dirty="0"/>
          </a:p>
          <a:p>
            <a:r>
              <a:rPr lang="en-US" altLang="zh-TW" sz="1600" i="1" dirty="0"/>
              <a:t>d : </a:t>
            </a:r>
            <a:r>
              <a:rPr lang="zh-TW" altLang="zh-TW" sz="1200" dirty="0"/>
              <a:t>embedding dimension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623628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8793-6CBF-2FA9-D0E6-44FBB1FA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EE9453-74F9-6056-4B53-CACB7FDD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Cross-attention layer</a:t>
            </a:r>
            <a:r>
              <a:rPr lang="en-US" altLang="zh-TW" sz="4000" dirty="0"/>
              <a:t> (2)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73A711-7DFC-4E25-323F-3021EFFC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21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F36055E-0DCB-C4B9-AC08-394F80E0E316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700C510-A948-EF1B-3875-DBD49BA8F9D3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4BC2AD-604A-E752-6CB8-2AAEC4C74FDA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AB6E5B-6086-E1FA-16A0-B79C9C151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2184"/>
            <a:ext cx="5836714" cy="225388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1CF1F83-2D8C-F46D-31CC-60F332552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771" y="1027906"/>
            <a:ext cx="3475738" cy="532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55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6344-298A-10E0-249D-88556FD2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337320-F4B1-544B-7B7A-0589EE26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4000" dirty="0"/>
              <a:t>Architecture</a:t>
            </a:r>
            <a:endParaRPr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D790F5-0005-2783-F270-3B5CB274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7B4A2-F224-402A-B571-E032C14CF34B}" type="slidenum">
              <a:rPr lang="zh-TW" altLang="en-US" sz="1600" smtClean="0"/>
              <a:t>22</a:t>
            </a:fld>
            <a:endParaRPr lang="zh-TW" altLang="en-US" sz="1600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1A1B763-A9CA-E7CB-9FC3-CF565B5EBA0A}"/>
              </a:ext>
            </a:extLst>
          </p:cNvPr>
          <p:cNvCxnSpPr>
            <a:cxnSpLocks/>
          </p:cNvCxnSpPr>
          <p:nvPr/>
        </p:nvCxnSpPr>
        <p:spPr>
          <a:xfrm>
            <a:off x="10520218" y="637308"/>
            <a:ext cx="1376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ADEAB15-6FF5-BD13-5175-F00442317E6E}"/>
              </a:ext>
            </a:extLst>
          </p:cNvPr>
          <p:cNvSpPr txBox="1"/>
          <p:nvPr/>
        </p:nvSpPr>
        <p:spPr>
          <a:xfrm>
            <a:off x="10520217" y="249937"/>
            <a:ext cx="137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Methods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94C190-240A-CE10-D1CC-69D902C79B11}"/>
              </a:ext>
            </a:extLst>
          </p:cNvPr>
          <p:cNvSpPr txBox="1"/>
          <p:nvPr/>
        </p:nvSpPr>
        <p:spPr>
          <a:xfrm>
            <a:off x="380874" y="6133902"/>
            <a:ext cx="44523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Bui, H., &amp; Le, B. (2025). </a:t>
            </a:r>
            <a:r>
              <a:rPr lang="zh-TW" altLang="zh-TW" sz="1200" b="0" i="1" dirty="0">
                <a:solidFill>
                  <a:schemeClr val="tx1"/>
                </a:solidFill>
                <a:effectLst/>
                <a:latin typeface="+mn-lt"/>
              </a:rPr>
              <a:t>Expert Systems with Applications</a:t>
            </a: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, 130220.</a:t>
            </a:r>
            <a:endParaRPr lang="zh-TW" altLang="en-US" sz="1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E82A48-E287-0355-A09C-84D91517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47" y="770868"/>
            <a:ext cx="4625545" cy="55015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F9E4FD7-4F21-3A1C-4BDA-57577610D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03" y="2116606"/>
            <a:ext cx="4831240" cy="150239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AD3AACA-2630-3440-A068-76CC7C44F23D}"/>
              </a:ext>
            </a:extLst>
          </p:cNvPr>
          <p:cNvSpPr/>
          <p:nvPr/>
        </p:nvSpPr>
        <p:spPr>
          <a:xfrm>
            <a:off x="560824" y="1501436"/>
            <a:ext cx="5638024" cy="4387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95C45BB-B69C-D52F-D3A2-AC2DD97F620A}"/>
              </a:ext>
            </a:extLst>
          </p:cNvPr>
          <p:cNvSpPr txBox="1"/>
          <p:nvPr/>
        </p:nvSpPr>
        <p:spPr>
          <a:xfrm>
            <a:off x="668303" y="1640415"/>
            <a:ext cx="3070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Block :</a:t>
            </a:r>
            <a:endParaRPr lang="zh-TW" altLang="en-US" sz="20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74B5454-50BF-056B-06D5-8D184D7673AA}"/>
              </a:ext>
            </a:extLst>
          </p:cNvPr>
          <p:cNvSpPr txBox="1"/>
          <p:nvPr/>
        </p:nvSpPr>
        <p:spPr>
          <a:xfrm>
            <a:off x="675700" y="3942541"/>
            <a:ext cx="4157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X + Dropout(</a:t>
            </a:r>
            <a:r>
              <a:rPr lang="en-US" altLang="zh-TW" sz="1600" dirty="0" err="1"/>
              <a:t>Multihead</a:t>
            </a:r>
            <a:r>
              <a:rPr lang="en-US" altLang="zh-TW" sz="1600" dirty="0"/>
              <a:t>(Norm(X))) = X*</a:t>
            </a:r>
            <a:endParaRPr lang="zh-TW" altLang="zh-TW" sz="16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3C5FC36-3025-989D-45F6-EE41744D1E1A}"/>
              </a:ext>
            </a:extLst>
          </p:cNvPr>
          <p:cNvSpPr txBox="1"/>
          <p:nvPr/>
        </p:nvSpPr>
        <p:spPr>
          <a:xfrm>
            <a:off x="668303" y="4991488"/>
            <a:ext cx="2408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X* + Dropout(X**) = X***</a:t>
            </a:r>
            <a:endParaRPr lang="zh-TW" altLang="zh-TW" sz="16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ED6FF0-6DD8-FD8E-6AAE-CF12C8458FB8}"/>
              </a:ext>
            </a:extLst>
          </p:cNvPr>
          <p:cNvSpPr txBox="1"/>
          <p:nvPr/>
        </p:nvSpPr>
        <p:spPr>
          <a:xfrm>
            <a:off x="675513" y="4459561"/>
            <a:ext cx="50059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FNN(X*) = Linear(Dropout(Activation(Linear(X*)))) = X**</a:t>
            </a:r>
            <a:endParaRPr lang="zh-TW" altLang="zh-TW" sz="16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84238BC-D5FA-CF52-4BA6-C9CACD6095F2}"/>
              </a:ext>
            </a:extLst>
          </p:cNvPr>
          <p:cNvCxnSpPr/>
          <p:nvPr/>
        </p:nvCxnSpPr>
        <p:spPr>
          <a:xfrm>
            <a:off x="719328" y="4281095"/>
            <a:ext cx="23774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1F79A24E-D2DC-C18C-765C-C5EF28A369F0}"/>
              </a:ext>
            </a:extLst>
          </p:cNvPr>
          <p:cNvCxnSpPr>
            <a:cxnSpLocks/>
          </p:cNvCxnSpPr>
          <p:nvPr/>
        </p:nvCxnSpPr>
        <p:spPr>
          <a:xfrm>
            <a:off x="2518660" y="5421047"/>
            <a:ext cx="4805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E0A6E04-BCF1-0B14-730E-5D9C2BC94138}"/>
              </a:ext>
            </a:extLst>
          </p:cNvPr>
          <p:cNvSpPr txBox="1"/>
          <p:nvPr/>
        </p:nvSpPr>
        <p:spPr>
          <a:xfrm>
            <a:off x="838200" y="3634765"/>
            <a:ext cx="57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50"/>
                </a:solidFill>
              </a:rPr>
              <a:t>Input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24C8A6-5F1F-2E8F-48E3-D8A6067F4578}"/>
              </a:ext>
            </a:extLst>
          </p:cNvPr>
          <p:cNvSpPr txBox="1"/>
          <p:nvPr/>
        </p:nvSpPr>
        <p:spPr>
          <a:xfrm>
            <a:off x="2999232" y="4882966"/>
            <a:ext cx="670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CDEE2C9C-3BE5-893B-1A0B-60347973061B}"/>
              </a:ext>
            </a:extLst>
          </p:cNvPr>
          <p:cNvSpPr txBox="1"/>
          <p:nvPr/>
        </p:nvSpPr>
        <p:spPr>
          <a:xfrm>
            <a:off x="5360738" y="6331064"/>
            <a:ext cx="55480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</a:pPr>
            <a:r>
              <a:rPr lang="zh-TW" altLang="zh-TW" sz="1200" b="0" i="0" dirty="0">
                <a:solidFill>
                  <a:schemeClr val="tx1"/>
                </a:solidFill>
                <a:effectLst/>
                <a:latin typeface="+mn-lt"/>
              </a:rPr>
              <a:t>CLS is a learnable vector; it is not part of the embeddings of the original variables</a:t>
            </a:r>
            <a:r>
              <a:rPr lang="en-US" altLang="zh-TW" sz="1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zh-TW" altLang="zh-TW" sz="1600" b="0" i="0" dirty="0">
              <a:solidFill>
                <a:srgbClr val="1F1F1F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85587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4045</TotalTime>
  <Words>1569</Words>
  <Application>Microsoft Office PowerPoint</Application>
  <PresentationFormat>寬螢幕</PresentationFormat>
  <Paragraphs>392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Google Sans Text</vt:lpstr>
      <vt:lpstr>inherit</vt:lpstr>
      <vt:lpstr>標楷體</vt:lpstr>
      <vt:lpstr>Aptos</vt:lpstr>
      <vt:lpstr>Aptos Display</vt:lpstr>
      <vt:lpstr>Arial</vt:lpstr>
      <vt:lpstr>Office Theme</vt:lpstr>
      <vt:lpstr>Fusing global attention and self-attention for better performance and interpretability on tabular data</vt:lpstr>
      <vt:lpstr>Outline</vt:lpstr>
      <vt:lpstr>Background</vt:lpstr>
      <vt:lpstr>Embedding </vt:lpstr>
      <vt:lpstr>Query, Key &amp; Value </vt:lpstr>
      <vt:lpstr>Attention (1)</vt:lpstr>
      <vt:lpstr>Attention (2)</vt:lpstr>
      <vt:lpstr>Concept</vt:lpstr>
      <vt:lpstr>Muti-Head Attention</vt:lpstr>
      <vt:lpstr>Motivation</vt:lpstr>
      <vt:lpstr>Why Deep Learning Struggles with Tabular Data</vt:lpstr>
      <vt:lpstr>The Interpretability and Robustness Gap</vt:lpstr>
      <vt:lpstr>Unifying Local and Global Perspectives</vt:lpstr>
      <vt:lpstr>Methods</vt:lpstr>
      <vt:lpstr>Feature embedding block</vt:lpstr>
      <vt:lpstr>Feature embedding block (2)</vt:lpstr>
      <vt:lpstr>Global attention layer</vt:lpstr>
      <vt:lpstr>Global attention layer (2)</vt:lpstr>
      <vt:lpstr>Local attention layer </vt:lpstr>
      <vt:lpstr>Cross-attention layer</vt:lpstr>
      <vt:lpstr>Cross-attention layer (2)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賴俊延</dc:creator>
  <cp:lastModifiedBy>賴俊延</cp:lastModifiedBy>
  <cp:revision>58</cp:revision>
  <dcterms:created xsi:type="dcterms:W3CDTF">2026-09-03T04:49:20Z</dcterms:created>
  <dcterms:modified xsi:type="dcterms:W3CDTF">2026-09-15T08:57:00Z</dcterms:modified>
</cp:coreProperties>
</file>