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A41D00-71D3-415C-A3D7-FEE25CF307DF}" type="datetimeFigureOut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C49D1-81FB-4156-A44F-160F4B30D9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628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7650F-3925-534A-C297-0837807AB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CD1-5A09-A934-D288-FCABFB468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F4660-894E-CC17-AC3B-00344D1C2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E04FD-0122-4C23-A7F7-90F50FA97CFB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56E33-DDD7-A281-95EE-49E336F15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F5368-37CD-0A8A-D209-C494C35CA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598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6D67-7354-E67E-5A0C-899CFF7DF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D813-8C80-16C5-7B72-3C3049367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103B6-1E13-22E2-10E3-5BD7C05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93685-C1D2-48C9-9284-D623AD71F952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C143C-6278-2AE0-FFC5-5CEA4D518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A706-0F19-9F8C-0D59-082B4191F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656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F6EA7-8F1B-F847-E613-52C0CD2B0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F3460-BDC2-A5A5-F3B8-EC767FC49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84DAB-E2EE-C011-9D9C-6A6793BC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21E1F-1389-41B2-9326-3555E762196C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22CB9-3831-8CD4-E57D-52100784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4CDAA-6F85-5238-3F94-8694C0072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848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9ED57-4C53-57C5-C8E4-F9D42A9D9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EBD3C-F547-FDB3-E724-89F96FB60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20D330-0697-69CA-272A-4B58FF098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B1AFF6-06F0-D29F-1977-821CEB72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80AFD-1CC5-4158-B562-616B460CE827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F4A2D-B165-7F52-E8B0-749542BBF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1FF0B-E3F0-798E-A10E-17D876B5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768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B2C75-A6E9-09A0-661A-FD8A6DFE9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9B44C-1B44-2C7E-873B-E3D3DD275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A0FB5-D674-1F4C-2C15-6FBC0F4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D6351-96DF-6C3C-D90F-C44EDAB0C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2A0A5D-B30D-2818-3DBC-C071801EA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D16324-E273-59D9-C7D6-DA841058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161B6-5D58-4DCC-BC37-4C984D46F867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385130-8A22-B3BC-3C45-91FED7A7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D9F194-B55A-9288-C1C4-9D995A76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637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61E2D-A5F4-9A9D-D98F-4734EB8D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27D5C8-8A23-1E0E-16B7-AFBD0A612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29CEB-4CFB-4511-9F4B-7E9E39F7DEB1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25B978-2FB6-82E4-1402-FD7B646E8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44D64-119C-B030-22CA-B703AB3EA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2520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C14579-7DF2-6D40-0BEA-23017825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0994F-6149-48E5-9E9E-81C33751446F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B73C7-149C-74CB-FAB1-164A8EC79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68699-AEB1-EA40-BC58-7880B4D3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4421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BDE69-5A83-E746-6149-814A1D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0C83E-966D-858D-2D6D-E37D1B1BB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CC3E0C-B11D-67BB-04E2-102CC6175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3652F-EE42-C876-0C11-1EB90101A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FEA22-09E0-4978-9370-A04C2FBE3857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3581B7-0D4C-D26B-BEDB-DC43CD58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00B38-1264-C116-1CDD-24F86C3A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6627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000E-A0A6-335D-F25F-578B69A8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7D5BE-A641-5528-6EC7-6B4EB7EA3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5006E4-BAA5-C7BF-A957-27E0C10F7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A6925-0C91-ED60-B9F0-94E33756E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9A6F0-A763-4F87-94DC-630F55A79544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FF19A-3EAA-067E-7727-63600357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A1090-7684-D75D-766E-9F9234A94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4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82B0A-3A51-A95C-B5F2-4B0A220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8D036-61CE-0471-7F87-1FCA73A96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98C2F-E466-ECA4-6695-DDD5193BF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69F33-1609-4AA2-8E60-EEDF43633812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BF5AA-ACDC-8A45-3CD9-C85A5DF5A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3628C-86D6-9AB9-A76A-7DA5C3B9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928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E619B7-58E6-5621-849D-38F5C7015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07B1D-1BD5-E5E4-C7ED-DC3479B0D8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56D2D-A496-8935-73E6-8B7D4A166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95497-16C4-4AF7-8525-51C7B214CA55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97315-FC32-4722-0A76-8FBE9ECDD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34427-5CB0-4F8F-AB50-71143FAB8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597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8525B-1F05-E63A-C60D-54DD30D3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529C8D-776D-79CD-1860-C62177D5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C99D4-BCCD-D2C3-9E84-7C75A441B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BA3C4B-293B-4117-8757-544BD5161A75}" type="datetime1">
              <a:rPr lang="zh-TW" altLang="en-US" smtClean="0"/>
              <a:t>2026/9/7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D332A-D8CC-CB4D-228E-480441980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01FB-8849-6876-0CB1-4D2C764B01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3406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7F57-C7B3-FC31-90B8-F01D833C7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96291"/>
            <a:ext cx="9144000" cy="2106974"/>
          </a:xfrm>
        </p:spPr>
        <p:txBody>
          <a:bodyPr>
            <a:noAutofit/>
          </a:bodyPr>
          <a:lstStyle/>
          <a:p>
            <a:r>
              <a:rPr lang="zh-TW" altLang="zh-TW" sz="4800" dirty="0"/>
              <a:t>Fusing global attention and self-attention for better performance and interpretability on tabular data</a:t>
            </a:r>
            <a:endParaRPr lang="zh-TW" alt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DEF6C-4108-9525-68E3-10E77BF6C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990889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賴俊延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郭炤裕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林逸芬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4CDDA-C6EB-BE00-4A8D-D7F79788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</a:t>
            </a:fld>
            <a:endParaRPr lang="zh-TW" altLang="en-US" sz="16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C120BE-06DE-5A7B-358E-E4FF19DF6194}"/>
              </a:ext>
            </a:extLst>
          </p:cNvPr>
          <p:cNvSpPr txBox="1"/>
          <p:nvPr/>
        </p:nvSpPr>
        <p:spPr>
          <a:xfrm>
            <a:off x="204355" y="6352143"/>
            <a:ext cx="6754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8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0236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8D77AD-07F2-88A4-C12D-8D1DD3E3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322AE0-5A6E-0C71-12D7-CD385F4B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9645" y="1847850"/>
            <a:ext cx="9552709" cy="4351338"/>
          </a:xfrm>
        </p:spPr>
        <p:txBody>
          <a:bodyPr/>
          <a:lstStyle/>
          <a:p>
            <a:r>
              <a:rPr lang="en-US" altLang="zh-TW" dirty="0"/>
              <a:t>Background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Motivation</a:t>
            </a:r>
          </a:p>
          <a:p>
            <a:endParaRPr lang="en-US" altLang="zh-TW" dirty="0"/>
          </a:p>
          <a:p>
            <a:r>
              <a:rPr lang="en-US" altLang="zh-TW" dirty="0"/>
              <a:t>Methods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127B0B-54C8-A86B-7F02-B0705583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2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4564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F93D5-E43D-8BF1-CDDB-A3677A400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AB15B-E691-52BE-8995-2FC27B49D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Background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90523-EFB3-F022-0264-433CD3605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3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15203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4FAE5-0107-7410-C7B1-B5C29FE1A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E52904-0BE4-C378-61A7-759CD864C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10799-7D82-922F-521D-B744A3D75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4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BF4DD34-1071-2608-2322-585965F60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098" y="1369005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90822F5A-DFFD-33A9-DA8A-04119A8698C1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7543AB-1427-3801-99DD-D564335731F7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7F624792-9A5C-7903-F1D4-CED065491AF2}"/>
              </a:ext>
            </a:extLst>
          </p:cNvPr>
          <p:cNvCxnSpPr>
            <a:cxnSpLocks/>
          </p:cNvCxnSpPr>
          <p:nvPr/>
        </p:nvCxnSpPr>
        <p:spPr>
          <a:xfrm>
            <a:off x="1898397" y="4404998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88273D9F-02FF-8356-857D-87FCFBB673B0}"/>
              </a:ext>
            </a:extLst>
          </p:cNvPr>
          <p:cNvCxnSpPr>
            <a:cxnSpLocks/>
          </p:cNvCxnSpPr>
          <p:nvPr/>
        </p:nvCxnSpPr>
        <p:spPr>
          <a:xfrm flipH="1">
            <a:off x="1513078" y="5455739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FD78383-B6D6-333F-EB17-8393AF17949C}"/>
              </a:ext>
            </a:extLst>
          </p:cNvPr>
          <p:cNvCxnSpPr>
            <a:cxnSpLocks/>
          </p:cNvCxnSpPr>
          <p:nvPr/>
        </p:nvCxnSpPr>
        <p:spPr>
          <a:xfrm flipH="1">
            <a:off x="1898399" y="5455739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D70746F9-DF70-4825-D05F-90D809617D32}"/>
              </a:ext>
            </a:extLst>
          </p:cNvPr>
          <p:cNvCxnSpPr>
            <a:cxnSpLocks/>
          </p:cNvCxnSpPr>
          <p:nvPr/>
        </p:nvCxnSpPr>
        <p:spPr>
          <a:xfrm flipV="1">
            <a:off x="1916869" y="4565024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E01441EF-84BD-F32B-5A25-9DDB4402A4DD}"/>
              </a:ext>
            </a:extLst>
          </p:cNvPr>
          <p:cNvCxnSpPr>
            <a:cxnSpLocks/>
          </p:cNvCxnSpPr>
          <p:nvPr/>
        </p:nvCxnSpPr>
        <p:spPr>
          <a:xfrm flipH="1" flipV="1">
            <a:off x="1213168" y="4715680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97C48261-629C-041A-2610-943B5752BCFE}"/>
              </a:ext>
            </a:extLst>
          </p:cNvPr>
          <p:cNvCxnSpPr>
            <a:cxnSpLocks/>
          </p:cNvCxnSpPr>
          <p:nvPr/>
        </p:nvCxnSpPr>
        <p:spPr>
          <a:xfrm flipV="1">
            <a:off x="1916871" y="4930368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3C3FA08-0604-BE08-439B-B18452F23EEE}"/>
              </a:ext>
            </a:extLst>
          </p:cNvPr>
          <p:cNvSpPr txBox="1"/>
          <p:nvPr/>
        </p:nvSpPr>
        <p:spPr>
          <a:xfrm>
            <a:off x="621436" y="3209867"/>
            <a:ext cx="8889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I</a:t>
            </a:r>
            <a:endParaRPr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9C63FD1-CA70-CDC4-5B5B-7025B19BD664}"/>
              </a:ext>
            </a:extLst>
          </p:cNvPr>
          <p:cNvSpPr txBox="1"/>
          <p:nvPr/>
        </p:nvSpPr>
        <p:spPr>
          <a:xfrm>
            <a:off x="1369290" y="3209867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 err="1">
                <a:solidFill>
                  <a:srgbClr val="00B050"/>
                </a:solidFill>
              </a:rPr>
              <a:t>Iike</a:t>
            </a:r>
            <a:endParaRPr lang="zh-TW" altLang="en-US" sz="2800" dirty="0">
              <a:solidFill>
                <a:srgbClr val="00B050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43EC390-2B03-D7DC-9CD8-F18DB6CA6CA4}"/>
              </a:ext>
            </a:extLst>
          </p:cNvPr>
          <p:cNvSpPr txBox="1"/>
          <p:nvPr/>
        </p:nvSpPr>
        <p:spPr>
          <a:xfrm>
            <a:off x="2258286" y="3205249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70C0"/>
                </a:solidFill>
              </a:rPr>
              <a:t>you</a:t>
            </a:r>
            <a:endParaRPr lang="zh-TW" altLang="en-US" sz="2800" dirty="0">
              <a:solidFill>
                <a:srgbClr val="0070C0"/>
              </a:solidFill>
            </a:endParaRPr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6BF0F77-8608-5779-5496-C7E731A8904F}"/>
              </a:ext>
            </a:extLst>
          </p:cNvPr>
          <p:cNvCxnSpPr>
            <a:cxnSpLocks/>
          </p:cNvCxnSpPr>
          <p:nvPr/>
        </p:nvCxnSpPr>
        <p:spPr>
          <a:xfrm>
            <a:off x="5167879" y="3142341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0C5C387D-35A3-C185-2174-F0795B2AA59D}"/>
              </a:ext>
            </a:extLst>
          </p:cNvPr>
          <p:cNvCxnSpPr>
            <a:cxnSpLocks/>
          </p:cNvCxnSpPr>
          <p:nvPr/>
        </p:nvCxnSpPr>
        <p:spPr>
          <a:xfrm flipH="1">
            <a:off x="5167879" y="4095492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122A7608-4149-6B68-1A1E-B19CA9947E9E}"/>
              </a:ext>
            </a:extLst>
          </p:cNvPr>
          <p:cNvCxnSpPr>
            <a:cxnSpLocks/>
          </p:cNvCxnSpPr>
          <p:nvPr/>
        </p:nvCxnSpPr>
        <p:spPr>
          <a:xfrm flipV="1">
            <a:off x="5167878" y="3879399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89BAB4ED-F7B7-4BD0-9E5D-B528A9CD4327}"/>
              </a:ext>
            </a:extLst>
          </p:cNvPr>
          <p:cNvCxnSpPr>
            <a:cxnSpLocks/>
          </p:cNvCxnSpPr>
          <p:nvPr/>
        </p:nvCxnSpPr>
        <p:spPr>
          <a:xfrm flipV="1">
            <a:off x="5179706" y="3205249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821E5047-1C6D-B268-6B61-172A5F489C1C}"/>
              </a:ext>
            </a:extLst>
          </p:cNvPr>
          <p:cNvCxnSpPr>
            <a:cxnSpLocks/>
          </p:cNvCxnSpPr>
          <p:nvPr/>
        </p:nvCxnSpPr>
        <p:spPr>
          <a:xfrm>
            <a:off x="5887637" y="4869542"/>
            <a:ext cx="0" cy="12703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AE0EEE6-5011-E712-738D-8BB139715514}"/>
              </a:ext>
            </a:extLst>
          </p:cNvPr>
          <p:cNvCxnSpPr>
            <a:cxnSpLocks/>
          </p:cNvCxnSpPr>
          <p:nvPr/>
        </p:nvCxnSpPr>
        <p:spPr>
          <a:xfrm flipH="1">
            <a:off x="5398110" y="6139883"/>
            <a:ext cx="489527" cy="4938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5D6F6C77-1F20-A072-163B-7F6017DD48CD}"/>
              </a:ext>
            </a:extLst>
          </p:cNvPr>
          <p:cNvCxnSpPr>
            <a:cxnSpLocks/>
          </p:cNvCxnSpPr>
          <p:nvPr/>
        </p:nvCxnSpPr>
        <p:spPr>
          <a:xfrm flipH="1">
            <a:off x="5887637" y="6139883"/>
            <a:ext cx="117301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EDA3D71-574C-45E2-DF1E-A23B5F20FAA3}"/>
              </a:ext>
            </a:extLst>
          </p:cNvPr>
          <p:cNvSpPr txBox="1"/>
          <p:nvPr/>
        </p:nvSpPr>
        <p:spPr>
          <a:xfrm>
            <a:off x="3538098" y="2185682"/>
            <a:ext cx="6086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26394425-5379-85B4-9C34-181967C35310}"/>
              </a:ext>
            </a:extLst>
          </p:cNvPr>
          <p:cNvCxnSpPr>
            <a:cxnSpLocks/>
          </p:cNvCxnSpPr>
          <p:nvPr/>
        </p:nvCxnSpPr>
        <p:spPr>
          <a:xfrm>
            <a:off x="6889595" y="3142341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67C1DE8-29F1-5F85-1058-82C362102EFE}"/>
              </a:ext>
            </a:extLst>
          </p:cNvPr>
          <p:cNvCxnSpPr>
            <a:cxnSpLocks/>
          </p:cNvCxnSpPr>
          <p:nvPr/>
        </p:nvCxnSpPr>
        <p:spPr>
          <a:xfrm flipH="1">
            <a:off x="6889595" y="4095492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E1BC5F5-D2BE-AF36-5144-52BE4EAB03C0}"/>
              </a:ext>
            </a:extLst>
          </p:cNvPr>
          <p:cNvCxnSpPr>
            <a:cxnSpLocks/>
          </p:cNvCxnSpPr>
          <p:nvPr/>
        </p:nvCxnSpPr>
        <p:spPr>
          <a:xfrm flipV="1">
            <a:off x="6889594" y="3879399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94ACA07D-2371-4461-457F-16C97C14523F}"/>
              </a:ext>
            </a:extLst>
          </p:cNvPr>
          <p:cNvCxnSpPr>
            <a:cxnSpLocks/>
          </p:cNvCxnSpPr>
          <p:nvPr/>
        </p:nvCxnSpPr>
        <p:spPr>
          <a:xfrm flipV="1">
            <a:off x="6901422" y="2864006"/>
            <a:ext cx="522448" cy="123148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9EBE8CF6-EFBB-DF90-98BA-8FF05C4BA07B}"/>
              </a:ext>
            </a:extLst>
          </p:cNvPr>
          <p:cNvCxnSpPr>
            <a:cxnSpLocks/>
          </p:cNvCxnSpPr>
          <p:nvPr/>
        </p:nvCxnSpPr>
        <p:spPr>
          <a:xfrm flipH="1" flipV="1">
            <a:off x="5252079" y="5887439"/>
            <a:ext cx="635557" cy="252443"/>
          </a:xfrm>
          <a:prstGeom prst="straightConnector1">
            <a:avLst/>
          </a:prstGeom>
          <a:ln w="3810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A1A88320-E6B9-5DAB-A223-E2196FA59B10}"/>
              </a:ext>
            </a:extLst>
          </p:cNvPr>
          <p:cNvCxnSpPr>
            <a:cxnSpLocks/>
          </p:cNvCxnSpPr>
          <p:nvPr/>
        </p:nvCxnSpPr>
        <p:spPr>
          <a:xfrm flipV="1">
            <a:off x="5906108" y="5183224"/>
            <a:ext cx="431518" cy="931025"/>
          </a:xfrm>
          <a:prstGeom prst="straightConnector1">
            <a:avLst/>
          </a:prstGeom>
          <a:ln w="381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單箭頭接點 77">
            <a:extLst>
              <a:ext uri="{FF2B5EF4-FFF2-40B4-BE49-F238E27FC236}">
                <a16:creationId xmlns:a16="http://schemas.microsoft.com/office/drawing/2014/main" id="{4AEEE853-E994-2840-6F1A-0AD311E891A5}"/>
              </a:ext>
            </a:extLst>
          </p:cNvPr>
          <p:cNvCxnSpPr>
            <a:cxnSpLocks/>
          </p:cNvCxnSpPr>
          <p:nvPr/>
        </p:nvCxnSpPr>
        <p:spPr>
          <a:xfrm flipH="1" flipV="1">
            <a:off x="9370967" y="4951437"/>
            <a:ext cx="1158570" cy="438857"/>
          </a:xfrm>
          <a:prstGeom prst="straightConnector1">
            <a:avLst/>
          </a:prstGeom>
          <a:ln w="38100">
            <a:solidFill>
              <a:srgbClr val="FF99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單箭頭接點 81">
            <a:extLst>
              <a:ext uri="{FF2B5EF4-FFF2-40B4-BE49-F238E27FC236}">
                <a16:creationId xmlns:a16="http://schemas.microsoft.com/office/drawing/2014/main" id="{F74D12CA-A684-71D2-28E5-19A90CB95674}"/>
              </a:ext>
            </a:extLst>
          </p:cNvPr>
          <p:cNvCxnSpPr>
            <a:cxnSpLocks/>
          </p:cNvCxnSpPr>
          <p:nvPr/>
        </p:nvCxnSpPr>
        <p:spPr>
          <a:xfrm flipH="1">
            <a:off x="9370967" y="4640495"/>
            <a:ext cx="505909" cy="29745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DCDD74B5-EAF6-0855-62B6-220BFA5A5248}"/>
              </a:ext>
            </a:extLst>
          </p:cNvPr>
          <p:cNvSpPr/>
          <p:nvPr/>
        </p:nvSpPr>
        <p:spPr>
          <a:xfrm rot="19716041">
            <a:off x="3822888" y="4094183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箭號: 向右 86">
            <a:extLst>
              <a:ext uri="{FF2B5EF4-FFF2-40B4-BE49-F238E27FC236}">
                <a16:creationId xmlns:a16="http://schemas.microsoft.com/office/drawing/2014/main" id="{89172E35-7D5E-8128-23CC-ECC8B9F400C4}"/>
              </a:ext>
            </a:extLst>
          </p:cNvPr>
          <p:cNvSpPr/>
          <p:nvPr/>
        </p:nvSpPr>
        <p:spPr>
          <a:xfrm rot="1783018">
            <a:off x="3863367" y="5104198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箭號: 向右 88">
            <a:extLst>
              <a:ext uri="{FF2B5EF4-FFF2-40B4-BE49-F238E27FC236}">
                <a16:creationId xmlns:a16="http://schemas.microsoft.com/office/drawing/2014/main" id="{A3EACEEA-808A-BDF5-808C-FBBC114AA96E}"/>
              </a:ext>
            </a:extLst>
          </p:cNvPr>
          <p:cNvSpPr/>
          <p:nvPr/>
        </p:nvSpPr>
        <p:spPr>
          <a:xfrm>
            <a:off x="8070264" y="4625911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B859E23-4E6B-3A50-3CEA-A8F67D3DF923}"/>
              </a:ext>
            </a:extLst>
          </p:cNvPr>
          <p:cNvSpPr txBox="1"/>
          <p:nvPr/>
        </p:nvSpPr>
        <p:spPr>
          <a:xfrm>
            <a:off x="3313959" y="3507107"/>
            <a:ext cx="1477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W</a:t>
            </a:r>
            <a:r>
              <a:rPr lang="en-US" altLang="zh-TW" sz="1600" dirty="0"/>
              <a:t>Q</a:t>
            </a:r>
            <a:r>
              <a:rPr lang="zh-TW" altLang="en-US" sz="2000" dirty="0"/>
              <a:t>、</a:t>
            </a:r>
            <a:r>
              <a:rPr lang="en-US" altLang="zh-TW" sz="2000" dirty="0"/>
              <a:t>W</a:t>
            </a:r>
            <a:r>
              <a:rPr lang="en-US" altLang="zh-TW" sz="1600" dirty="0"/>
              <a:t>K</a:t>
            </a:r>
            <a:endParaRPr lang="zh-TW" altLang="en-US" sz="20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5B59244E-F22E-CC36-14BC-66AC53DB037F}"/>
              </a:ext>
            </a:extLst>
          </p:cNvPr>
          <p:cNvSpPr txBox="1"/>
          <p:nvPr/>
        </p:nvSpPr>
        <p:spPr>
          <a:xfrm>
            <a:off x="4082242" y="4751382"/>
            <a:ext cx="769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W</a:t>
            </a:r>
            <a:r>
              <a:rPr lang="en-US" altLang="zh-TW" sz="1600" dirty="0"/>
              <a:t>v</a:t>
            </a:r>
            <a:endParaRPr lang="zh-TW" altLang="en-US" sz="2000" dirty="0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4B938595-2C5B-238A-9E96-C607775CD297}"/>
              </a:ext>
            </a:extLst>
          </p:cNvPr>
          <p:cNvCxnSpPr>
            <a:cxnSpLocks/>
          </p:cNvCxnSpPr>
          <p:nvPr/>
        </p:nvCxnSpPr>
        <p:spPr>
          <a:xfrm>
            <a:off x="10562105" y="4344171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B8886826-5217-2044-766E-23E091284C1B}"/>
              </a:ext>
            </a:extLst>
          </p:cNvPr>
          <p:cNvCxnSpPr>
            <a:cxnSpLocks/>
          </p:cNvCxnSpPr>
          <p:nvPr/>
        </p:nvCxnSpPr>
        <p:spPr>
          <a:xfrm flipH="1">
            <a:off x="10176786" y="5394912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E034EE20-9C9B-A967-FB5D-10BA556908A0}"/>
              </a:ext>
            </a:extLst>
          </p:cNvPr>
          <p:cNvCxnSpPr>
            <a:cxnSpLocks/>
          </p:cNvCxnSpPr>
          <p:nvPr/>
        </p:nvCxnSpPr>
        <p:spPr>
          <a:xfrm flipH="1">
            <a:off x="10562107" y="5394912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2D5DF128-E05C-77D9-8133-DDC3553F357C}"/>
              </a:ext>
            </a:extLst>
          </p:cNvPr>
          <p:cNvCxnSpPr>
            <a:cxnSpLocks/>
          </p:cNvCxnSpPr>
          <p:nvPr/>
        </p:nvCxnSpPr>
        <p:spPr>
          <a:xfrm flipV="1">
            <a:off x="10580577" y="4504197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218F7701-9F2C-1729-5C2E-5B9444796277}"/>
              </a:ext>
            </a:extLst>
          </p:cNvPr>
          <p:cNvCxnSpPr>
            <a:cxnSpLocks/>
          </p:cNvCxnSpPr>
          <p:nvPr/>
        </p:nvCxnSpPr>
        <p:spPr>
          <a:xfrm flipH="1" flipV="1">
            <a:off x="9876876" y="4654853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79A4EEFE-6AF0-422D-FF79-E23D59DCD1DD}"/>
              </a:ext>
            </a:extLst>
          </p:cNvPr>
          <p:cNvCxnSpPr>
            <a:cxnSpLocks/>
          </p:cNvCxnSpPr>
          <p:nvPr/>
        </p:nvCxnSpPr>
        <p:spPr>
          <a:xfrm flipV="1">
            <a:off x="10580579" y="4869541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圖片 110">
            <a:extLst>
              <a:ext uri="{FF2B5EF4-FFF2-40B4-BE49-F238E27FC236}">
                <a16:creationId xmlns:a16="http://schemas.microsoft.com/office/drawing/2014/main" id="{638E1084-5859-93D6-1546-C57F52F26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2757" y="2962178"/>
            <a:ext cx="2669953" cy="622367"/>
          </a:xfrm>
          <a:prstGeom prst="rect">
            <a:avLst/>
          </a:prstGeom>
        </p:spPr>
      </p:pic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CB079D2-184C-08CC-5844-B6244806DDE3}"/>
              </a:ext>
            </a:extLst>
          </p:cNvPr>
          <p:cNvSpPr txBox="1"/>
          <p:nvPr/>
        </p:nvSpPr>
        <p:spPr>
          <a:xfrm>
            <a:off x="9933714" y="3607346"/>
            <a:ext cx="9986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/>
              <a:t>(</a:t>
            </a:r>
            <a:r>
              <a:rPr lang="zh-TW" altLang="zh-TW" sz="1200" dirty="0"/>
              <a:t>Wikipedia</a:t>
            </a:r>
            <a:r>
              <a:rPr lang="en-US" altLang="zh-TW" sz="1200" dirty="0"/>
              <a:t>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02421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7D4C-F91C-5D5C-47C0-664DA6A8C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E2FAF-7FA5-AC6D-1828-1E0B79411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Motivation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5C4C7-EB28-328D-C98B-42D5E3AB9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5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758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2AAF2-A734-EA1E-8A86-08EC3E1D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0BF496-2C4B-ACF8-199B-590995EB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Why Deep Learning Struggles with Tabular Data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6104C2-6720-C677-76C9-98690DC05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6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533C0F00-8A63-787C-FE95-BADE2D8EB42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91CF346-E2D4-F109-BE03-05B9B48BE208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9DC9BB0-39C5-6F58-C145-F9CFF55741E9}"/>
              </a:ext>
            </a:extLst>
          </p:cNvPr>
          <p:cNvSpPr txBox="1"/>
          <p:nvPr/>
        </p:nvSpPr>
        <p:spPr>
          <a:xfrm>
            <a:off x="838200" y="1674827"/>
            <a:ext cx="108550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Heterogeneous Feature Space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Composed of diverse data types (continuous, categorical, and ordinal) drawn from entirely different distributions.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No inherent spatial or sequential structure, unlike images or text.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Arbitrary Column Ordering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Column order carries no semantic meaning.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Models must be strictly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permutation-equivariant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 to yield consistent outputs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1400" b="0" i="0" dirty="0">
              <a:solidFill>
                <a:srgbClr val="C7C7C7"/>
              </a:solidFill>
              <a:effectLst/>
              <a:latin typeface="Google Sans Text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1B139-2B7E-496A-2B33-943598C344EA}"/>
              </a:ext>
            </a:extLst>
          </p:cNvPr>
          <p:cNvSpPr txBox="1"/>
          <p:nvPr/>
        </p:nvSpPr>
        <p:spPr>
          <a:xfrm>
            <a:off x="838200" y="6123543"/>
            <a:ext cx="40426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zh-TW" altLang="en-US" dirty="0"/>
              <a:t>https://reurl.cc/5XRxpn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09BBE40-72E6-CB13-A074-E4EE22FA6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9490" y="4623891"/>
            <a:ext cx="1131911" cy="1499652"/>
          </a:xfrm>
          <a:prstGeom prst="rect">
            <a:avLst/>
          </a:prstGeom>
        </p:spPr>
      </p:pic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DB10467E-26C6-C70B-394E-B273F06DE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193544"/>
              </p:ext>
            </p:extLst>
          </p:nvPr>
        </p:nvGraphicFramePr>
        <p:xfrm>
          <a:off x="5310910" y="4521056"/>
          <a:ext cx="552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115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height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blood type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Pain intensity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170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Mild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155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0378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FE7F-7A56-C434-83F0-DC63BA64B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E2F850-6B9A-4629-E254-88837838B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The Interpretability and Robustness Gap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FD381A-9C22-5AF2-CF2E-5103FF4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7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635F598-FDC3-0974-C718-E96A0E3AFFF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0CF224-B0B7-168A-DA74-4D1E6E948BD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9A6933-E293-F26E-CAAE-BFE570C8B2FB}"/>
              </a:ext>
            </a:extLst>
          </p:cNvPr>
          <p:cNvSpPr txBox="1"/>
          <p:nvPr/>
        </p:nvSpPr>
        <p:spPr>
          <a:xfrm>
            <a:off x="838200" y="1719683"/>
            <a:ext cx="105156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"Black-Box" Adoption Barrier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Although deep learning matches tree-based SOTA models (e.g., GBDTs), real-world adoption is limited by a lack of transparency.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zh-TW" sz="2000" dirty="0"/>
              <a:t>Current attention-based solutions often fail to balance model capacity with clear, dual-level explanations.</a:t>
            </a:r>
            <a:endParaRPr lang="zh-TW" altLang="zh-TW" sz="1400" dirty="0">
              <a:solidFill>
                <a:srgbClr val="C7C7C7"/>
              </a:solidFill>
              <a:latin typeface="Google Sans Text"/>
            </a:endParaRPr>
          </a:p>
          <a:p>
            <a:pPr lvl="1" algn="l"/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Modeling Complex Interactions Robustly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Existing models struggle to remain robust against uninformative features while learning irregular target functions.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41CB57-F584-A683-BBC1-BD21DAB74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464" y="5188268"/>
            <a:ext cx="1745570" cy="118871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3CA8E22C-0CE5-36EB-C99D-C38073BE8A50}"/>
              </a:ext>
            </a:extLst>
          </p:cNvPr>
          <p:cNvSpPr txBox="1"/>
          <p:nvPr/>
        </p:nvSpPr>
        <p:spPr>
          <a:xfrm>
            <a:off x="6999551" y="4860787"/>
            <a:ext cx="1745570" cy="369332"/>
          </a:xfrm>
          <a:prstGeom prst="rect">
            <a:avLst/>
          </a:prstGeom>
          <a:noFill/>
          <a:ln w="381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Performance</a:t>
            </a:r>
            <a:endParaRPr lang="en-US" altLang="zh-TW" b="1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11879E-9F3D-F76E-FF2A-2F8FF3F1F47F}"/>
              </a:ext>
            </a:extLst>
          </p:cNvPr>
          <p:cNvSpPr txBox="1"/>
          <p:nvPr/>
        </p:nvSpPr>
        <p:spPr>
          <a:xfrm>
            <a:off x="9155377" y="4860787"/>
            <a:ext cx="1745570" cy="36933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Interpretability</a:t>
            </a:r>
            <a:endParaRPr lang="en-US" altLang="zh-TW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188F51-E70A-18D7-71C1-889642EA30B4}"/>
              </a:ext>
            </a:extLst>
          </p:cNvPr>
          <p:cNvSpPr txBox="1"/>
          <p:nvPr/>
        </p:nvSpPr>
        <p:spPr>
          <a:xfrm>
            <a:off x="8451698" y="6352143"/>
            <a:ext cx="2449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345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60BC8-AFFF-2B0A-5E29-97AA307E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D74699-E206-F6B6-2492-41F622A3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Unifying Local and Global Perspectives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B0732C-D11E-329B-BED4-FC0C3244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8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5341788-41E2-A5B9-D590-6A3D64D713D2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CEE69E-6F39-EC5F-B344-A56B338B6CFD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532254-C84D-159B-63C2-5C3844BD3CC3}"/>
              </a:ext>
            </a:extLst>
          </p:cNvPr>
          <p:cNvSpPr txBox="1"/>
          <p:nvPr/>
        </p:nvSpPr>
        <p:spPr>
          <a:xfrm>
            <a:off x="593559" y="1955145"/>
            <a:ext cx="649304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Dual Structure of Tabular Patterns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Local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Instance-specific, fine-grained feature interactions unique to individual samples.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Global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Dataset-wide, population-level statistical dependencies consistent across all samples.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Research Gap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Integrating multi-scale (local and global) attention in tabular learning remains </a:t>
            </a:r>
            <a:r>
              <a:rPr lang="zh-TW" altLang="zh-TW" sz="2000" i="0" dirty="0">
                <a:solidFill>
                  <a:schemeClr val="tx1"/>
                </a:solidFill>
                <a:effectLst/>
                <a:latin typeface="+mn-lt"/>
              </a:rPr>
              <a:t>underexplored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Traditional methods process attention independently, missing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cross-scale interactions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br>
              <a:rPr lang="zh-TW" altLang="zh-TW" sz="2000" dirty="0"/>
            </a:br>
            <a:endParaRPr lang="zh-TW" altLang="en-US" sz="20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51797EB9-587D-30AA-74E4-9CC76D942206}"/>
              </a:ext>
            </a:extLst>
          </p:cNvPr>
          <p:cNvSpPr/>
          <p:nvPr/>
        </p:nvSpPr>
        <p:spPr>
          <a:xfrm>
            <a:off x="7424579" y="2149642"/>
            <a:ext cx="2265946" cy="2189915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F83C6B0-1B7C-1917-6549-524BE9663982}"/>
              </a:ext>
            </a:extLst>
          </p:cNvPr>
          <p:cNvSpPr/>
          <p:nvPr/>
        </p:nvSpPr>
        <p:spPr>
          <a:xfrm>
            <a:off x="9280358" y="2149642"/>
            <a:ext cx="2265946" cy="218991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A2B7C3D-E41E-65FF-2576-544DD99FA372}"/>
              </a:ext>
            </a:extLst>
          </p:cNvPr>
          <p:cNvSpPr txBox="1"/>
          <p:nvPr/>
        </p:nvSpPr>
        <p:spPr>
          <a:xfrm>
            <a:off x="8016547" y="3000261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Local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C4D7DF2-CD96-68DD-6D4C-0994C15CF3D3}"/>
              </a:ext>
            </a:extLst>
          </p:cNvPr>
          <p:cNvSpPr txBox="1"/>
          <p:nvPr/>
        </p:nvSpPr>
        <p:spPr>
          <a:xfrm>
            <a:off x="9872326" y="3000260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Global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A68C08F-37B5-DF2B-0A8F-9E9C496DDEC8}"/>
              </a:ext>
            </a:extLst>
          </p:cNvPr>
          <p:cNvSpPr txBox="1"/>
          <p:nvPr/>
        </p:nvSpPr>
        <p:spPr>
          <a:xfrm>
            <a:off x="7787716" y="5117121"/>
            <a:ext cx="3566084" cy="461665"/>
          </a:xfrm>
          <a:prstGeom prst="rect">
            <a:avLst/>
          </a:pr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TW" altLang="zh-TW" sz="2400" b="1" i="0" dirty="0">
                <a:solidFill>
                  <a:schemeClr val="tx1"/>
                </a:solidFill>
                <a:effectLst/>
                <a:latin typeface="+mn-lt"/>
              </a:rPr>
              <a:t>Cross-Attention Fusion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456117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B8091-F1C8-292B-0CB4-D3785A501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A416F-0D67-AE23-4791-E92651429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Methods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6262F-3E4A-DE90-69E4-179A4A43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9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55917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FE74-9389-B381-24CE-432EB509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CFBF-EC25-6A96-D8FB-C9BB45021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Feature embedding block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77E38D-3141-FC0A-8B1E-D09BB5B33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10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4731D854-4FE0-A966-E791-FBEEB90EE004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4363C94-098E-6F81-227D-4BE663543C9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39ED3D3-6509-B9E4-39CD-2248554AC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945675"/>
              </p:ext>
            </p:extLst>
          </p:nvPr>
        </p:nvGraphicFramePr>
        <p:xfrm>
          <a:off x="8118764" y="1901174"/>
          <a:ext cx="3629889" cy="3191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963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209963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209963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1422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3113</TotalTime>
  <Words>457</Words>
  <Application>Microsoft Office PowerPoint</Application>
  <PresentationFormat>寬螢幕</PresentationFormat>
  <Paragraphs>84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6" baseType="lpstr">
      <vt:lpstr>Google Sans Text</vt:lpstr>
      <vt:lpstr>標楷體</vt:lpstr>
      <vt:lpstr>Aptos</vt:lpstr>
      <vt:lpstr>Aptos Display</vt:lpstr>
      <vt:lpstr>Arial</vt:lpstr>
      <vt:lpstr>Office Theme</vt:lpstr>
      <vt:lpstr>Fusing global attention and self-attention for better performance and interpretability on tabular data</vt:lpstr>
      <vt:lpstr>Outline</vt:lpstr>
      <vt:lpstr>Background</vt:lpstr>
      <vt:lpstr>Attention</vt:lpstr>
      <vt:lpstr>Motivation</vt:lpstr>
      <vt:lpstr>Why Deep Learning Struggles with Tabular Data</vt:lpstr>
      <vt:lpstr>The Interpretability and Robustness Gap</vt:lpstr>
      <vt:lpstr>Unifying Local and Global Perspectives</vt:lpstr>
      <vt:lpstr>Methods</vt:lpstr>
      <vt:lpstr>Feature embedding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賴俊延</dc:creator>
  <cp:lastModifiedBy>賴俊延</cp:lastModifiedBy>
  <cp:revision>8</cp:revision>
  <dcterms:created xsi:type="dcterms:W3CDTF">2026-09-03T04:49:20Z</dcterms:created>
  <dcterms:modified xsi:type="dcterms:W3CDTF">2026-09-08T08:19:32Z</dcterms:modified>
</cp:coreProperties>
</file>