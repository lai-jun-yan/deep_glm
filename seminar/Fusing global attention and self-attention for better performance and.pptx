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66" r:id="rId5"/>
    <p:sldId id="267" r:id="rId6"/>
    <p:sldId id="268" r:id="rId7"/>
    <p:sldId id="269" r:id="rId8"/>
    <p:sldId id="258" r:id="rId9"/>
    <p:sldId id="270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A41D00-71D3-415C-A3D7-FEE25CF307DF}" type="datetimeFigureOut">
              <a:rPr lang="zh-TW" altLang="en-US" smtClean="0"/>
              <a:t>2026/9/12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9C49D1-81FB-4156-A44F-160F4B30D9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7628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7650F-3925-534A-C297-0837807AB1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EDCD1-5A09-A934-D288-FCABFB468A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F4660-894E-CC17-AC3B-00344D1C2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E04FD-0122-4C23-A7F7-90F50FA97CFB}" type="datetime1">
              <a:rPr lang="zh-TW" altLang="en-US" smtClean="0"/>
              <a:t>2026/9/12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D56E33-DDD7-A281-95EE-49E336F15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DF5368-37CD-0A8A-D209-C494C35CA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5981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6D67-7354-E67E-5A0C-899CFF7DF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AD813-8C80-16C5-7B72-3C3049367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B103B6-1E13-22E2-10E3-5BD7C05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93685-C1D2-48C9-9284-D623AD71F952}" type="datetime1">
              <a:rPr lang="zh-TW" altLang="en-US" smtClean="0"/>
              <a:t>2026/9/12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0C143C-6278-2AE0-FFC5-5CEA4D518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2A706-0F19-9F8C-0D59-082B4191F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656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F6EA7-8F1B-F847-E613-52C0CD2B0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2F3460-BDC2-A5A5-F3B8-EC767FC49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484DAB-E2EE-C011-9D9C-6A6793BCD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21E1F-1389-41B2-9326-3555E762196C}" type="datetime1">
              <a:rPr lang="zh-TW" altLang="en-US" smtClean="0"/>
              <a:t>2026/9/12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22CB9-3831-8CD4-E57D-52100784E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4CDAA-6F85-5238-3F94-8694C0072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8482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9ED57-4C53-57C5-C8E4-F9D42A9D9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EBD3C-F547-FDB3-E724-89F96FB60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20D330-0697-69CA-272A-4B58FF098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B1AFF6-06F0-D29F-1977-821CEB725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80AFD-1CC5-4158-B562-616B460CE827}" type="datetime1">
              <a:rPr lang="zh-TW" altLang="en-US" smtClean="0"/>
              <a:t>2026/9/12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4F4A2D-B165-7F52-E8B0-749542BBF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71FF0B-E3F0-798E-A10E-17D876B5E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7683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B2C75-A6E9-09A0-661A-FD8A6DFE9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C9B44C-1B44-2C7E-873B-E3D3DD275F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EA0FB5-D674-1F4C-2C15-6FBC0F45BE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7D6351-96DF-6C3C-D90F-C44EDAB0CE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2A0A5D-B30D-2818-3DBC-C071801EA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D16324-E273-59D9-C7D6-DA841058D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161B6-5D58-4DCC-BC37-4C984D46F867}" type="datetime1">
              <a:rPr lang="zh-TW" altLang="en-US" smtClean="0"/>
              <a:t>2026/9/12</a:t>
            </a:fld>
            <a:endParaRPr lang="zh-TW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385130-8A22-B3BC-3C45-91FED7A7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D9F194-B55A-9288-C1C4-9D995A765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637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61E2D-A5F4-9A9D-D98F-4734EB8D5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27D5C8-8A23-1E0E-16B7-AFBD0A612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29CEB-4CFB-4511-9F4B-7E9E39F7DEB1}" type="datetime1">
              <a:rPr lang="zh-TW" altLang="en-US" smtClean="0"/>
              <a:t>2026/9/12</a:t>
            </a:fld>
            <a:endParaRPr lang="zh-TW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25B978-2FB6-82E4-1402-FD7B646E8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244D64-119C-B030-22CA-B703AB3EA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2520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C14579-7DF2-6D40-0BEA-230178250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0994F-6149-48E5-9E9E-81C33751446F}" type="datetime1">
              <a:rPr lang="zh-TW" altLang="en-US" smtClean="0"/>
              <a:t>2026/9/12</a:t>
            </a:fld>
            <a:endParaRPr lang="zh-TW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B73C7-149C-74CB-FAB1-164A8EC79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68699-AEB1-EA40-BC58-7880B4D31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4421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BDE69-5A83-E746-6149-814A1D5C4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0C83E-966D-858D-2D6D-E37D1B1BB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CC3E0C-B11D-67BB-04E2-102CC6175B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23652F-EE42-C876-0C11-1EB90101A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6FEA22-09E0-4978-9370-A04C2FBE3857}" type="datetime1">
              <a:rPr lang="zh-TW" altLang="en-US" smtClean="0"/>
              <a:t>2026/9/12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3581B7-0D4C-D26B-BEDB-DC43CD58E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00B38-1264-C116-1CDD-24F86C3AF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6627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4000E-A0A6-335D-F25F-578B69A89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87D5BE-A641-5528-6EC7-6B4EB7EA3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5006E4-BAA5-C7BF-A957-27E0C10F7A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7A6925-0C91-ED60-B9F0-94E33756E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9A6F0-A763-4F87-94DC-630F55A79544}" type="datetime1">
              <a:rPr lang="zh-TW" altLang="en-US" smtClean="0"/>
              <a:t>2026/9/12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AFF19A-3EAA-067E-7727-63600357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7A1090-7684-D75D-766E-9F9234A94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467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82B0A-3A51-A95C-B5F2-4B0A220D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88D036-61CE-0471-7F87-1FCA73A963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98C2F-E466-ECA4-6695-DDD5193BF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69F33-1609-4AA2-8E60-EEDF43633812}" type="datetime1">
              <a:rPr lang="zh-TW" altLang="en-US" smtClean="0"/>
              <a:t>2026/9/12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BF5AA-ACDC-8A45-3CD9-C85A5DF5A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B3628C-86D6-9AB9-A76A-7DA5C3B90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928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E619B7-58E6-5621-849D-38F5C70157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F07B1D-1BD5-E5E4-C7ED-DC3479B0D8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156D2D-A496-8935-73E6-8B7D4A166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95497-16C4-4AF7-8525-51C7B214CA55}" type="datetime1">
              <a:rPr lang="zh-TW" altLang="en-US" smtClean="0"/>
              <a:t>2026/9/12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197315-FC32-4722-0A76-8FBE9ECDD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E34427-5CB0-4F8F-AB50-71143FAB8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7597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F8525B-1F05-E63A-C60D-54DD30D31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529C8D-776D-79CD-1860-C62177D58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C99D4-BCCD-D2C3-9E84-7C75A441B9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BA3C4B-293B-4117-8757-544BD5161A75}" type="datetime1">
              <a:rPr lang="zh-TW" altLang="en-US" smtClean="0"/>
              <a:t>2026/9/12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1D332A-D8CC-CB4D-228E-480441980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D01FB-8849-6876-0CB1-4D2C764B01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27B4A2-F224-402A-B571-E032C14CF3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3406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37F57-C7B3-FC31-90B8-F01D833C7D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96291"/>
            <a:ext cx="9144000" cy="2106974"/>
          </a:xfrm>
        </p:spPr>
        <p:txBody>
          <a:bodyPr>
            <a:noAutofit/>
          </a:bodyPr>
          <a:lstStyle/>
          <a:p>
            <a:r>
              <a:rPr lang="zh-TW" altLang="zh-TW" sz="4800" dirty="0"/>
              <a:t>Fusing global attention and self-attention for better performance and interpretability on tabular data</a:t>
            </a:r>
            <a:endParaRPr lang="zh-TW" alt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7DEF6C-4108-9525-68E3-10E77BF6C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990889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賴俊延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郭炤裕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老師、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林逸芬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老師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4CDDA-C6EB-BE00-4A8D-D7F79788C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</a:t>
            </a:fld>
            <a:endParaRPr lang="zh-TW" altLang="en-US" sz="16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5C120BE-06DE-5A7B-358E-E4FF19DF6194}"/>
              </a:ext>
            </a:extLst>
          </p:cNvPr>
          <p:cNvSpPr txBox="1"/>
          <p:nvPr/>
        </p:nvSpPr>
        <p:spPr>
          <a:xfrm>
            <a:off x="204355" y="6352143"/>
            <a:ext cx="6754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Bui, H., &amp; Le, B. (2025). </a:t>
            </a:r>
            <a:r>
              <a:rPr lang="zh-TW" altLang="zh-TW" sz="1800" b="0" i="1" dirty="0">
                <a:solidFill>
                  <a:schemeClr val="tx1"/>
                </a:solidFill>
                <a:effectLst/>
                <a:latin typeface="+mn-lt"/>
              </a:rPr>
              <a:t>Expert Systems with Applications</a:t>
            </a:r>
            <a:r>
              <a:rPr lang="zh-TW" altLang="zh-TW" sz="1800" b="0" i="0" dirty="0">
                <a:solidFill>
                  <a:schemeClr val="tx1"/>
                </a:solidFill>
                <a:effectLst/>
                <a:latin typeface="+mn-lt"/>
              </a:rPr>
              <a:t>, 130220.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40236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8D77AD-07F2-88A4-C12D-8D1DD3E30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322AE0-5A6E-0C71-12D7-CD385F4BD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9645" y="1847850"/>
            <a:ext cx="9552709" cy="4351338"/>
          </a:xfrm>
        </p:spPr>
        <p:txBody>
          <a:bodyPr/>
          <a:lstStyle/>
          <a:p>
            <a:r>
              <a:rPr lang="en-US" altLang="zh-TW" dirty="0"/>
              <a:t>Background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Motivation</a:t>
            </a:r>
          </a:p>
          <a:p>
            <a:endParaRPr lang="en-US" altLang="zh-TW" dirty="0"/>
          </a:p>
          <a:p>
            <a:r>
              <a:rPr lang="en-US" altLang="zh-TW" dirty="0"/>
              <a:t>Methods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2127B0B-54C8-A86B-7F02-B07055833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2</a:t>
            </a:fld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94564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F93D5-E43D-8BF1-CDDB-A3677A400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AB15B-E691-52BE-8995-2FC27B49D9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67356"/>
            <a:ext cx="9144000" cy="723287"/>
          </a:xfrm>
        </p:spPr>
        <p:txBody>
          <a:bodyPr>
            <a:noAutofit/>
          </a:bodyPr>
          <a:lstStyle/>
          <a:p>
            <a:r>
              <a:rPr lang="en-US" altLang="zh-TW" sz="4800" dirty="0"/>
              <a:t>Background</a:t>
            </a:r>
            <a:endParaRPr lang="zh-TW" altLang="en-US" sz="4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190523-EFB3-F022-0264-433CD3605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3</a:t>
            </a:fld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015203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268C9-5984-06F5-2A52-794CF2561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C7FF36-A41E-43A9-EEEB-90A234608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Embedding 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42DAAD-CDC7-E5F9-45C2-C12AA3659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4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BC87E01F-F035-6781-4BC1-A36288EA11D0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9DABB7A-191B-1F79-35BB-152C20F77B2B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BE2F129-344D-7143-E7A8-52EBD884F019}"/>
              </a:ext>
            </a:extLst>
          </p:cNvPr>
          <p:cNvSpPr txBox="1"/>
          <p:nvPr/>
        </p:nvSpPr>
        <p:spPr>
          <a:xfrm>
            <a:off x="556975" y="2725141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1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3EF3E3D-AE9A-2573-A462-E5535E2313EC}"/>
              </a:ext>
            </a:extLst>
          </p:cNvPr>
          <p:cNvSpPr txBox="1"/>
          <p:nvPr/>
        </p:nvSpPr>
        <p:spPr>
          <a:xfrm>
            <a:off x="550635" y="3150500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2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3481AF5-2CF2-E82E-44BF-6B8D4849EEF9}"/>
              </a:ext>
            </a:extLst>
          </p:cNvPr>
          <p:cNvSpPr txBox="1"/>
          <p:nvPr/>
        </p:nvSpPr>
        <p:spPr>
          <a:xfrm>
            <a:off x="550635" y="3580855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3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2DBFDAB-099E-9C7C-D971-6D1801D0276A}"/>
              </a:ext>
            </a:extLst>
          </p:cNvPr>
          <p:cNvSpPr txBox="1"/>
          <p:nvPr/>
        </p:nvSpPr>
        <p:spPr>
          <a:xfrm>
            <a:off x="550635" y="4011210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4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C527175-DCF4-D72A-8678-24157203EE82}"/>
              </a:ext>
            </a:extLst>
          </p:cNvPr>
          <p:cNvSpPr txBox="1"/>
          <p:nvPr/>
        </p:nvSpPr>
        <p:spPr>
          <a:xfrm>
            <a:off x="550635" y="4438440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X</a:t>
            </a:r>
            <a:r>
              <a:rPr lang="en-US" altLang="zh-TW" sz="1400" dirty="0"/>
              <a:t>5</a:t>
            </a:r>
            <a:endParaRPr lang="zh-TW" altLang="en-US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0627943B-8B0B-F37B-E9A3-6851867FBFC7}"/>
              </a:ext>
            </a:extLst>
          </p:cNvPr>
          <p:cNvSpPr/>
          <p:nvPr/>
        </p:nvSpPr>
        <p:spPr>
          <a:xfrm>
            <a:off x="2125914" y="3727017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F966953E-AEA6-C997-41E9-257A7B515264}"/>
              </a:ext>
            </a:extLst>
          </p:cNvPr>
          <p:cNvSpPr txBox="1"/>
          <p:nvPr/>
        </p:nvSpPr>
        <p:spPr>
          <a:xfrm>
            <a:off x="3906612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682CFA8-CDA2-7908-4A43-D666E2ABE51A}"/>
              </a:ext>
            </a:extLst>
          </p:cNvPr>
          <p:cNvSpPr txBox="1"/>
          <p:nvPr/>
        </p:nvSpPr>
        <p:spPr>
          <a:xfrm>
            <a:off x="4503186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06A3E464-1EA8-0B6A-689D-720A968062E8}"/>
              </a:ext>
            </a:extLst>
          </p:cNvPr>
          <p:cNvSpPr txBox="1"/>
          <p:nvPr/>
        </p:nvSpPr>
        <p:spPr>
          <a:xfrm>
            <a:off x="5153698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DCC3895-9933-6AFD-7C87-F4B131915137}"/>
              </a:ext>
            </a:extLst>
          </p:cNvPr>
          <p:cNvSpPr txBox="1"/>
          <p:nvPr/>
        </p:nvSpPr>
        <p:spPr>
          <a:xfrm>
            <a:off x="5804210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42B40EA0-ABAF-F103-7CC7-A56831300D0F}"/>
              </a:ext>
            </a:extLst>
          </p:cNvPr>
          <p:cNvSpPr txBox="1"/>
          <p:nvPr/>
        </p:nvSpPr>
        <p:spPr>
          <a:xfrm>
            <a:off x="6454722" y="263729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15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56" name="左右大括弧 55">
            <a:extLst>
              <a:ext uri="{FF2B5EF4-FFF2-40B4-BE49-F238E27FC236}">
                <a16:creationId xmlns:a16="http://schemas.microsoft.com/office/drawing/2014/main" id="{857A9680-65E8-9EE3-9347-5CAB7FA07910}"/>
              </a:ext>
            </a:extLst>
          </p:cNvPr>
          <p:cNvSpPr/>
          <p:nvPr/>
        </p:nvSpPr>
        <p:spPr>
          <a:xfrm>
            <a:off x="380915" y="2799206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557D736D-FAEB-2130-8481-B6B169CAE48D}"/>
              </a:ext>
            </a:extLst>
          </p:cNvPr>
          <p:cNvSpPr txBox="1"/>
          <p:nvPr/>
        </p:nvSpPr>
        <p:spPr>
          <a:xfrm>
            <a:off x="3906612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FFED43C8-2265-0DAA-D883-470363BA2451}"/>
              </a:ext>
            </a:extLst>
          </p:cNvPr>
          <p:cNvSpPr txBox="1"/>
          <p:nvPr/>
        </p:nvSpPr>
        <p:spPr>
          <a:xfrm>
            <a:off x="4503186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23E21706-8E05-0B72-0D58-3AAB2F07FC5E}"/>
              </a:ext>
            </a:extLst>
          </p:cNvPr>
          <p:cNvSpPr txBox="1"/>
          <p:nvPr/>
        </p:nvSpPr>
        <p:spPr>
          <a:xfrm>
            <a:off x="5153698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C0DF4655-8AAF-91E2-64A6-AE827E3757A7}"/>
              </a:ext>
            </a:extLst>
          </p:cNvPr>
          <p:cNvSpPr txBox="1"/>
          <p:nvPr/>
        </p:nvSpPr>
        <p:spPr>
          <a:xfrm>
            <a:off x="5804210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EBD0548D-583F-81D2-3B60-CFDA8CA76227}"/>
              </a:ext>
            </a:extLst>
          </p:cNvPr>
          <p:cNvSpPr txBox="1"/>
          <p:nvPr/>
        </p:nvSpPr>
        <p:spPr>
          <a:xfrm>
            <a:off x="6454722" y="306808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25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FB93EAAB-EEA6-8ABD-B067-232D04E18C4A}"/>
              </a:ext>
            </a:extLst>
          </p:cNvPr>
          <p:cNvSpPr txBox="1"/>
          <p:nvPr/>
        </p:nvSpPr>
        <p:spPr>
          <a:xfrm>
            <a:off x="3906612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4C129AD9-2373-613E-6F8B-7AAFBC6EB531}"/>
              </a:ext>
            </a:extLst>
          </p:cNvPr>
          <p:cNvSpPr txBox="1"/>
          <p:nvPr/>
        </p:nvSpPr>
        <p:spPr>
          <a:xfrm>
            <a:off x="4503186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6C916B1E-AD89-E026-6103-7E087878A2C3}"/>
              </a:ext>
            </a:extLst>
          </p:cNvPr>
          <p:cNvSpPr txBox="1"/>
          <p:nvPr/>
        </p:nvSpPr>
        <p:spPr>
          <a:xfrm>
            <a:off x="5153698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C5B5078B-BAC5-75B3-3359-764113A00E25}"/>
              </a:ext>
            </a:extLst>
          </p:cNvPr>
          <p:cNvSpPr txBox="1"/>
          <p:nvPr/>
        </p:nvSpPr>
        <p:spPr>
          <a:xfrm>
            <a:off x="5804210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025C3806-A430-EBEA-6A41-60C8C28FE1DF}"/>
              </a:ext>
            </a:extLst>
          </p:cNvPr>
          <p:cNvSpPr txBox="1"/>
          <p:nvPr/>
        </p:nvSpPr>
        <p:spPr>
          <a:xfrm>
            <a:off x="6454722" y="3498115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35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F4559938-596A-4A4A-179A-251C546C7DCF}"/>
              </a:ext>
            </a:extLst>
          </p:cNvPr>
          <p:cNvSpPr txBox="1"/>
          <p:nvPr/>
        </p:nvSpPr>
        <p:spPr>
          <a:xfrm>
            <a:off x="3906612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D541DB7D-DD68-DD6B-8AFC-B77511A99DA8}"/>
              </a:ext>
            </a:extLst>
          </p:cNvPr>
          <p:cNvSpPr txBox="1"/>
          <p:nvPr/>
        </p:nvSpPr>
        <p:spPr>
          <a:xfrm>
            <a:off x="4503186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C9C650A2-CD9E-B49E-F32D-86A0B045EF04}"/>
              </a:ext>
            </a:extLst>
          </p:cNvPr>
          <p:cNvSpPr txBox="1"/>
          <p:nvPr/>
        </p:nvSpPr>
        <p:spPr>
          <a:xfrm>
            <a:off x="5153698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3986EFEC-B0BA-03C5-4ADD-33C5DCEEF71B}"/>
              </a:ext>
            </a:extLst>
          </p:cNvPr>
          <p:cNvSpPr txBox="1"/>
          <p:nvPr/>
        </p:nvSpPr>
        <p:spPr>
          <a:xfrm>
            <a:off x="5804210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62BD603-8985-2CA5-DCDB-A04A27692A04}"/>
              </a:ext>
            </a:extLst>
          </p:cNvPr>
          <p:cNvSpPr txBox="1"/>
          <p:nvPr/>
        </p:nvSpPr>
        <p:spPr>
          <a:xfrm>
            <a:off x="6454722" y="3928527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F440E42D-AD86-071F-96A5-B649078B9843}"/>
              </a:ext>
            </a:extLst>
          </p:cNvPr>
          <p:cNvSpPr txBox="1"/>
          <p:nvPr/>
        </p:nvSpPr>
        <p:spPr>
          <a:xfrm>
            <a:off x="3906612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1F952D84-DF54-327E-B777-801196A57E46}"/>
              </a:ext>
            </a:extLst>
          </p:cNvPr>
          <p:cNvSpPr txBox="1"/>
          <p:nvPr/>
        </p:nvSpPr>
        <p:spPr>
          <a:xfrm>
            <a:off x="4503186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16496FA5-0BF4-79E9-1FD5-5AB99E2D1AAA}"/>
              </a:ext>
            </a:extLst>
          </p:cNvPr>
          <p:cNvSpPr txBox="1"/>
          <p:nvPr/>
        </p:nvSpPr>
        <p:spPr>
          <a:xfrm>
            <a:off x="5153698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CADEEA1-A634-6FD7-7121-6CEAE37AD8A3}"/>
              </a:ext>
            </a:extLst>
          </p:cNvPr>
          <p:cNvSpPr txBox="1"/>
          <p:nvPr/>
        </p:nvSpPr>
        <p:spPr>
          <a:xfrm>
            <a:off x="5804210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500F929F-B6AD-F493-DA55-851754900732}"/>
              </a:ext>
            </a:extLst>
          </p:cNvPr>
          <p:cNvSpPr txBox="1"/>
          <p:nvPr/>
        </p:nvSpPr>
        <p:spPr>
          <a:xfrm>
            <a:off x="6454722" y="4358939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55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0" name="箭號: 向右 119">
            <a:extLst>
              <a:ext uri="{FF2B5EF4-FFF2-40B4-BE49-F238E27FC236}">
                <a16:creationId xmlns:a16="http://schemas.microsoft.com/office/drawing/2014/main" id="{A26AF028-6C52-2194-9E3D-A85FCA431AAB}"/>
              </a:ext>
            </a:extLst>
          </p:cNvPr>
          <p:cNvSpPr/>
          <p:nvPr/>
        </p:nvSpPr>
        <p:spPr>
          <a:xfrm>
            <a:off x="8199552" y="3699647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E303D3C9-5315-CB55-60DF-CB3271D443C8}"/>
              </a:ext>
            </a:extLst>
          </p:cNvPr>
          <p:cNvSpPr txBox="1"/>
          <p:nvPr/>
        </p:nvSpPr>
        <p:spPr>
          <a:xfrm>
            <a:off x="9654372" y="2801097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1</a:t>
            </a:r>
            <a:endParaRPr lang="zh-TW" altLang="en-US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C8A3F669-1B0F-7F92-200C-670601C78189}"/>
              </a:ext>
            </a:extLst>
          </p:cNvPr>
          <p:cNvSpPr txBox="1"/>
          <p:nvPr/>
        </p:nvSpPr>
        <p:spPr>
          <a:xfrm>
            <a:off x="9648032" y="3226456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2</a:t>
            </a:r>
            <a:endParaRPr lang="zh-TW" altLang="en-US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16EEA03A-F3F9-AAD1-DEC1-340E7AE6D2DC}"/>
              </a:ext>
            </a:extLst>
          </p:cNvPr>
          <p:cNvSpPr txBox="1"/>
          <p:nvPr/>
        </p:nvSpPr>
        <p:spPr>
          <a:xfrm>
            <a:off x="9648032" y="3656811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3</a:t>
            </a:r>
            <a:endParaRPr lang="zh-TW" altLang="en-US" dirty="0"/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493757DE-B12F-8AEC-A19C-4577EA527095}"/>
              </a:ext>
            </a:extLst>
          </p:cNvPr>
          <p:cNvSpPr txBox="1"/>
          <p:nvPr/>
        </p:nvSpPr>
        <p:spPr>
          <a:xfrm>
            <a:off x="9648032" y="4087166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4</a:t>
            </a:r>
            <a:endParaRPr lang="zh-TW" altLang="en-US" dirty="0"/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2185273B-03D4-D98B-E2A2-CABBAF7BA6BC}"/>
              </a:ext>
            </a:extLst>
          </p:cNvPr>
          <p:cNvSpPr txBox="1"/>
          <p:nvPr/>
        </p:nvSpPr>
        <p:spPr>
          <a:xfrm>
            <a:off x="9648032" y="4515003"/>
            <a:ext cx="650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E</a:t>
            </a:r>
            <a:r>
              <a:rPr lang="en-US" altLang="zh-TW" sz="1400" dirty="0"/>
              <a:t>5</a:t>
            </a:r>
            <a:endParaRPr lang="zh-TW" altLang="en-US" dirty="0"/>
          </a:p>
        </p:txBody>
      </p:sp>
      <p:sp>
        <p:nvSpPr>
          <p:cNvPr id="132" name="左右大括弧 131">
            <a:extLst>
              <a:ext uri="{FF2B5EF4-FFF2-40B4-BE49-F238E27FC236}">
                <a16:creationId xmlns:a16="http://schemas.microsoft.com/office/drawing/2014/main" id="{2F5879F4-3950-5E5C-EBFF-D9D9D4B00593}"/>
              </a:ext>
            </a:extLst>
          </p:cNvPr>
          <p:cNvSpPr/>
          <p:nvPr/>
        </p:nvSpPr>
        <p:spPr>
          <a:xfrm>
            <a:off x="9490586" y="2819135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1" name="圖片 140">
            <a:extLst>
              <a:ext uri="{FF2B5EF4-FFF2-40B4-BE49-F238E27FC236}">
                <a16:creationId xmlns:a16="http://schemas.microsoft.com/office/drawing/2014/main" id="{DF15E801-CF77-3003-EE97-1A356DDED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526" y="4495074"/>
            <a:ext cx="768389" cy="400071"/>
          </a:xfrm>
          <a:prstGeom prst="rect">
            <a:avLst/>
          </a:prstGeom>
        </p:spPr>
      </p:pic>
      <p:pic>
        <p:nvPicPr>
          <p:cNvPr id="144" name="圖片 143">
            <a:extLst>
              <a:ext uri="{FF2B5EF4-FFF2-40B4-BE49-F238E27FC236}">
                <a16:creationId xmlns:a16="http://schemas.microsoft.com/office/drawing/2014/main" id="{7F75FA49-372A-1C76-290E-4DC1AD119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5959" y="4396912"/>
            <a:ext cx="1040829" cy="573210"/>
          </a:xfrm>
          <a:prstGeom prst="rect">
            <a:avLst/>
          </a:prstGeom>
        </p:spPr>
      </p:pic>
      <p:pic>
        <p:nvPicPr>
          <p:cNvPr id="146" name="圖片 145">
            <a:extLst>
              <a:ext uri="{FF2B5EF4-FFF2-40B4-BE49-F238E27FC236}">
                <a16:creationId xmlns:a16="http://schemas.microsoft.com/office/drawing/2014/main" id="{CC817DED-31B2-FBDA-1201-809C24FFF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8247" y="4375604"/>
            <a:ext cx="1178189" cy="564694"/>
          </a:xfrm>
          <a:prstGeom prst="rect">
            <a:avLst/>
          </a:prstGeom>
        </p:spPr>
      </p:pic>
      <p:sp>
        <p:nvSpPr>
          <p:cNvPr id="161" name="矩形 160">
            <a:extLst>
              <a:ext uri="{FF2B5EF4-FFF2-40B4-BE49-F238E27FC236}">
                <a16:creationId xmlns:a16="http://schemas.microsoft.com/office/drawing/2014/main" id="{FAB9295B-8E98-D14A-FEFF-1AB6C6CF488B}"/>
              </a:ext>
            </a:extLst>
          </p:cNvPr>
          <p:cNvSpPr/>
          <p:nvPr/>
        </p:nvSpPr>
        <p:spPr>
          <a:xfrm>
            <a:off x="9082631" y="2350437"/>
            <a:ext cx="2957992" cy="28107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1172F2A1-A526-EDD6-05EA-86A21347E629}"/>
              </a:ext>
            </a:extLst>
          </p:cNvPr>
          <p:cNvSpPr txBox="1"/>
          <p:nvPr/>
        </p:nvSpPr>
        <p:spPr>
          <a:xfrm>
            <a:off x="8850064" y="155658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E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65" name="左右中括弧 164">
            <a:extLst>
              <a:ext uri="{FF2B5EF4-FFF2-40B4-BE49-F238E27FC236}">
                <a16:creationId xmlns:a16="http://schemas.microsoft.com/office/drawing/2014/main" id="{1564A440-F548-2D22-13F2-5B1BE5490C4B}"/>
              </a:ext>
            </a:extLst>
          </p:cNvPr>
          <p:cNvSpPr/>
          <p:nvPr/>
        </p:nvSpPr>
        <p:spPr>
          <a:xfrm>
            <a:off x="3596231" y="2678974"/>
            <a:ext cx="3849735" cy="2216171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4149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CE36C-99D5-F3EC-DD25-3E2175E8B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F98B5E-0BED-C646-D3E4-2E44579BA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Query, Key &amp; Value 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D3ABDF3-3829-6817-7A5C-768FA5E4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5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A7A0084E-48A2-B8D1-B4FB-0B819E012C3D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25908B-4905-6D18-DF75-1F35C9EE9F4F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pic>
        <p:nvPicPr>
          <p:cNvPr id="55" name="圖片 54">
            <a:extLst>
              <a:ext uri="{FF2B5EF4-FFF2-40B4-BE49-F238E27FC236}">
                <a16:creationId xmlns:a16="http://schemas.microsoft.com/office/drawing/2014/main" id="{5419EAEF-A6BE-2BA8-1FCA-6781BC968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947" y="2818007"/>
            <a:ext cx="1596987" cy="680502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754A9EDE-5407-B4F1-C5A3-24BDCB371B3B}"/>
              </a:ext>
            </a:extLst>
          </p:cNvPr>
          <p:cNvSpPr txBox="1"/>
          <p:nvPr/>
        </p:nvSpPr>
        <p:spPr>
          <a:xfrm>
            <a:off x="2404279" y="2110287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 err="1">
                <a:solidFill>
                  <a:srgbClr val="00B0F0"/>
                </a:solidFill>
              </a:rPr>
              <a:t>W</a:t>
            </a:r>
            <a:r>
              <a:rPr lang="en-US" altLang="zh-TW" sz="2800" dirty="0" err="1">
                <a:solidFill>
                  <a:srgbClr val="00B0F0"/>
                </a:solidFill>
              </a:rPr>
              <a:t>q</a:t>
            </a:r>
            <a:endParaRPr lang="zh-TW" altLang="en-US" sz="3600" dirty="0">
              <a:solidFill>
                <a:srgbClr val="00B0F0"/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20B13203-EA81-3412-F2D1-9D0CE205A9CD}"/>
              </a:ext>
            </a:extLst>
          </p:cNvPr>
          <p:cNvSpPr txBox="1"/>
          <p:nvPr/>
        </p:nvSpPr>
        <p:spPr>
          <a:xfrm>
            <a:off x="1411102" y="2110287"/>
            <a:ext cx="6505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FF0000"/>
                </a:solidFill>
              </a:rPr>
              <a:t>E</a:t>
            </a:r>
            <a:endParaRPr lang="zh-TW" altLang="en-US" sz="3600" dirty="0">
              <a:solidFill>
                <a:srgbClr val="FF0000"/>
              </a:solidFill>
            </a:endParaRPr>
          </a:p>
        </p:txBody>
      </p:sp>
      <p:sp>
        <p:nvSpPr>
          <p:cNvPr id="65" name="箭號: 向右 64">
            <a:extLst>
              <a:ext uri="{FF2B5EF4-FFF2-40B4-BE49-F238E27FC236}">
                <a16:creationId xmlns:a16="http://schemas.microsoft.com/office/drawing/2014/main" id="{12153864-F208-4C2F-66E9-E761AC0B6DD9}"/>
              </a:ext>
            </a:extLst>
          </p:cNvPr>
          <p:cNvSpPr/>
          <p:nvPr/>
        </p:nvSpPr>
        <p:spPr>
          <a:xfrm>
            <a:off x="4163369" y="2349624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5B452A65-1AEE-10C8-2B8C-8D52D200038D}"/>
              </a:ext>
            </a:extLst>
          </p:cNvPr>
          <p:cNvSpPr txBox="1"/>
          <p:nvPr/>
        </p:nvSpPr>
        <p:spPr>
          <a:xfrm>
            <a:off x="2404279" y="3455697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 err="1">
                <a:solidFill>
                  <a:srgbClr val="00B050"/>
                </a:solidFill>
              </a:rPr>
              <a:t>W</a:t>
            </a:r>
            <a:r>
              <a:rPr lang="en-US" altLang="zh-TW" sz="2800" dirty="0" err="1">
                <a:solidFill>
                  <a:srgbClr val="00B050"/>
                </a:solidFill>
              </a:rPr>
              <a:t>k</a:t>
            </a:r>
            <a:endParaRPr lang="zh-TW" altLang="en-US" sz="3600" dirty="0">
              <a:solidFill>
                <a:srgbClr val="00B050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1000054D-7B36-6E93-788F-56B0B42BBF25}"/>
              </a:ext>
            </a:extLst>
          </p:cNvPr>
          <p:cNvSpPr txBox="1"/>
          <p:nvPr/>
        </p:nvSpPr>
        <p:spPr>
          <a:xfrm>
            <a:off x="1411102" y="3455697"/>
            <a:ext cx="6505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FF0000"/>
                </a:solidFill>
              </a:rPr>
              <a:t>E</a:t>
            </a:r>
            <a:endParaRPr lang="zh-TW" altLang="en-US" sz="3600" dirty="0">
              <a:solidFill>
                <a:srgbClr val="FF0000"/>
              </a:solidFill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083C91C-D137-C33A-AC4B-FAA878C88734}"/>
              </a:ext>
            </a:extLst>
          </p:cNvPr>
          <p:cNvSpPr txBox="1"/>
          <p:nvPr/>
        </p:nvSpPr>
        <p:spPr>
          <a:xfrm>
            <a:off x="2404279" y="4995039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chemeClr val="accent5"/>
                </a:solidFill>
              </a:rPr>
              <a:t>W</a:t>
            </a:r>
            <a:r>
              <a:rPr lang="en-US" altLang="zh-TW" sz="2800" dirty="0">
                <a:solidFill>
                  <a:schemeClr val="accent5"/>
                </a:solidFill>
              </a:rPr>
              <a:t>v</a:t>
            </a:r>
            <a:endParaRPr lang="zh-TW" altLang="en-US" sz="3600" dirty="0">
              <a:solidFill>
                <a:schemeClr val="accent5"/>
              </a:solidFill>
            </a:endParaRP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C63BA5E5-C9F2-56C1-478E-CB1B49B1BB1A}"/>
              </a:ext>
            </a:extLst>
          </p:cNvPr>
          <p:cNvSpPr txBox="1"/>
          <p:nvPr/>
        </p:nvSpPr>
        <p:spPr>
          <a:xfrm>
            <a:off x="1411102" y="4995039"/>
            <a:ext cx="6505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FF0000"/>
                </a:solidFill>
              </a:rPr>
              <a:t>E</a:t>
            </a:r>
            <a:endParaRPr lang="zh-TW" altLang="en-US" sz="3600" dirty="0">
              <a:solidFill>
                <a:srgbClr val="FF0000"/>
              </a:solidFill>
            </a:endParaRPr>
          </a:p>
        </p:txBody>
      </p:sp>
      <p:sp>
        <p:nvSpPr>
          <p:cNvPr id="82" name="箭號: 向右 81">
            <a:extLst>
              <a:ext uri="{FF2B5EF4-FFF2-40B4-BE49-F238E27FC236}">
                <a16:creationId xmlns:a16="http://schemas.microsoft.com/office/drawing/2014/main" id="{901A9038-1DD2-1870-6386-869543C5C395}"/>
              </a:ext>
            </a:extLst>
          </p:cNvPr>
          <p:cNvSpPr/>
          <p:nvPr/>
        </p:nvSpPr>
        <p:spPr>
          <a:xfrm>
            <a:off x="4163369" y="3695200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箭號: 向右 84">
            <a:extLst>
              <a:ext uri="{FF2B5EF4-FFF2-40B4-BE49-F238E27FC236}">
                <a16:creationId xmlns:a16="http://schemas.microsoft.com/office/drawing/2014/main" id="{C6F0AA9A-39E0-FD0C-6091-4EF1386D3C98}"/>
              </a:ext>
            </a:extLst>
          </p:cNvPr>
          <p:cNvSpPr/>
          <p:nvPr/>
        </p:nvSpPr>
        <p:spPr>
          <a:xfrm>
            <a:off x="4163369" y="5234542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7D12B4E2-4DFC-3863-C258-E944A56C9E7A}"/>
              </a:ext>
            </a:extLst>
          </p:cNvPr>
          <p:cNvSpPr txBox="1"/>
          <p:nvPr/>
        </p:nvSpPr>
        <p:spPr>
          <a:xfrm>
            <a:off x="5422618" y="2110121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00B0F0"/>
                </a:solidFill>
              </a:rPr>
              <a:t>Q</a:t>
            </a:r>
            <a:endParaRPr lang="zh-TW" altLang="en-US" sz="3600" dirty="0">
              <a:solidFill>
                <a:srgbClr val="00B0F0"/>
              </a:solidFill>
            </a:endParaRP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F98C67B4-CB42-A1ED-E7C1-43A787AD2B7A}"/>
              </a:ext>
            </a:extLst>
          </p:cNvPr>
          <p:cNvSpPr txBox="1"/>
          <p:nvPr/>
        </p:nvSpPr>
        <p:spPr>
          <a:xfrm>
            <a:off x="5422618" y="3485568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rgbClr val="00B050"/>
                </a:solidFill>
              </a:rPr>
              <a:t>K</a:t>
            </a:r>
            <a:endParaRPr lang="zh-TW" altLang="en-US" sz="3600" dirty="0">
              <a:solidFill>
                <a:srgbClr val="00B050"/>
              </a:solidFill>
            </a:endParaRP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52F6DE22-D02F-0FB9-E0FF-8CDEC7021EE1}"/>
              </a:ext>
            </a:extLst>
          </p:cNvPr>
          <p:cNvSpPr txBox="1"/>
          <p:nvPr/>
        </p:nvSpPr>
        <p:spPr>
          <a:xfrm>
            <a:off x="5379464" y="5061752"/>
            <a:ext cx="11040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solidFill>
                  <a:schemeClr val="accent5"/>
                </a:solidFill>
              </a:rPr>
              <a:t>V</a:t>
            </a:r>
            <a:endParaRPr lang="zh-TW" altLang="en-US" sz="3600" dirty="0">
              <a:solidFill>
                <a:schemeClr val="accent5"/>
              </a:solidFill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8C421B86-352F-49B6-0D11-0665BE454EE3}"/>
              </a:ext>
            </a:extLst>
          </p:cNvPr>
          <p:cNvSpPr txBox="1"/>
          <p:nvPr/>
        </p:nvSpPr>
        <p:spPr>
          <a:xfrm>
            <a:off x="7639066" y="56075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111" name="左右大括弧 110">
            <a:extLst>
              <a:ext uri="{FF2B5EF4-FFF2-40B4-BE49-F238E27FC236}">
                <a16:creationId xmlns:a16="http://schemas.microsoft.com/office/drawing/2014/main" id="{FA697569-110E-7850-DF96-229EE941B863}"/>
              </a:ext>
            </a:extLst>
          </p:cNvPr>
          <p:cNvSpPr/>
          <p:nvPr/>
        </p:nvSpPr>
        <p:spPr>
          <a:xfrm>
            <a:off x="7463006" y="809441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6EDF2F2-612D-27F1-8D88-086F0988AB99}"/>
              </a:ext>
            </a:extLst>
          </p:cNvPr>
          <p:cNvSpPr txBox="1"/>
          <p:nvPr/>
        </p:nvSpPr>
        <p:spPr>
          <a:xfrm>
            <a:off x="7626725" y="1022416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E64F5E8C-FEB5-D69A-B519-470B0FFD38C7}"/>
              </a:ext>
            </a:extLst>
          </p:cNvPr>
          <p:cNvSpPr txBox="1"/>
          <p:nvPr/>
        </p:nvSpPr>
        <p:spPr>
          <a:xfrm>
            <a:off x="7626725" y="1516778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EE438964-712E-58E0-DE59-7FF1946239DA}"/>
              </a:ext>
            </a:extLst>
          </p:cNvPr>
          <p:cNvSpPr txBox="1"/>
          <p:nvPr/>
        </p:nvSpPr>
        <p:spPr>
          <a:xfrm>
            <a:off x="7626725" y="200752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9E668DCA-D0D3-61BB-3571-956707AA9A5A}"/>
              </a:ext>
            </a:extLst>
          </p:cNvPr>
          <p:cNvSpPr txBox="1"/>
          <p:nvPr/>
        </p:nvSpPr>
        <p:spPr>
          <a:xfrm>
            <a:off x="7626725" y="2498270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2BA649C-6007-6DC6-0E33-BE9C7B06164C}"/>
              </a:ext>
            </a:extLst>
          </p:cNvPr>
          <p:cNvSpPr txBox="1"/>
          <p:nvPr/>
        </p:nvSpPr>
        <p:spPr>
          <a:xfrm>
            <a:off x="9237119" y="2431736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133" name="左右大括弧 132">
            <a:extLst>
              <a:ext uri="{FF2B5EF4-FFF2-40B4-BE49-F238E27FC236}">
                <a16:creationId xmlns:a16="http://schemas.microsoft.com/office/drawing/2014/main" id="{93491D0A-0C15-9D46-F094-17D5C7AF36F3}"/>
              </a:ext>
            </a:extLst>
          </p:cNvPr>
          <p:cNvSpPr/>
          <p:nvPr/>
        </p:nvSpPr>
        <p:spPr>
          <a:xfrm>
            <a:off x="9061059" y="2680426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151D7A64-7288-4B3F-B913-C4E44400F77C}"/>
              </a:ext>
            </a:extLst>
          </p:cNvPr>
          <p:cNvSpPr txBox="1"/>
          <p:nvPr/>
        </p:nvSpPr>
        <p:spPr>
          <a:xfrm>
            <a:off x="9224778" y="289340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5423B809-332E-D5DF-2D77-93BB02DEDC4D}"/>
              </a:ext>
            </a:extLst>
          </p:cNvPr>
          <p:cNvSpPr txBox="1"/>
          <p:nvPr/>
        </p:nvSpPr>
        <p:spPr>
          <a:xfrm>
            <a:off x="9224778" y="338776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C5D3F303-B574-A126-BC3F-65C00E9BD449}"/>
              </a:ext>
            </a:extLst>
          </p:cNvPr>
          <p:cNvSpPr txBox="1"/>
          <p:nvPr/>
        </p:nvSpPr>
        <p:spPr>
          <a:xfrm>
            <a:off x="9224778" y="3878509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FC642B1-DAFE-FAE1-2D77-481A313B0C07}"/>
              </a:ext>
            </a:extLst>
          </p:cNvPr>
          <p:cNvSpPr txBox="1"/>
          <p:nvPr/>
        </p:nvSpPr>
        <p:spPr>
          <a:xfrm>
            <a:off x="9224778" y="4369255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pic>
        <p:nvPicPr>
          <p:cNvPr id="145" name="圖片 144">
            <a:extLst>
              <a:ext uri="{FF2B5EF4-FFF2-40B4-BE49-F238E27FC236}">
                <a16:creationId xmlns:a16="http://schemas.microsoft.com/office/drawing/2014/main" id="{75D32CA5-D72C-76AD-46EA-E1EE914D5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0451" y="4688992"/>
            <a:ext cx="1168460" cy="482625"/>
          </a:xfrm>
          <a:prstGeom prst="rect">
            <a:avLst/>
          </a:prstGeom>
        </p:spPr>
      </p:pic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5F49D350-1F4F-7951-BC84-CFB4307973E5}"/>
              </a:ext>
            </a:extLst>
          </p:cNvPr>
          <p:cNvSpPr txBox="1"/>
          <p:nvPr/>
        </p:nvSpPr>
        <p:spPr>
          <a:xfrm>
            <a:off x="7639066" y="4369255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150" name="左右大括弧 149">
            <a:extLst>
              <a:ext uri="{FF2B5EF4-FFF2-40B4-BE49-F238E27FC236}">
                <a16:creationId xmlns:a16="http://schemas.microsoft.com/office/drawing/2014/main" id="{2BE4AB6B-8670-6BBE-9F0F-07C96EE72F09}"/>
              </a:ext>
            </a:extLst>
          </p:cNvPr>
          <p:cNvSpPr/>
          <p:nvPr/>
        </p:nvSpPr>
        <p:spPr>
          <a:xfrm>
            <a:off x="7463006" y="4617945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95467605-D3E3-74A5-D66E-582BF503F00A}"/>
              </a:ext>
            </a:extLst>
          </p:cNvPr>
          <p:cNvSpPr txBox="1"/>
          <p:nvPr/>
        </p:nvSpPr>
        <p:spPr>
          <a:xfrm>
            <a:off x="7626725" y="4830920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D9D98DB3-0F0C-CBB8-CB5E-BEAC86589015}"/>
              </a:ext>
            </a:extLst>
          </p:cNvPr>
          <p:cNvSpPr txBox="1"/>
          <p:nvPr/>
        </p:nvSpPr>
        <p:spPr>
          <a:xfrm>
            <a:off x="7626725" y="5325282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9F932097-8C70-C691-0FD2-CDC8D0FC6076}"/>
              </a:ext>
            </a:extLst>
          </p:cNvPr>
          <p:cNvSpPr txBox="1"/>
          <p:nvPr/>
        </p:nvSpPr>
        <p:spPr>
          <a:xfrm>
            <a:off x="7626725" y="5816028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80F3EDE1-08F0-F2DC-68D9-E283A5DCB656}"/>
              </a:ext>
            </a:extLst>
          </p:cNvPr>
          <p:cNvSpPr txBox="1"/>
          <p:nvPr/>
        </p:nvSpPr>
        <p:spPr>
          <a:xfrm>
            <a:off x="7626725" y="630677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pic>
        <p:nvPicPr>
          <p:cNvPr id="160" name="圖片 159">
            <a:extLst>
              <a:ext uri="{FF2B5EF4-FFF2-40B4-BE49-F238E27FC236}">
                <a16:creationId xmlns:a16="http://schemas.microsoft.com/office/drawing/2014/main" id="{2AAC0DD0-4C53-45E6-5108-30506856BC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0028" y="4282570"/>
            <a:ext cx="1390721" cy="635033"/>
          </a:xfrm>
          <a:prstGeom prst="rect">
            <a:avLst/>
          </a:prstGeom>
        </p:spPr>
      </p:pic>
      <p:pic>
        <p:nvPicPr>
          <p:cNvPr id="164" name="圖片 163">
            <a:extLst>
              <a:ext uri="{FF2B5EF4-FFF2-40B4-BE49-F238E27FC236}">
                <a16:creationId xmlns:a16="http://schemas.microsoft.com/office/drawing/2014/main" id="{E67E40D1-8FF2-65E6-7C9C-583FDAF0B7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4676" y="6257901"/>
            <a:ext cx="1092256" cy="46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817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8AA76-095A-875E-B1C1-607CA77BA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34B8F5-C00D-A53A-49B8-E924F057F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Attention (1)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8A6CD7-5641-9362-80E2-3B34AF7CE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6</a:t>
            </a:fld>
            <a:endParaRPr lang="zh-TW" altLang="en-US" sz="16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81ABADD-EA17-E408-967D-BE208BD58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693" y="1610657"/>
            <a:ext cx="5072502" cy="983011"/>
          </a:xfrm>
          <a:prstGeom prst="rect">
            <a:avLst/>
          </a:prstGeom>
        </p:spPr>
      </p:pic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1B50A5D2-FD86-C85D-A321-E146680AB553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E41C90A-C5D1-189F-4603-5CD25F442E42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568485E9-3028-27FF-69FF-66411736F63B}"/>
              </a:ext>
            </a:extLst>
          </p:cNvPr>
          <p:cNvSpPr txBox="1"/>
          <p:nvPr/>
        </p:nvSpPr>
        <p:spPr>
          <a:xfrm>
            <a:off x="912693" y="2427334"/>
            <a:ext cx="60867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EDCFAA0-68A6-16DE-CF32-E1D2E7A8B0A9}"/>
              </a:ext>
            </a:extLst>
          </p:cNvPr>
          <p:cNvSpPr txBox="1"/>
          <p:nvPr/>
        </p:nvSpPr>
        <p:spPr>
          <a:xfrm>
            <a:off x="968242" y="314950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9" name="左右大括弧 8">
            <a:extLst>
              <a:ext uri="{FF2B5EF4-FFF2-40B4-BE49-F238E27FC236}">
                <a16:creationId xmlns:a16="http://schemas.microsoft.com/office/drawing/2014/main" id="{5FD676F2-F969-6E1E-E6B8-CCFD550A1B1C}"/>
              </a:ext>
            </a:extLst>
          </p:cNvPr>
          <p:cNvSpPr/>
          <p:nvPr/>
        </p:nvSpPr>
        <p:spPr>
          <a:xfrm>
            <a:off x="792182" y="3398194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118B22B-C48E-989F-4EA7-7BEC0FA586CB}"/>
              </a:ext>
            </a:extLst>
          </p:cNvPr>
          <p:cNvSpPr txBox="1"/>
          <p:nvPr/>
        </p:nvSpPr>
        <p:spPr>
          <a:xfrm>
            <a:off x="955901" y="3611169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4C9D3214-3F8A-ED45-8D57-38E02A520281}"/>
              </a:ext>
            </a:extLst>
          </p:cNvPr>
          <p:cNvSpPr txBox="1"/>
          <p:nvPr/>
        </p:nvSpPr>
        <p:spPr>
          <a:xfrm>
            <a:off x="955901" y="410553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E6B63C5-36FF-867D-87AF-BF8E2C93C92F}"/>
              </a:ext>
            </a:extLst>
          </p:cNvPr>
          <p:cNvSpPr txBox="1"/>
          <p:nvPr/>
        </p:nvSpPr>
        <p:spPr>
          <a:xfrm>
            <a:off x="955901" y="4596277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6B693527-0446-F207-95FF-680989CCAD16}"/>
              </a:ext>
            </a:extLst>
          </p:cNvPr>
          <p:cNvSpPr txBox="1"/>
          <p:nvPr/>
        </p:nvSpPr>
        <p:spPr>
          <a:xfrm>
            <a:off x="955901" y="508702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q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25" name="左右中括弧 24">
            <a:extLst>
              <a:ext uri="{FF2B5EF4-FFF2-40B4-BE49-F238E27FC236}">
                <a16:creationId xmlns:a16="http://schemas.microsoft.com/office/drawing/2014/main" id="{127C17FA-06C5-6FBB-91B0-00848B871E6E}"/>
              </a:ext>
            </a:extLst>
          </p:cNvPr>
          <p:cNvSpPr/>
          <p:nvPr/>
        </p:nvSpPr>
        <p:spPr>
          <a:xfrm>
            <a:off x="2393396" y="4105531"/>
            <a:ext cx="2681831" cy="461665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DC4B18E8-BA5E-FFB4-42FD-C5E979D68158}"/>
              </a:ext>
            </a:extLst>
          </p:cNvPr>
          <p:cNvSpPr txBox="1"/>
          <p:nvPr/>
        </p:nvSpPr>
        <p:spPr>
          <a:xfrm>
            <a:off x="2393396" y="407283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3CD65EF6-7DB1-4227-F228-F6082C490116}"/>
              </a:ext>
            </a:extLst>
          </p:cNvPr>
          <p:cNvSpPr txBox="1"/>
          <p:nvPr/>
        </p:nvSpPr>
        <p:spPr>
          <a:xfrm>
            <a:off x="2883326" y="407283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5438286C-355F-EBC0-193B-B4EA872E4672}"/>
              </a:ext>
            </a:extLst>
          </p:cNvPr>
          <p:cNvSpPr txBox="1"/>
          <p:nvPr/>
        </p:nvSpPr>
        <p:spPr>
          <a:xfrm>
            <a:off x="3396780" y="407283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1397F712-CCAB-714F-33FE-7B4F982A27D9}"/>
              </a:ext>
            </a:extLst>
          </p:cNvPr>
          <p:cNvSpPr txBox="1"/>
          <p:nvPr/>
        </p:nvSpPr>
        <p:spPr>
          <a:xfrm>
            <a:off x="3886710" y="407283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8D844A43-86FF-AE15-FAA5-D22C263DC65D}"/>
              </a:ext>
            </a:extLst>
          </p:cNvPr>
          <p:cNvSpPr txBox="1"/>
          <p:nvPr/>
        </p:nvSpPr>
        <p:spPr>
          <a:xfrm>
            <a:off x="4376640" y="407440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k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62414A24-18F4-2ED2-6C97-06C4C1643F8D}"/>
              </a:ext>
            </a:extLst>
          </p:cNvPr>
          <p:cNvSpPr/>
          <p:nvPr/>
        </p:nvSpPr>
        <p:spPr>
          <a:xfrm>
            <a:off x="5565157" y="4221923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5A159AE-FD9E-8DCF-5B46-285279F8E665}"/>
              </a:ext>
            </a:extLst>
          </p:cNvPr>
          <p:cNvSpPr txBox="1"/>
          <p:nvPr/>
        </p:nvSpPr>
        <p:spPr>
          <a:xfrm>
            <a:off x="6801188" y="316979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3" name="左右中括弧 122">
            <a:extLst>
              <a:ext uri="{FF2B5EF4-FFF2-40B4-BE49-F238E27FC236}">
                <a16:creationId xmlns:a16="http://schemas.microsoft.com/office/drawing/2014/main" id="{F6266E12-C104-0A9D-02CC-3ADC0A735A41}"/>
              </a:ext>
            </a:extLst>
          </p:cNvPr>
          <p:cNvSpPr/>
          <p:nvPr/>
        </p:nvSpPr>
        <p:spPr>
          <a:xfrm>
            <a:off x="6705599" y="3191187"/>
            <a:ext cx="4648201" cy="2759726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51191F8E-BC8F-6D40-0730-655D28BCD75B}"/>
              </a:ext>
            </a:extLst>
          </p:cNvPr>
          <p:cNvSpPr txBox="1"/>
          <p:nvPr/>
        </p:nvSpPr>
        <p:spPr>
          <a:xfrm>
            <a:off x="7599498" y="316979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614E3421-6421-5877-C864-AA33FA20A3CB}"/>
              </a:ext>
            </a:extLst>
          </p:cNvPr>
          <p:cNvSpPr txBox="1"/>
          <p:nvPr/>
        </p:nvSpPr>
        <p:spPr>
          <a:xfrm>
            <a:off x="8441001" y="316979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DB695E16-C3FF-0AC3-7AD2-A33CD65E1F61}"/>
              </a:ext>
            </a:extLst>
          </p:cNvPr>
          <p:cNvSpPr txBox="1"/>
          <p:nvPr/>
        </p:nvSpPr>
        <p:spPr>
          <a:xfrm>
            <a:off x="9277945" y="316979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3D8D17B9-C381-B87B-FF1E-5E8B47A1D9A9}"/>
              </a:ext>
            </a:extLst>
          </p:cNvPr>
          <p:cNvSpPr txBox="1"/>
          <p:nvPr/>
        </p:nvSpPr>
        <p:spPr>
          <a:xfrm>
            <a:off x="10119448" y="3149504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1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88C63683-5B01-5554-3FD4-F0EDDC72CA25}"/>
              </a:ext>
            </a:extLst>
          </p:cNvPr>
          <p:cNvSpPr txBox="1"/>
          <p:nvPr/>
        </p:nvSpPr>
        <p:spPr>
          <a:xfrm>
            <a:off x="6801188" y="369301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B120648A-64E9-0021-C388-72EB448256DC}"/>
              </a:ext>
            </a:extLst>
          </p:cNvPr>
          <p:cNvSpPr txBox="1"/>
          <p:nvPr/>
        </p:nvSpPr>
        <p:spPr>
          <a:xfrm>
            <a:off x="7599498" y="369301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5E0BB1D4-CA31-6F59-3C67-A8E6723823EE}"/>
              </a:ext>
            </a:extLst>
          </p:cNvPr>
          <p:cNvSpPr txBox="1"/>
          <p:nvPr/>
        </p:nvSpPr>
        <p:spPr>
          <a:xfrm>
            <a:off x="8441001" y="369301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72289AF6-3058-8BC6-F34A-DBE9A3E49069}"/>
              </a:ext>
            </a:extLst>
          </p:cNvPr>
          <p:cNvSpPr txBox="1"/>
          <p:nvPr/>
        </p:nvSpPr>
        <p:spPr>
          <a:xfrm>
            <a:off x="9277945" y="3693019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CDD5BC23-C0DB-65E6-07A3-75A33E61C771}"/>
              </a:ext>
            </a:extLst>
          </p:cNvPr>
          <p:cNvSpPr txBox="1"/>
          <p:nvPr/>
        </p:nvSpPr>
        <p:spPr>
          <a:xfrm>
            <a:off x="10119448" y="3672724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2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E310691A-57C8-5A80-3A26-A7E694C32799}"/>
              </a:ext>
            </a:extLst>
          </p:cNvPr>
          <p:cNvSpPr txBox="1"/>
          <p:nvPr/>
        </p:nvSpPr>
        <p:spPr>
          <a:xfrm>
            <a:off x="6801188" y="427036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3E6D9C4E-3598-3416-063A-37347382D238}"/>
              </a:ext>
            </a:extLst>
          </p:cNvPr>
          <p:cNvSpPr txBox="1"/>
          <p:nvPr/>
        </p:nvSpPr>
        <p:spPr>
          <a:xfrm>
            <a:off x="7599498" y="427036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010644A5-F57D-F892-1C9A-D6D7D35CCEFD}"/>
              </a:ext>
            </a:extLst>
          </p:cNvPr>
          <p:cNvSpPr txBox="1"/>
          <p:nvPr/>
        </p:nvSpPr>
        <p:spPr>
          <a:xfrm>
            <a:off x="8441001" y="427036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451AC26-1172-0140-8215-03A8CA02525F}"/>
              </a:ext>
            </a:extLst>
          </p:cNvPr>
          <p:cNvSpPr txBox="1"/>
          <p:nvPr/>
        </p:nvSpPr>
        <p:spPr>
          <a:xfrm>
            <a:off x="9277945" y="427036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83F3C003-8001-5701-D9A8-B3FF497DCD2E}"/>
              </a:ext>
            </a:extLst>
          </p:cNvPr>
          <p:cNvSpPr txBox="1"/>
          <p:nvPr/>
        </p:nvSpPr>
        <p:spPr>
          <a:xfrm>
            <a:off x="10119448" y="425007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3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7" name="文字方塊 156">
            <a:extLst>
              <a:ext uri="{FF2B5EF4-FFF2-40B4-BE49-F238E27FC236}">
                <a16:creationId xmlns:a16="http://schemas.microsoft.com/office/drawing/2014/main" id="{90E9B35E-998A-59C5-AB27-89965E7BFE64}"/>
              </a:ext>
            </a:extLst>
          </p:cNvPr>
          <p:cNvSpPr txBox="1"/>
          <p:nvPr/>
        </p:nvSpPr>
        <p:spPr>
          <a:xfrm>
            <a:off x="6812775" y="484524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8D4D1E1D-8510-B8BA-9157-DEB478E2CE16}"/>
              </a:ext>
            </a:extLst>
          </p:cNvPr>
          <p:cNvSpPr txBox="1"/>
          <p:nvPr/>
        </p:nvSpPr>
        <p:spPr>
          <a:xfrm>
            <a:off x="7611085" y="484524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1" name="文字方塊 160">
            <a:extLst>
              <a:ext uri="{FF2B5EF4-FFF2-40B4-BE49-F238E27FC236}">
                <a16:creationId xmlns:a16="http://schemas.microsoft.com/office/drawing/2014/main" id="{01D3E770-F93F-FBDA-76AB-B75098067DA7}"/>
              </a:ext>
            </a:extLst>
          </p:cNvPr>
          <p:cNvSpPr txBox="1"/>
          <p:nvPr/>
        </p:nvSpPr>
        <p:spPr>
          <a:xfrm>
            <a:off x="8452588" y="484524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C17CEF4A-2B92-5609-347D-D1F1BD3E5A80}"/>
              </a:ext>
            </a:extLst>
          </p:cNvPr>
          <p:cNvSpPr txBox="1"/>
          <p:nvPr/>
        </p:nvSpPr>
        <p:spPr>
          <a:xfrm>
            <a:off x="9289532" y="4845242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0F912356-896C-1885-4DB5-CEB855E45E04}"/>
              </a:ext>
            </a:extLst>
          </p:cNvPr>
          <p:cNvSpPr txBox="1"/>
          <p:nvPr/>
        </p:nvSpPr>
        <p:spPr>
          <a:xfrm>
            <a:off x="10131035" y="4824947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4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1F028E9F-EB75-65B6-20A1-1BDE1591BFE5}"/>
              </a:ext>
            </a:extLst>
          </p:cNvPr>
          <p:cNvSpPr txBox="1"/>
          <p:nvPr/>
        </p:nvSpPr>
        <p:spPr>
          <a:xfrm>
            <a:off x="6823612" y="5389303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58B3BA16-E770-82E8-15CD-8FC484DD2353}"/>
              </a:ext>
            </a:extLst>
          </p:cNvPr>
          <p:cNvSpPr txBox="1"/>
          <p:nvPr/>
        </p:nvSpPr>
        <p:spPr>
          <a:xfrm>
            <a:off x="7621922" y="5389303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F580C6FB-EC09-B340-7BE4-698D27CEB0B9}"/>
              </a:ext>
            </a:extLst>
          </p:cNvPr>
          <p:cNvSpPr txBox="1"/>
          <p:nvPr/>
        </p:nvSpPr>
        <p:spPr>
          <a:xfrm>
            <a:off x="8463425" y="5389303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C83C422C-7CB8-A581-D969-43A34D181A2C}"/>
              </a:ext>
            </a:extLst>
          </p:cNvPr>
          <p:cNvSpPr txBox="1"/>
          <p:nvPr/>
        </p:nvSpPr>
        <p:spPr>
          <a:xfrm>
            <a:off x="9300369" y="5389303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8EEDB264-4459-7E9E-2B63-B80A464C5FE4}"/>
              </a:ext>
            </a:extLst>
          </p:cNvPr>
          <p:cNvSpPr txBox="1"/>
          <p:nvPr/>
        </p:nvSpPr>
        <p:spPr>
          <a:xfrm>
            <a:off x="10141872" y="5369008"/>
            <a:ext cx="1011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q</a:t>
            </a:r>
            <a:r>
              <a:rPr lang="en-US" altLang="zh-TW" sz="1600" dirty="0"/>
              <a:t>5</a:t>
            </a:r>
            <a:r>
              <a:rPr lang="en-US" altLang="zh-TW" sz="2400" dirty="0"/>
              <a:t>k</a:t>
            </a:r>
            <a:r>
              <a:rPr lang="en-US" altLang="zh-TW" sz="1600" dirty="0"/>
              <a:t>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pic>
        <p:nvPicPr>
          <p:cNvPr id="179" name="圖片 178">
            <a:extLst>
              <a:ext uri="{FF2B5EF4-FFF2-40B4-BE49-F238E27FC236}">
                <a16:creationId xmlns:a16="http://schemas.microsoft.com/office/drawing/2014/main" id="{7C68B5FB-5F96-A634-F7B9-E635A8AAF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392" y="1775855"/>
            <a:ext cx="2669953" cy="622367"/>
          </a:xfrm>
          <a:prstGeom prst="rect">
            <a:avLst/>
          </a:prstGeom>
        </p:spPr>
      </p:pic>
      <p:sp>
        <p:nvSpPr>
          <p:cNvPr id="181" name="文字方塊 180">
            <a:extLst>
              <a:ext uri="{FF2B5EF4-FFF2-40B4-BE49-F238E27FC236}">
                <a16:creationId xmlns:a16="http://schemas.microsoft.com/office/drawing/2014/main" id="{179CD3F9-661A-5B59-928C-A19915247A88}"/>
              </a:ext>
            </a:extLst>
          </p:cNvPr>
          <p:cNvSpPr txBox="1"/>
          <p:nvPr/>
        </p:nvSpPr>
        <p:spPr>
          <a:xfrm>
            <a:off x="9746349" y="2421023"/>
            <a:ext cx="9986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/>
              <a:t>(</a:t>
            </a:r>
            <a:r>
              <a:rPr lang="zh-TW" altLang="zh-TW" sz="1200" dirty="0"/>
              <a:t>Wikipedia</a:t>
            </a:r>
            <a:r>
              <a:rPr lang="en-US" altLang="zh-TW" sz="1200" dirty="0"/>
              <a:t>)</a:t>
            </a:r>
            <a:endParaRPr lang="zh-TW" altLang="en-US" sz="1200" dirty="0"/>
          </a:p>
        </p:txBody>
      </p:sp>
      <p:cxnSp>
        <p:nvCxnSpPr>
          <p:cNvPr id="182" name="直線接點 181">
            <a:extLst>
              <a:ext uri="{FF2B5EF4-FFF2-40B4-BE49-F238E27FC236}">
                <a16:creationId xmlns:a16="http://schemas.microsoft.com/office/drawing/2014/main" id="{A3F9F694-2245-C2B4-CA17-DE7CDEF8885E}"/>
              </a:ext>
            </a:extLst>
          </p:cNvPr>
          <p:cNvCxnSpPr>
            <a:cxnSpLocks/>
          </p:cNvCxnSpPr>
          <p:nvPr/>
        </p:nvCxnSpPr>
        <p:spPr>
          <a:xfrm>
            <a:off x="4790671" y="5368462"/>
            <a:ext cx="0" cy="9531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直線接點 182">
            <a:extLst>
              <a:ext uri="{FF2B5EF4-FFF2-40B4-BE49-F238E27FC236}">
                <a16:creationId xmlns:a16="http://schemas.microsoft.com/office/drawing/2014/main" id="{54B9DF1D-47D5-765C-BE8C-9F960B659995}"/>
              </a:ext>
            </a:extLst>
          </p:cNvPr>
          <p:cNvCxnSpPr>
            <a:cxnSpLocks/>
          </p:cNvCxnSpPr>
          <p:nvPr/>
        </p:nvCxnSpPr>
        <p:spPr>
          <a:xfrm flipH="1">
            <a:off x="4790671" y="6321613"/>
            <a:ext cx="99868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直線單箭頭接點 183">
            <a:extLst>
              <a:ext uri="{FF2B5EF4-FFF2-40B4-BE49-F238E27FC236}">
                <a16:creationId xmlns:a16="http://schemas.microsoft.com/office/drawing/2014/main" id="{FCFA7BEC-324E-7DD2-E48A-2C02B3289E36}"/>
              </a:ext>
            </a:extLst>
          </p:cNvPr>
          <p:cNvCxnSpPr>
            <a:cxnSpLocks/>
          </p:cNvCxnSpPr>
          <p:nvPr/>
        </p:nvCxnSpPr>
        <p:spPr>
          <a:xfrm flipV="1">
            <a:off x="4790670" y="6105520"/>
            <a:ext cx="610758" cy="216093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直線單箭頭接點 184">
            <a:extLst>
              <a:ext uri="{FF2B5EF4-FFF2-40B4-BE49-F238E27FC236}">
                <a16:creationId xmlns:a16="http://schemas.microsoft.com/office/drawing/2014/main" id="{C0CB9405-9F3E-8F93-9660-0132FFB5DE2C}"/>
              </a:ext>
            </a:extLst>
          </p:cNvPr>
          <p:cNvCxnSpPr>
            <a:cxnSpLocks/>
          </p:cNvCxnSpPr>
          <p:nvPr/>
        </p:nvCxnSpPr>
        <p:spPr>
          <a:xfrm flipV="1">
            <a:off x="4802498" y="5431370"/>
            <a:ext cx="998688" cy="890244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2514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6C652-85E6-37E3-5C64-DCB2061B7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61C9C3-74BD-9A80-FFCD-82448DFDA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Attention (2)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F59A8D-3B8B-BC90-8048-CA4043EAF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7</a:t>
            </a:fld>
            <a:endParaRPr lang="zh-TW" altLang="en-US" sz="16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B60FE6C-46BE-F68C-E6CE-52A54F0E2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693" y="1610657"/>
            <a:ext cx="5072502" cy="983011"/>
          </a:xfrm>
          <a:prstGeom prst="rect">
            <a:avLst/>
          </a:prstGeom>
        </p:spPr>
      </p:pic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A2799282-4DA6-0564-CF3E-6DE3FCC7402E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5E669E1-8479-32BF-4A21-DFF87012AAE6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C1AAAE8C-DFB0-BECF-91A2-86B15C7404EE}"/>
              </a:ext>
            </a:extLst>
          </p:cNvPr>
          <p:cNvSpPr txBox="1"/>
          <p:nvPr/>
        </p:nvSpPr>
        <p:spPr>
          <a:xfrm>
            <a:off x="912693" y="2427334"/>
            <a:ext cx="60867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E9E27BB7-0D8E-A6A4-A4C5-F586A6946A06}"/>
              </a:ext>
            </a:extLst>
          </p:cNvPr>
          <p:cNvSpPr txBox="1"/>
          <p:nvPr/>
        </p:nvSpPr>
        <p:spPr>
          <a:xfrm>
            <a:off x="2328278" y="333105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4EB62F5D-0383-8850-AFB7-179F722E4EAF}"/>
              </a:ext>
            </a:extLst>
          </p:cNvPr>
          <p:cNvSpPr txBox="1"/>
          <p:nvPr/>
        </p:nvSpPr>
        <p:spPr>
          <a:xfrm>
            <a:off x="2924852" y="333105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87A9093F-BF80-1806-C163-97052D1041CE}"/>
              </a:ext>
            </a:extLst>
          </p:cNvPr>
          <p:cNvSpPr txBox="1"/>
          <p:nvPr/>
        </p:nvSpPr>
        <p:spPr>
          <a:xfrm>
            <a:off x="3575364" y="333105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5EE19AF0-DA3A-C4CD-50BA-80CCCF2B5674}"/>
              </a:ext>
            </a:extLst>
          </p:cNvPr>
          <p:cNvSpPr txBox="1"/>
          <p:nvPr/>
        </p:nvSpPr>
        <p:spPr>
          <a:xfrm>
            <a:off x="4225876" y="333105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77FA5E5A-B32A-3A5E-2A38-48DD7F68EAEC}"/>
              </a:ext>
            </a:extLst>
          </p:cNvPr>
          <p:cNvSpPr txBox="1"/>
          <p:nvPr/>
        </p:nvSpPr>
        <p:spPr>
          <a:xfrm>
            <a:off x="4876388" y="3331058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15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8AFD0122-2977-07BB-F0EA-A74567EBD005}"/>
              </a:ext>
            </a:extLst>
          </p:cNvPr>
          <p:cNvSpPr txBox="1"/>
          <p:nvPr/>
        </p:nvSpPr>
        <p:spPr>
          <a:xfrm>
            <a:off x="2328278" y="376185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D96393AD-6111-FD35-543D-9892D3D318A1}"/>
              </a:ext>
            </a:extLst>
          </p:cNvPr>
          <p:cNvSpPr txBox="1"/>
          <p:nvPr/>
        </p:nvSpPr>
        <p:spPr>
          <a:xfrm>
            <a:off x="2924852" y="376185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C8B18CE0-7909-EC53-37B1-73A74C94A4C2}"/>
              </a:ext>
            </a:extLst>
          </p:cNvPr>
          <p:cNvSpPr txBox="1"/>
          <p:nvPr/>
        </p:nvSpPr>
        <p:spPr>
          <a:xfrm>
            <a:off x="3575364" y="376185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D08FD393-8BD3-71B7-19B2-5EC2EC29449D}"/>
              </a:ext>
            </a:extLst>
          </p:cNvPr>
          <p:cNvSpPr txBox="1"/>
          <p:nvPr/>
        </p:nvSpPr>
        <p:spPr>
          <a:xfrm>
            <a:off x="4225876" y="376185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8ECC3A94-92B1-CB15-EB37-6AD7B447DA3A}"/>
              </a:ext>
            </a:extLst>
          </p:cNvPr>
          <p:cNvSpPr txBox="1"/>
          <p:nvPr/>
        </p:nvSpPr>
        <p:spPr>
          <a:xfrm>
            <a:off x="4876388" y="3761851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25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94141DC0-6F12-FF02-DB90-8B99FD54DB9F}"/>
              </a:ext>
            </a:extLst>
          </p:cNvPr>
          <p:cNvSpPr txBox="1"/>
          <p:nvPr/>
        </p:nvSpPr>
        <p:spPr>
          <a:xfrm>
            <a:off x="2328278" y="419188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EF6A420A-816C-ACD8-1781-5DE059588429}"/>
              </a:ext>
            </a:extLst>
          </p:cNvPr>
          <p:cNvSpPr txBox="1"/>
          <p:nvPr/>
        </p:nvSpPr>
        <p:spPr>
          <a:xfrm>
            <a:off x="2924852" y="419188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A8E9337F-A83E-30FB-29A6-1A09B19FA0FB}"/>
              </a:ext>
            </a:extLst>
          </p:cNvPr>
          <p:cNvSpPr txBox="1"/>
          <p:nvPr/>
        </p:nvSpPr>
        <p:spPr>
          <a:xfrm>
            <a:off x="3575364" y="419188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176C1D76-A2A4-BA8F-1553-6F26F57F0F3B}"/>
              </a:ext>
            </a:extLst>
          </p:cNvPr>
          <p:cNvSpPr txBox="1"/>
          <p:nvPr/>
        </p:nvSpPr>
        <p:spPr>
          <a:xfrm>
            <a:off x="4225876" y="419188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B14C68D8-D046-2D08-29DD-2BE59F261658}"/>
              </a:ext>
            </a:extLst>
          </p:cNvPr>
          <p:cNvSpPr txBox="1"/>
          <p:nvPr/>
        </p:nvSpPr>
        <p:spPr>
          <a:xfrm>
            <a:off x="4876388" y="4191882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35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26833DBA-D250-5345-5847-A7DEA18008D5}"/>
              </a:ext>
            </a:extLst>
          </p:cNvPr>
          <p:cNvSpPr txBox="1"/>
          <p:nvPr/>
        </p:nvSpPr>
        <p:spPr>
          <a:xfrm>
            <a:off x="2328278" y="462229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41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9E2477E9-A1E3-C413-EFFB-4268AEAD3E79}"/>
              </a:ext>
            </a:extLst>
          </p:cNvPr>
          <p:cNvSpPr txBox="1"/>
          <p:nvPr/>
        </p:nvSpPr>
        <p:spPr>
          <a:xfrm>
            <a:off x="2924852" y="462229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42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099662A-FAA3-98B7-799C-1C4DDAFDB568}"/>
              </a:ext>
            </a:extLst>
          </p:cNvPr>
          <p:cNvSpPr txBox="1"/>
          <p:nvPr/>
        </p:nvSpPr>
        <p:spPr>
          <a:xfrm>
            <a:off x="3575364" y="462229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43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4D9FF10D-4099-4609-C76E-AA20B48B6D0A}"/>
              </a:ext>
            </a:extLst>
          </p:cNvPr>
          <p:cNvSpPr txBox="1"/>
          <p:nvPr/>
        </p:nvSpPr>
        <p:spPr>
          <a:xfrm>
            <a:off x="4225876" y="462229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44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ECB31CF7-9E06-FDDA-1F2F-80962C870BB6}"/>
              </a:ext>
            </a:extLst>
          </p:cNvPr>
          <p:cNvSpPr txBox="1"/>
          <p:nvPr/>
        </p:nvSpPr>
        <p:spPr>
          <a:xfrm>
            <a:off x="4876388" y="4622294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e</a:t>
            </a:r>
            <a:r>
              <a:rPr lang="en-US" altLang="zh-TW" sz="1600" dirty="0"/>
              <a:t>45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379848FD-F0C7-1940-8863-73B635122FB0}"/>
              </a:ext>
            </a:extLst>
          </p:cNvPr>
          <p:cNvSpPr txBox="1"/>
          <p:nvPr/>
        </p:nvSpPr>
        <p:spPr>
          <a:xfrm>
            <a:off x="2328278" y="5052706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51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F8CFA963-3732-E26E-967F-A68CB939F908}"/>
              </a:ext>
            </a:extLst>
          </p:cNvPr>
          <p:cNvSpPr txBox="1"/>
          <p:nvPr/>
        </p:nvSpPr>
        <p:spPr>
          <a:xfrm>
            <a:off x="2924852" y="5052706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52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B62E3801-9A95-E00B-4CB2-47B60BF12C61}"/>
              </a:ext>
            </a:extLst>
          </p:cNvPr>
          <p:cNvSpPr txBox="1"/>
          <p:nvPr/>
        </p:nvSpPr>
        <p:spPr>
          <a:xfrm>
            <a:off x="3575364" y="5052706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53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CD93FCED-402B-45A9-FDBD-7AC5D3EB7A78}"/>
              </a:ext>
            </a:extLst>
          </p:cNvPr>
          <p:cNvSpPr txBox="1"/>
          <p:nvPr/>
        </p:nvSpPr>
        <p:spPr>
          <a:xfrm>
            <a:off x="4225876" y="5052706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54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2FB5A5B7-A1C5-C85E-5025-309D488B6952}"/>
              </a:ext>
            </a:extLst>
          </p:cNvPr>
          <p:cNvSpPr txBox="1"/>
          <p:nvPr/>
        </p:nvSpPr>
        <p:spPr>
          <a:xfrm>
            <a:off x="4876388" y="5052706"/>
            <a:ext cx="650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/>
              <a:t>a</a:t>
            </a:r>
            <a:r>
              <a:rPr lang="en-US" altLang="zh-TW" sz="1600" dirty="0"/>
              <a:t>55</a:t>
            </a:r>
            <a:r>
              <a:rPr lang="en-US" altLang="zh-TW" dirty="0"/>
              <a:t> </a:t>
            </a:r>
            <a:endParaRPr lang="zh-TW" altLang="en-US" sz="2400" dirty="0"/>
          </a:p>
        </p:txBody>
      </p:sp>
      <p:sp>
        <p:nvSpPr>
          <p:cNvPr id="128" name="左右中括弧 127">
            <a:extLst>
              <a:ext uri="{FF2B5EF4-FFF2-40B4-BE49-F238E27FC236}">
                <a16:creationId xmlns:a16="http://schemas.microsoft.com/office/drawing/2014/main" id="{C065426D-EEFC-BDCB-9E86-DE72694EEC83}"/>
              </a:ext>
            </a:extLst>
          </p:cNvPr>
          <p:cNvSpPr/>
          <p:nvPr/>
        </p:nvSpPr>
        <p:spPr>
          <a:xfrm>
            <a:off x="2017897" y="3372741"/>
            <a:ext cx="3849735" cy="2216171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30" name="圖片 129">
            <a:extLst>
              <a:ext uri="{FF2B5EF4-FFF2-40B4-BE49-F238E27FC236}">
                <a16:creationId xmlns:a16="http://schemas.microsoft.com/office/drawing/2014/main" id="{A250871B-F4C7-FF06-B36F-3662A6A679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9276" y="5706652"/>
            <a:ext cx="4095961" cy="895396"/>
          </a:xfrm>
          <a:prstGeom prst="rect">
            <a:avLst/>
          </a:prstGeom>
        </p:spPr>
      </p:pic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5F3B2025-C702-EAAB-0213-47720771A9A3}"/>
              </a:ext>
            </a:extLst>
          </p:cNvPr>
          <p:cNvSpPr txBox="1"/>
          <p:nvPr/>
        </p:nvSpPr>
        <p:spPr>
          <a:xfrm>
            <a:off x="6361285" y="3276504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1</a:t>
            </a:r>
            <a:endParaRPr lang="zh-TW" altLang="en-US" sz="3200" dirty="0"/>
          </a:p>
        </p:txBody>
      </p:sp>
      <p:sp>
        <p:nvSpPr>
          <p:cNvPr id="136" name="左右大括弧 135">
            <a:extLst>
              <a:ext uri="{FF2B5EF4-FFF2-40B4-BE49-F238E27FC236}">
                <a16:creationId xmlns:a16="http://schemas.microsoft.com/office/drawing/2014/main" id="{D93C9AA0-890C-D7D5-F5F1-DCED531E91F4}"/>
              </a:ext>
            </a:extLst>
          </p:cNvPr>
          <p:cNvSpPr/>
          <p:nvPr/>
        </p:nvSpPr>
        <p:spPr>
          <a:xfrm>
            <a:off x="6185225" y="3525194"/>
            <a:ext cx="977951" cy="2008566"/>
          </a:xfrm>
          <a:prstGeom prst="brace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53420724-1253-F8CE-0008-2EF0C61716DA}"/>
              </a:ext>
            </a:extLst>
          </p:cNvPr>
          <p:cNvSpPr txBox="1"/>
          <p:nvPr/>
        </p:nvSpPr>
        <p:spPr>
          <a:xfrm>
            <a:off x="6348944" y="3738169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2</a:t>
            </a:r>
            <a:endParaRPr lang="zh-TW" altLang="en-US" sz="3200" dirty="0"/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45A6F902-0F2A-DBD0-20F5-71F01AF0601A}"/>
              </a:ext>
            </a:extLst>
          </p:cNvPr>
          <p:cNvSpPr txBox="1"/>
          <p:nvPr/>
        </p:nvSpPr>
        <p:spPr>
          <a:xfrm>
            <a:off x="6348944" y="4232531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3</a:t>
            </a:r>
            <a:endParaRPr lang="zh-TW" altLang="en-US" sz="3200" dirty="0"/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8BABA683-EFE7-BAC5-08A0-E5FABF70CE76}"/>
              </a:ext>
            </a:extLst>
          </p:cNvPr>
          <p:cNvSpPr txBox="1"/>
          <p:nvPr/>
        </p:nvSpPr>
        <p:spPr>
          <a:xfrm>
            <a:off x="6348944" y="4723277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4</a:t>
            </a:r>
            <a:endParaRPr lang="zh-TW" altLang="en-US" sz="3200" dirty="0"/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6D6490BB-DC98-4B39-9E41-AC14864C40AE}"/>
              </a:ext>
            </a:extLst>
          </p:cNvPr>
          <p:cNvSpPr txBox="1"/>
          <p:nvPr/>
        </p:nvSpPr>
        <p:spPr>
          <a:xfrm>
            <a:off x="6348944" y="5214023"/>
            <a:ext cx="6505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v</a:t>
            </a:r>
            <a:r>
              <a:rPr lang="en-US" altLang="zh-TW" sz="1400" dirty="0"/>
              <a:t>5</a:t>
            </a:r>
            <a:endParaRPr lang="zh-TW" altLang="en-US" sz="3200" dirty="0"/>
          </a:p>
        </p:txBody>
      </p:sp>
      <p:sp>
        <p:nvSpPr>
          <p:cNvPr id="156" name="箭號: 向右 155">
            <a:extLst>
              <a:ext uri="{FF2B5EF4-FFF2-40B4-BE49-F238E27FC236}">
                <a16:creationId xmlns:a16="http://schemas.microsoft.com/office/drawing/2014/main" id="{2C7CD522-B16F-AE70-B9B0-5154E79B8928}"/>
              </a:ext>
            </a:extLst>
          </p:cNvPr>
          <p:cNvSpPr/>
          <p:nvPr/>
        </p:nvSpPr>
        <p:spPr>
          <a:xfrm>
            <a:off x="7480769" y="4429417"/>
            <a:ext cx="650512" cy="228880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8" name="左右中括弧 227">
            <a:extLst>
              <a:ext uri="{FF2B5EF4-FFF2-40B4-BE49-F238E27FC236}">
                <a16:creationId xmlns:a16="http://schemas.microsoft.com/office/drawing/2014/main" id="{1D017D1F-DAB4-2E86-0806-B2234B19A249}"/>
              </a:ext>
            </a:extLst>
          </p:cNvPr>
          <p:cNvSpPr/>
          <p:nvPr/>
        </p:nvSpPr>
        <p:spPr>
          <a:xfrm>
            <a:off x="8385927" y="3132519"/>
            <a:ext cx="1899417" cy="2759726"/>
          </a:xfrm>
          <a:prstGeom prst="bracketPair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6" name="圖片 285">
            <a:extLst>
              <a:ext uri="{FF2B5EF4-FFF2-40B4-BE49-F238E27FC236}">
                <a16:creationId xmlns:a16="http://schemas.microsoft.com/office/drawing/2014/main" id="{E44ED415-5866-D320-0087-348A50484A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9778" y="3176853"/>
            <a:ext cx="1092010" cy="845073"/>
          </a:xfrm>
          <a:prstGeom prst="rect">
            <a:avLst/>
          </a:prstGeom>
        </p:spPr>
      </p:pic>
      <p:sp>
        <p:nvSpPr>
          <p:cNvPr id="290" name="文字方塊 289">
            <a:extLst>
              <a:ext uri="{FF2B5EF4-FFF2-40B4-BE49-F238E27FC236}">
                <a16:creationId xmlns:a16="http://schemas.microsoft.com/office/drawing/2014/main" id="{0DCCFCD6-2855-4579-ACB7-09DB78ABF504}"/>
              </a:ext>
            </a:extLst>
          </p:cNvPr>
          <p:cNvSpPr txBox="1"/>
          <p:nvPr/>
        </p:nvSpPr>
        <p:spPr>
          <a:xfrm>
            <a:off x="9010379" y="4123112"/>
            <a:ext cx="6505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/>
              <a:t>.</a:t>
            </a:r>
          </a:p>
          <a:p>
            <a:pPr algn="ctr"/>
            <a:r>
              <a:rPr lang="en-US" altLang="zh-TW" sz="2400" dirty="0"/>
              <a:t>.</a:t>
            </a:r>
          </a:p>
          <a:p>
            <a:pPr algn="ctr"/>
            <a:r>
              <a:rPr lang="en-US" altLang="zh-TW" sz="2400" dirty="0"/>
              <a:t>.</a:t>
            </a:r>
            <a:endParaRPr lang="zh-TW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704727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4FAE5-0107-7410-C7B1-B5C29FE1A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E52904-0BE4-C378-61A7-759CD864C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710799-7D82-922F-521D-B744A3D75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8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90822F5A-DFFD-33A9-DA8A-04119A8698C1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77543AB-1427-3801-99DD-D564335731F7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7F624792-9A5C-7903-F1D4-CED065491AF2}"/>
              </a:ext>
            </a:extLst>
          </p:cNvPr>
          <p:cNvCxnSpPr>
            <a:cxnSpLocks/>
          </p:cNvCxnSpPr>
          <p:nvPr/>
        </p:nvCxnSpPr>
        <p:spPr>
          <a:xfrm>
            <a:off x="1597688" y="3679669"/>
            <a:ext cx="2" cy="1050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88273D9F-02FF-8356-857D-87FCFBB673B0}"/>
              </a:ext>
            </a:extLst>
          </p:cNvPr>
          <p:cNvCxnSpPr>
            <a:cxnSpLocks/>
          </p:cNvCxnSpPr>
          <p:nvPr/>
        </p:nvCxnSpPr>
        <p:spPr>
          <a:xfrm flipH="1">
            <a:off x="1212369" y="4730410"/>
            <a:ext cx="385321" cy="4369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2FD78383-B6D6-333F-EB17-8393AF17949C}"/>
              </a:ext>
            </a:extLst>
          </p:cNvPr>
          <p:cNvCxnSpPr>
            <a:cxnSpLocks/>
          </p:cNvCxnSpPr>
          <p:nvPr/>
        </p:nvCxnSpPr>
        <p:spPr>
          <a:xfrm flipH="1">
            <a:off x="1597690" y="4730410"/>
            <a:ext cx="111414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D70746F9-DF70-4825-D05F-90D809617D32}"/>
              </a:ext>
            </a:extLst>
          </p:cNvPr>
          <p:cNvCxnSpPr>
            <a:cxnSpLocks/>
          </p:cNvCxnSpPr>
          <p:nvPr/>
        </p:nvCxnSpPr>
        <p:spPr>
          <a:xfrm flipV="1">
            <a:off x="1616160" y="3839695"/>
            <a:ext cx="440763" cy="86750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E01441EF-84BD-F32B-5A25-9DDB4402A4DD}"/>
              </a:ext>
            </a:extLst>
          </p:cNvPr>
          <p:cNvCxnSpPr>
            <a:cxnSpLocks/>
          </p:cNvCxnSpPr>
          <p:nvPr/>
        </p:nvCxnSpPr>
        <p:spPr>
          <a:xfrm flipH="1" flipV="1">
            <a:off x="912459" y="3990351"/>
            <a:ext cx="675994" cy="72570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97C48261-629C-041A-2610-943B5752BCFE}"/>
              </a:ext>
            </a:extLst>
          </p:cNvPr>
          <p:cNvCxnSpPr>
            <a:cxnSpLocks/>
          </p:cNvCxnSpPr>
          <p:nvPr/>
        </p:nvCxnSpPr>
        <p:spPr>
          <a:xfrm flipV="1">
            <a:off x="1616162" y="4205039"/>
            <a:ext cx="946670" cy="52075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B3C3FA08-0604-BE08-439B-B18452F23EEE}"/>
              </a:ext>
            </a:extLst>
          </p:cNvPr>
          <p:cNvSpPr txBox="1"/>
          <p:nvPr/>
        </p:nvSpPr>
        <p:spPr>
          <a:xfrm>
            <a:off x="320727" y="2484538"/>
            <a:ext cx="8889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FF0000"/>
                </a:solidFill>
              </a:rPr>
              <a:t>I</a:t>
            </a:r>
            <a:endParaRPr lang="zh-TW" altLang="en-US" sz="2800" dirty="0">
              <a:solidFill>
                <a:srgbClr val="FF0000"/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D9C63FD1-CA70-CDC4-5B5B-7025B19BD664}"/>
              </a:ext>
            </a:extLst>
          </p:cNvPr>
          <p:cNvSpPr txBox="1"/>
          <p:nvPr/>
        </p:nvSpPr>
        <p:spPr>
          <a:xfrm>
            <a:off x="1068581" y="2484538"/>
            <a:ext cx="1104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 err="1">
                <a:solidFill>
                  <a:srgbClr val="00B050"/>
                </a:solidFill>
              </a:rPr>
              <a:t>Iike</a:t>
            </a:r>
            <a:endParaRPr lang="zh-TW" altLang="en-US" sz="2800" dirty="0">
              <a:solidFill>
                <a:srgbClr val="00B050"/>
              </a:solidFill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43EC390-2B03-D7DC-9CD8-F18DB6CA6CA4}"/>
              </a:ext>
            </a:extLst>
          </p:cNvPr>
          <p:cNvSpPr txBox="1"/>
          <p:nvPr/>
        </p:nvSpPr>
        <p:spPr>
          <a:xfrm>
            <a:off x="1957577" y="2479920"/>
            <a:ext cx="1104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solidFill>
                  <a:srgbClr val="0070C0"/>
                </a:solidFill>
              </a:rPr>
              <a:t>you</a:t>
            </a:r>
            <a:endParaRPr lang="zh-TW" altLang="en-US" sz="2800" dirty="0">
              <a:solidFill>
                <a:srgbClr val="0070C0"/>
              </a:solidFill>
            </a:endParaRPr>
          </a:p>
        </p:txBody>
      </p: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66BF0F77-8608-5779-5496-C7E731A8904F}"/>
              </a:ext>
            </a:extLst>
          </p:cNvPr>
          <p:cNvCxnSpPr>
            <a:cxnSpLocks/>
          </p:cNvCxnSpPr>
          <p:nvPr/>
        </p:nvCxnSpPr>
        <p:spPr>
          <a:xfrm>
            <a:off x="4867170" y="2417012"/>
            <a:ext cx="0" cy="9531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0C5C387D-35A3-C185-2174-F0795B2AA59D}"/>
              </a:ext>
            </a:extLst>
          </p:cNvPr>
          <p:cNvCxnSpPr>
            <a:cxnSpLocks/>
          </p:cNvCxnSpPr>
          <p:nvPr/>
        </p:nvCxnSpPr>
        <p:spPr>
          <a:xfrm flipH="1">
            <a:off x="4867170" y="3370163"/>
            <a:ext cx="99868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122A7608-4149-6B68-1A1E-B19CA9947E9E}"/>
              </a:ext>
            </a:extLst>
          </p:cNvPr>
          <p:cNvCxnSpPr>
            <a:cxnSpLocks/>
          </p:cNvCxnSpPr>
          <p:nvPr/>
        </p:nvCxnSpPr>
        <p:spPr>
          <a:xfrm flipV="1">
            <a:off x="4867169" y="3154070"/>
            <a:ext cx="610758" cy="21609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89BAB4ED-F7B7-4BD0-9E5D-B528A9CD4327}"/>
              </a:ext>
            </a:extLst>
          </p:cNvPr>
          <p:cNvCxnSpPr>
            <a:cxnSpLocks/>
          </p:cNvCxnSpPr>
          <p:nvPr/>
        </p:nvCxnSpPr>
        <p:spPr>
          <a:xfrm flipV="1">
            <a:off x="4878997" y="2479920"/>
            <a:ext cx="998688" cy="890244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821E5047-1C6D-B268-6B61-172A5F489C1C}"/>
              </a:ext>
            </a:extLst>
          </p:cNvPr>
          <p:cNvCxnSpPr>
            <a:cxnSpLocks/>
          </p:cNvCxnSpPr>
          <p:nvPr/>
        </p:nvCxnSpPr>
        <p:spPr>
          <a:xfrm>
            <a:off x="5586928" y="4144213"/>
            <a:ext cx="0" cy="12703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AE0EEE6-5011-E712-738D-8BB139715514}"/>
              </a:ext>
            </a:extLst>
          </p:cNvPr>
          <p:cNvCxnSpPr>
            <a:cxnSpLocks/>
          </p:cNvCxnSpPr>
          <p:nvPr/>
        </p:nvCxnSpPr>
        <p:spPr>
          <a:xfrm flipH="1">
            <a:off x="5097401" y="5414554"/>
            <a:ext cx="489527" cy="49380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5D6F6C77-1F20-A072-163B-7F6017DD48CD}"/>
              </a:ext>
            </a:extLst>
          </p:cNvPr>
          <p:cNvCxnSpPr>
            <a:cxnSpLocks/>
          </p:cNvCxnSpPr>
          <p:nvPr/>
        </p:nvCxnSpPr>
        <p:spPr>
          <a:xfrm flipH="1">
            <a:off x="5586928" y="5414554"/>
            <a:ext cx="117301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26394425-5379-85B4-9C34-181967C35310}"/>
              </a:ext>
            </a:extLst>
          </p:cNvPr>
          <p:cNvCxnSpPr>
            <a:cxnSpLocks/>
          </p:cNvCxnSpPr>
          <p:nvPr/>
        </p:nvCxnSpPr>
        <p:spPr>
          <a:xfrm>
            <a:off x="6588886" y="2417012"/>
            <a:ext cx="0" cy="9531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267C1DE8-29F1-5F85-1058-82C362102EFE}"/>
              </a:ext>
            </a:extLst>
          </p:cNvPr>
          <p:cNvCxnSpPr>
            <a:cxnSpLocks/>
          </p:cNvCxnSpPr>
          <p:nvPr/>
        </p:nvCxnSpPr>
        <p:spPr>
          <a:xfrm flipH="1">
            <a:off x="6588886" y="3370163"/>
            <a:ext cx="99868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BE1BC5F5-D2BE-AF36-5144-52BE4EAB03C0}"/>
              </a:ext>
            </a:extLst>
          </p:cNvPr>
          <p:cNvCxnSpPr>
            <a:cxnSpLocks/>
          </p:cNvCxnSpPr>
          <p:nvPr/>
        </p:nvCxnSpPr>
        <p:spPr>
          <a:xfrm flipV="1">
            <a:off x="6588885" y="3154070"/>
            <a:ext cx="610758" cy="21609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線單箭頭接點 62">
            <a:extLst>
              <a:ext uri="{FF2B5EF4-FFF2-40B4-BE49-F238E27FC236}">
                <a16:creationId xmlns:a16="http://schemas.microsoft.com/office/drawing/2014/main" id="{94ACA07D-2371-4461-457F-16C97C14523F}"/>
              </a:ext>
            </a:extLst>
          </p:cNvPr>
          <p:cNvCxnSpPr>
            <a:cxnSpLocks/>
          </p:cNvCxnSpPr>
          <p:nvPr/>
        </p:nvCxnSpPr>
        <p:spPr>
          <a:xfrm flipV="1">
            <a:off x="6600713" y="2138677"/>
            <a:ext cx="522448" cy="1231487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9EBE8CF6-EFBB-DF90-98BA-8FF05C4BA07B}"/>
              </a:ext>
            </a:extLst>
          </p:cNvPr>
          <p:cNvCxnSpPr>
            <a:cxnSpLocks/>
          </p:cNvCxnSpPr>
          <p:nvPr/>
        </p:nvCxnSpPr>
        <p:spPr>
          <a:xfrm flipH="1" flipV="1">
            <a:off x="4951370" y="5162110"/>
            <a:ext cx="635557" cy="252443"/>
          </a:xfrm>
          <a:prstGeom prst="straightConnector1">
            <a:avLst/>
          </a:prstGeom>
          <a:ln w="38100">
            <a:solidFill>
              <a:srgbClr val="00B05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A1A88320-E6B9-5DAB-A223-E2196FA59B10}"/>
              </a:ext>
            </a:extLst>
          </p:cNvPr>
          <p:cNvCxnSpPr>
            <a:cxnSpLocks/>
          </p:cNvCxnSpPr>
          <p:nvPr/>
        </p:nvCxnSpPr>
        <p:spPr>
          <a:xfrm flipV="1">
            <a:off x="5605399" y="4457895"/>
            <a:ext cx="431518" cy="931025"/>
          </a:xfrm>
          <a:prstGeom prst="straightConnector1">
            <a:avLst/>
          </a:prstGeom>
          <a:ln w="381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線單箭頭接點 77">
            <a:extLst>
              <a:ext uri="{FF2B5EF4-FFF2-40B4-BE49-F238E27FC236}">
                <a16:creationId xmlns:a16="http://schemas.microsoft.com/office/drawing/2014/main" id="{4AEEE853-E994-2840-6F1A-0AD311E891A5}"/>
              </a:ext>
            </a:extLst>
          </p:cNvPr>
          <p:cNvCxnSpPr>
            <a:cxnSpLocks/>
          </p:cNvCxnSpPr>
          <p:nvPr/>
        </p:nvCxnSpPr>
        <p:spPr>
          <a:xfrm flipH="1" flipV="1">
            <a:off x="9070258" y="4226108"/>
            <a:ext cx="1158570" cy="438857"/>
          </a:xfrm>
          <a:prstGeom prst="straightConnector1">
            <a:avLst/>
          </a:prstGeom>
          <a:ln w="38100">
            <a:solidFill>
              <a:srgbClr val="FF99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線單箭頭接點 81">
            <a:extLst>
              <a:ext uri="{FF2B5EF4-FFF2-40B4-BE49-F238E27FC236}">
                <a16:creationId xmlns:a16="http://schemas.microsoft.com/office/drawing/2014/main" id="{F74D12CA-A684-71D2-28E5-19A90CB95674}"/>
              </a:ext>
            </a:extLst>
          </p:cNvPr>
          <p:cNvCxnSpPr>
            <a:cxnSpLocks/>
          </p:cNvCxnSpPr>
          <p:nvPr/>
        </p:nvCxnSpPr>
        <p:spPr>
          <a:xfrm flipH="1">
            <a:off x="9070258" y="3915166"/>
            <a:ext cx="505909" cy="297454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箭號: 向右 84">
            <a:extLst>
              <a:ext uri="{FF2B5EF4-FFF2-40B4-BE49-F238E27FC236}">
                <a16:creationId xmlns:a16="http://schemas.microsoft.com/office/drawing/2014/main" id="{DCDD74B5-EAF6-0855-62B6-220BFA5A5248}"/>
              </a:ext>
            </a:extLst>
          </p:cNvPr>
          <p:cNvSpPr/>
          <p:nvPr/>
        </p:nvSpPr>
        <p:spPr>
          <a:xfrm rot="19716041">
            <a:off x="3522179" y="3368854"/>
            <a:ext cx="693310" cy="14108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7" name="箭號: 向右 86">
            <a:extLst>
              <a:ext uri="{FF2B5EF4-FFF2-40B4-BE49-F238E27FC236}">
                <a16:creationId xmlns:a16="http://schemas.microsoft.com/office/drawing/2014/main" id="{89172E35-7D5E-8128-23CC-ECC8B9F400C4}"/>
              </a:ext>
            </a:extLst>
          </p:cNvPr>
          <p:cNvSpPr/>
          <p:nvPr/>
        </p:nvSpPr>
        <p:spPr>
          <a:xfrm rot="1783018">
            <a:off x="3562658" y="4378869"/>
            <a:ext cx="693310" cy="14108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箭號: 向右 88">
            <a:extLst>
              <a:ext uri="{FF2B5EF4-FFF2-40B4-BE49-F238E27FC236}">
                <a16:creationId xmlns:a16="http://schemas.microsoft.com/office/drawing/2014/main" id="{A3EACEEA-808A-BDF5-808C-FBBC114AA96E}"/>
              </a:ext>
            </a:extLst>
          </p:cNvPr>
          <p:cNvSpPr/>
          <p:nvPr/>
        </p:nvSpPr>
        <p:spPr>
          <a:xfrm>
            <a:off x="7956118" y="3885509"/>
            <a:ext cx="693310" cy="14108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5B859E23-4E6B-3A50-3CEA-A8F67D3DF923}"/>
              </a:ext>
            </a:extLst>
          </p:cNvPr>
          <p:cNvSpPr txBox="1"/>
          <p:nvPr/>
        </p:nvSpPr>
        <p:spPr>
          <a:xfrm>
            <a:off x="3013250" y="2781778"/>
            <a:ext cx="1477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W</a:t>
            </a:r>
            <a:r>
              <a:rPr lang="en-US" altLang="zh-TW" sz="1600" dirty="0"/>
              <a:t>Q</a:t>
            </a:r>
            <a:r>
              <a:rPr lang="zh-TW" altLang="en-US" sz="2000" dirty="0"/>
              <a:t>、</a:t>
            </a:r>
            <a:r>
              <a:rPr lang="en-US" altLang="zh-TW" sz="2000" dirty="0"/>
              <a:t>W</a:t>
            </a:r>
            <a:r>
              <a:rPr lang="en-US" altLang="zh-TW" sz="1600" dirty="0"/>
              <a:t>K</a:t>
            </a:r>
            <a:endParaRPr lang="zh-TW" altLang="en-US" sz="2000" dirty="0"/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5B59244E-F22E-CC36-14BC-66AC53DB037F}"/>
              </a:ext>
            </a:extLst>
          </p:cNvPr>
          <p:cNvSpPr txBox="1"/>
          <p:nvPr/>
        </p:nvSpPr>
        <p:spPr>
          <a:xfrm>
            <a:off x="3781533" y="4026053"/>
            <a:ext cx="769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W</a:t>
            </a:r>
            <a:r>
              <a:rPr lang="en-US" altLang="zh-TW" sz="1600" dirty="0"/>
              <a:t>v</a:t>
            </a:r>
            <a:endParaRPr lang="zh-TW" altLang="en-US" sz="2000" dirty="0"/>
          </a:p>
        </p:txBody>
      </p: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4B938595-2C5B-238A-9E96-C607775CD297}"/>
              </a:ext>
            </a:extLst>
          </p:cNvPr>
          <p:cNvCxnSpPr>
            <a:cxnSpLocks/>
          </p:cNvCxnSpPr>
          <p:nvPr/>
        </p:nvCxnSpPr>
        <p:spPr>
          <a:xfrm>
            <a:off x="10261396" y="3618842"/>
            <a:ext cx="2" cy="1050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直線接點 102">
            <a:extLst>
              <a:ext uri="{FF2B5EF4-FFF2-40B4-BE49-F238E27FC236}">
                <a16:creationId xmlns:a16="http://schemas.microsoft.com/office/drawing/2014/main" id="{B8886826-5217-2044-766E-23E091284C1B}"/>
              </a:ext>
            </a:extLst>
          </p:cNvPr>
          <p:cNvCxnSpPr>
            <a:cxnSpLocks/>
          </p:cNvCxnSpPr>
          <p:nvPr/>
        </p:nvCxnSpPr>
        <p:spPr>
          <a:xfrm flipH="1">
            <a:off x="9876077" y="4669583"/>
            <a:ext cx="385321" cy="4369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直線接點 103">
            <a:extLst>
              <a:ext uri="{FF2B5EF4-FFF2-40B4-BE49-F238E27FC236}">
                <a16:creationId xmlns:a16="http://schemas.microsoft.com/office/drawing/2014/main" id="{E034EE20-9C9B-A967-FB5D-10BA556908A0}"/>
              </a:ext>
            </a:extLst>
          </p:cNvPr>
          <p:cNvCxnSpPr>
            <a:cxnSpLocks/>
          </p:cNvCxnSpPr>
          <p:nvPr/>
        </p:nvCxnSpPr>
        <p:spPr>
          <a:xfrm flipH="1">
            <a:off x="10261398" y="4669583"/>
            <a:ext cx="111414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直線單箭頭接點 104">
            <a:extLst>
              <a:ext uri="{FF2B5EF4-FFF2-40B4-BE49-F238E27FC236}">
                <a16:creationId xmlns:a16="http://schemas.microsoft.com/office/drawing/2014/main" id="{2D5DF128-E05C-77D9-8133-DDC3553F357C}"/>
              </a:ext>
            </a:extLst>
          </p:cNvPr>
          <p:cNvCxnSpPr>
            <a:cxnSpLocks/>
          </p:cNvCxnSpPr>
          <p:nvPr/>
        </p:nvCxnSpPr>
        <p:spPr>
          <a:xfrm flipV="1">
            <a:off x="10279868" y="3778868"/>
            <a:ext cx="440763" cy="86750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218F7701-9F2C-1729-5C2E-5B9444796277}"/>
              </a:ext>
            </a:extLst>
          </p:cNvPr>
          <p:cNvCxnSpPr>
            <a:cxnSpLocks/>
          </p:cNvCxnSpPr>
          <p:nvPr/>
        </p:nvCxnSpPr>
        <p:spPr>
          <a:xfrm flipH="1" flipV="1">
            <a:off x="9576167" y="3929524"/>
            <a:ext cx="675994" cy="72570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79A4EEFE-6AF0-422D-FF79-E23D59DCD1DD}"/>
              </a:ext>
            </a:extLst>
          </p:cNvPr>
          <p:cNvCxnSpPr>
            <a:cxnSpLocks/>
          </p:cNvCxnSpPr>
          <p:nvPr/>
        </p:nvCxnSpPr>
        <p:spPr>
          <a:xfrm flipV="1">
            <a:off x="10279870" y="4144212"/>
            <a:ext cx="946670" cy="52075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0EDC0B6F-C438-BF48-AF39-8E147F3A5B96}"/>
              </a:ext>
            </a:extLst>
          </p:cNvPr>
          <p:cNvSpPr txBox="1"/>
          <p:nvPr/>
        </p:nvSpPr>
        <p:spPr>
          <a:xfrm>
            <a:off x="7687047" y="3239342"/>
            <a:ext cx="1477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Attention</a:t>
            </a:r>
            <a:endParaRPr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3024219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E2DC4-8D98-69AF-339E-49BA94C57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14198F-E1ED-3727-3FA8-D71CE3DC8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Muti-Head Attention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07B9674-FF1B-793B-BAB1-F52E16172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9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BCB36514-ABB2-B803-0EBB-B9645D431136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BC1E518-D0B5-8BC6-0289-48ABA2A3B0A4}"/>
              </a:ext>
            </a:extLst>
          </p:cNvPr>
          <p:cNvSpPr txBox="1"/>
          <p:nvPr/>
        </p:nvSpPr>
        <p:spPr>
          <a:xfrm>
            <a:off x="10520218" y="249937"/>
            <a:ext cx="1376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06A3820-FB77-1B3D-B8B1-2C01233EA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023" y="1983983"/>
            <a:ext cx="6096313" cy="1219263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019247DE-2854-BBF0-E755-4067CE5E2A87}"/>
              </a:ext>
            </a:extLst>
          </p:cNvPr>
          <p:cNvSpPr txBox="1"/>
          <p:nvPr/>
        </p:nvSpPr>
        <p:spPr>
          <a:xfrm>
            <a:off x="3667754" y="5661719"/>
            <a:ext cx="68491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Vaswani, A., Shazeer, N., Parmar, N., Uszkoreit, J., Jones, L., Gomez, A. N., ... &amp; Polosukhin, I. (2017). Attention is all you need.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Advances in neural information processing systems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zh-TW" altLang="zh-TW" sz="1200" b="0" i="1" dirty="0">
                <a:solidFill>
                  <a:schemeClr val="tx1"/>
                </a:solidFill>
                <a:effectLst/>
                <a:latin typeface="+mn-lt"/>
              </a:rPr>
              <a:t>30</a:t>
            </a:r>
            <a:r>
              <a:rPr lang="zh-TW" altLang="zh-TW" sz="12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en-US" sz="1200" dirty="0"/>
          </a:p>
        </p:txBody>
      </p:sp>
      <p:pic>
        <p:nvPicPr>
          <p:cNvPr id="83" name="圖片 82">
            <a:extLst>
              <a:ext uri="{FF2B5EF4-FFF2-40B4-BE49-F238E27FC236}">
                <a16:creationId xmlns:a16="http://schemas.microsoft.com/office/drawing/2014/main" id="{E53697AF-A9BC-C073-E2BE-FE7D6F3A7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118" y="1965597"/>
            <a:ext cx="2657400" cy="3463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1671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F7D4C-F91C-5D5C-47C0-664DA6A8C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E2FAF-7FA5-AC6D-1828-1E0B79411D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67356"/>
            <a:ext cx="9144000" cy="723287"/>
          </a:xfrm>
        </p:spPr>
        <p:txBody>
          <a:bodyPr>
            <a:noAutofit/>
          </a:bodyPr>
          <a:lstStyle/>
          <a:p>
            <a:r>
              <a:rPr lang="en-US" altLang="zh-TW" sz="4800" dirty="0"/>
              <a:t>Motivation</a:t>
            </a:r>
            <a:endParaRPr lang="zh-TW" altLang="en-US" sz="4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5C4C7-EB28-328D-C98B-42D5E3AB9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10</a:t>
            </a:fld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77585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2AAF2-A734-EA1E-8A86-08EC3E1D0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0BF496-2C4B-ACF8-199B-590995EB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/>
              <a:t>Why Deep Learning Struggles with Tabular Data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6104C2-6720-C677-76C9-98690DC05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11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533C0F00-8A63-787C-FE95-BADE2D8EB426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91CF346-E2D4-F109-BE03-05B9B48BE208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Motivation</a:t>
            </a:r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9DC9BB0-39C5-6F58-C145-F9CFF55741E9}"/>
              </a:ext>
            </a:extLst>
          </p:cNvPr>
          <p:cNvSpPr txBox="1"/>
          <p:nvPr/>
        </p:nvSpPr>
        <p:spPr>
          <a:xfrm>
            <a:off x="838200" y="1674827"/>
            <a:ext cx="1085503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Heterogeneous Feature Space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Composed of diverse data types (continuous, categorical, and ordinal) drawn from entirely different distributions.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No inherent spatial or sequential structure, unlike images or text.</a:t>
            </a:r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Arbitrary Column Ordering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Column order carries no semantic meaning.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Models must be strictly </a:t>
            </a: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permutation-equivariant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 to yield consistent outputs</a:t>
            </a:r>
            <a:r>
              <a:rPr lang="en-US" altLang="zh-TW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zh-TW" sz="1400" b="0" i="0" dirty="0">
              <a:solidFill>
                <a:srgbClr val="C7C7C7"/>
              </a:solidFill>
              <a:effectLst/>
              <a:latin typeface="Google Sans Text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111B139-2B7E-496A-2B33-943598C344EA}"/>
              </a:ext>
            </a:extLst>
          </p:cNvPr>
          <p:cNvSpPr txBox="1"/>
          <p:nvPr/>
        </p:nvSpPr>
        <p:spPr>
          <a:xfrm>
            <a:off x="838200" y="6123543"/>
            <a:ext cx="40426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Image source : </a:t>
            </a:r>
            <a:r>
              <a:rPr lang="zh-TW" altLang="en-US" dirty="0"/>
              <a:t>https://reurl.cc/5XRxpn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209BBE40-72E6-CB13-A074-E4EE22FA6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9490" y="4623891"/>
            <a:ext cx="1131911" cy="1499652"/>
          </a:xfrm>
          <a:prstGeom prst="rect">
            <a:avLst/>
          </a:prstGeom>
        </p:spPr>
      </p:pic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DB10467E-26C6-C70B-394E-B273F06DE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193544"/>
              </p:ext>
            </p:extLst>
          </p:nvPr>
        </p:nvGraphicFramePr>
        <p:xfrm>
          <a:off x="5310910" y="4521056"/>
          <a:ext cx="552334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115">
                  <a:extLst>
                    <a:ext uri="{9D8B030D-6E8A-4147-A177-3AD203B41FA5}">
                      <a16:colId xmlns:a16="http://schemas.microsoft.com/office/drawing/2014/main" val="2337867303"/>
                    </a:ext>
                  </a:extLst>
                </a:gridCol>
                <a:gridCol w="1841115">
                  <a:extLst>
                    <a:ext uri="{9D8B030D-6E8A-4147-A177-3AD203B41FA5}">
                      <a16:colId xmlns:a16="http://schemas.microsoft.com/office/drawing/2014/main" val="473245226"/>
                    </a:ext>
                  </a:extLst>
                </a:gridCol>
                <a:gridCol w="1841115">
                  <a:extLst>
                    <a:ext uri="{9D8B030D-6E8A-4147-A177-3AD203B41FA5}">
                      <a16:colId xmlns:a16="http://schemas.microsoft.com/office/drawing/2014/main" val="20609233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solidFill>
                            <a:schemeClr val="tx1"/>
                          </a:solidFill>
                        </a:rPr>
                        <a:t>height</a:t>
                      </a:r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solidFill>
                            <a:schemeClr val="tx1"/>
                          </a:solidFill>
                        </a:rPr>
                        <a:t>blood type</a:t>
                      </a:r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Pain intensity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9605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170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Mild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4025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180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moderate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9497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155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O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severe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585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160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AB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severe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378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0378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CFE7F-7A56-C434-83F0-DC63BA64B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E2F850-6B9A-4629-E254-88837838B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/>
              <a:t>The Interpretability and Robustness Gap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FD381A-9C22-5AF2-CF2E-5103FF44C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12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1635F598-FDC3-0974-C718-E96A0E3AFFF0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10CF224-B0B7-168A-DA74-4D1E6E948BDE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Motivation</a:t>
            </a:r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19A6933-E293-F26E-CAAE-BFE570C8B2FB}"/>
              </a:ext>
            </a:extLst>
          </p:cNvPr>
          <p:cNvSpPr txBox="1"/>
          <p:nvPr/>
        </p:nvSpPr>
        <p:spPr>
          <a:xfrm>
            <a:off x="838200" y="1719683"/>
            <a:ext cx="105156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The "Black-Box" Adoption Barrier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Although deep learning matches tree-based SOTA models (e.g., GBDTs), real-world adoption is limited by a lack of transparency.</a:t>
            </a:r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zh-TW" sz="2000" dirty="0"/>
              <a:t>Current attention-based solutions often fail to balance model capacity with clear, dual-level explanations.</a:t>
            </a:r>
            <a:endParaRPr lang="zh-TW" altLang="zh-TW" sz="1400" dirty="0">
              <a:solidFill>
                <a:srgbClr val="C7C7C7"/>
              </a:solidFill>
              <a:latin typeface="Google Sans Text"/>
            </a:endParaRPr>
          </a:p>
          <a:p>
            <a:pPr lvl="1" algn="l"/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Modeling Complex Interactions Robustly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Existing models struggle to remain robust against uninformative features while learning irregular target functions.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541CB57-F584-A683-BBC1-BD21DAB74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7464" y="5188268"/>
            <a:ext cx="1745570" cy="118871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3CA8E22C-0CE5-36EB-C99D-C38073BE8A50}"/>
              </a:ext>
            </a:extLst>
          </p:cNvPr>
          <p:cNvSpPr txBox="1"/>
          <p:nvPr/>
        </p:nvSpPr>
        <p:spPr>
          <a:xfrm>
            <a:off x="6999551" y="4860787"/>
            <a:ext cx="1745570" cy="369332"/>
          </a:xfrm>
          <a:prstGeom prst="rect">
            <a:avLst/>
          </a:prstGeom>
          <a:noFill/>
          <a:ln w="38100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b="1" dirty="0"/>
              <a:t>Performance</a:t>
            </a:r>
            <a:endParaRPr lang="en-US" altLang="zh-TW" b="1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011879E-9F3D-F76E-FF2A-2F8FF3F1F47F}"/>
              </a:ext>
            </a:extLst>
          </p:cNvPr>
          <p:cNvSpPr txBox="1"/>
          <p:nvPr/>
        </p:nvSpPr>
        <p:spPr>
          <a:xfrm>
            <a:off x="9155377" y="4860787"/>
            <a:ext cx="1745570" cy="369332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b="1" dirty="0"/>
              <a:t>Interpretability</a:t>
            </a:r>
            <a:endParaRPr lang="en-US" altLang="zh-TW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E188F51-E70A-18D7-71C1-889642EA30B4}"/>
              </a:ext>
            </a:extLst>
          </p:cNvPr>
          <p:cNvSpPr txBox="1"/>
          <p:nvPr/>
        </p:nvSpPr>
        <p:spPr>
          <a:xfrm>
            <a:off x="8451698" y="6352143"/>
            <a:ext cx="2449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345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60BC8-AFFF-2B0A-5E29-97AA307EA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D74699-E206-F6B6-2492-41F622A3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/>
              <a:t>Unifying Local and Global Perspectives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DB0732C-D11E-329B-BED4-FC0C32441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13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B5341788-41E2-A5B9-D590-6A3D64D713D2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8CEE69E-6F39-EC5F-B344-A56B338B6CFD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Motivation</a:t>
            </a:r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B532254-C84D-159B-63C2-5C3844BD3CC3}"/>
              </a:ext>
            </a:extLst>
          </p:cNvPr>
          <p:cNvSpPr txBox="1"/>
          <p:nvPr/>
        </p:nvSpPr>
        <p:spPr>
          <a:xfrm>
            <a:off x="593559" y="1955145"/>
            <a:ext cx="649304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Dual Structure of Tabular Patterns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Local Level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: Instance-specific, fine-grained feature interactions unique to individual samples.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Global Level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: Dataset-wide, population-level statistical dependencies consistent across all samples.</a:t>
            </a:r>
            <a:endParaRPr lang="en-US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The Research Gap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Integrating multi-scale (local and global) attention in tabular learning remains </a:t>
            </a:r>
            <a:r>
              <a:rPr lang="zh-TW" altLang="zh-TW" sz="2000" i="0" dirty="0">
                <a:solidFill>
                  <a:schemeClr val="tx1"/>
                </a:solidFill>
                <a:effectLst/>
                <a:latin typeface="+mn-lt"/>
              </a:rPr>
              <a:t>underexplored</a:t>
            </a: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zh-TW" sz="2000" b="0" i="0" dirty="0">
                <a:solidFill>
                  <a:schemeClr val="tx1"/>
                </a:solidFill>
                <a:effectLst/>
                <a:latin typeface="+mn-lt"/>
              </a:rPr>
              <a:t>Traditional methods process attention independently, missing </a:t>
            </a:r>
            <a:r>
              <a:rPr lang="zh-TW" altLang="zh-TW" sz="2000" b="1" i="0" dirty="0">
                <a:solidFill>
                  <a:schemeClr val="tx1"/>
                </a:solidFill>
                <a:effectLst/>
                <a:latin typeface="+mn-lt"/>
              </a:rPr>
              <a:t>cross-scale interactions</a:t>
            </a:r>
            <a:r>
              <a:rPr lang="en-US" altLang="zh-TW" sz="20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zh-TW" altLang="zh-TW" sz="2000" b="0" i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buNone/>
            </a:pPr>
            <a:br>
              <a:rPr lang="zh-TW" altLang="zh-TW" sz="2000" dirty="0"/>
            </a:br>
            <a:endParaRPr lang="zh-TW" altLang="en-US" sz="2000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51797EB9-587D-30AA-74E4-9CC76D942206}"/>
              </a:ext>
            </a:extLst>
          </p:cNvPr>
          <p:cNvSpPr/>
          <p:nvPr/>
        </p:nvSpPr>
        <p:spPr>
          <a:xfrm>
            <a:off x="7424579" y="2149642"/>
            <a:ext cx="2265946" cy="2189915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BF83C6B0-1B7C-1917-6549-524BE9663982}"/>
              </a:ext>
            </a:extLst>
          </p:cNvPr>
          <p:cNvSpPr/>
          <p:nvPr/>
        </p:nvSpPr>
        <p:spPr>
          <a:xfrm>
            <a:off x="9280358" y="2149642"/>
            <a:ext cx="2265946" cy="218991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4A2B7C3D-E41E-65FF-2576-544DD99FA372}"/>
              </a:ext>
            </a:extLst>
          </p:cNvPr>
          <p:cNvSpPr txBox="1"/>
          <p:nvPr/>
        </p:nvSpPr>
        <p:spPr>
          <a:xfrm>
            <a:off x="8016547" y="3000261"/>
            <a:ext cx="1118337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b="1" dirty="0"/>
              <a:t>Local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2C4D7DF2-CD96-68DD-6D4C-0994C15CF3D3}"/>
              </a:ext>
            </a:extLst>
          </p:cNvPr>
          <p:cNvSpPr txBox="1"/>
          <p:nvPr/>
        </p:nvSpPr>
        <p:spPr>
          <a:xfrm>
            <a:off x="9872326" y="3000260"/>
            <a:ext cx="1118337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b="1" dirty="0"/>
              <a:t>Global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A68C08F-37B5-DF2B-0A8F-9E9C496DDEC8}"/>
              </a:ext>
            </a:extLst>
          </p:cNvPr>
          <p:cNvSpPr txBox="1"/>
          <p:nvPr/>
        </p:nvSpPr>
        <p:spPr>
          <a:xfrm>
            <a:off x="7787716" y="5117121"/>
            <a:ext cx="3566084" cy="461665"/>
          </a:xfrm>
          <a:prstGeom prst="rect">
            <a:avLst/>
          </a:prstGeom>
          <a:noFill/>
          <a:ln w="38100"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TW" altLang="zh-TW" sz="2400" b="1" i="0" dirty="0">
                <a:solidFill>
                  <a:schemeClr val="tx1"/>
                </a:solidFill>
                <a:effectLst/>
                <a:latin typeface="+mn-lt"/>
              </a:rPr>
              <a:t>Cross-Attention Fusion</a:t>
            </a: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456117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B8091-F1C8-292B-0CB4-D3785A501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A416F-0D67-AE23-4791-E926514292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67356"/>
            <a:ext cx="9144000" cy="723287"/>
          </a:xfrm>
        </p:spPr>
        <p:txBody>
          <a:bodyPr>
            <a:noAutofit/>
          </a:bodyPr>
          <a:lstStyle/>
          <a:p>
            <a:r>
              <a:rPr lang="en-US" altLang="zh-TW" sz="4800" dirty="0"/>
              <a:t>Methods</a:t>
            </a:r>
            <a:endParaRPr lang="zh-TW" altLang="en-US" sz="4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6262F-3E4A-DE90-69E4-179A4A43D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14</a:t>
            </a:fld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755917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FE74-9389-B381-24CE-432EB509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2CFBF-EC25-6A96-D8FB-C9BB45021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sz="4000" dirty="0"/>
              <a:t>Feature embedding block</a:t>
            </a:r>
            <a:endParaRPr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77E38D-3141-FC0A-8B1E-D09BB5B33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27B4A2-F224-402A-B571-E032C14CF34B}" type="slidenum">
              <a:rPr lang="zh-TW" altLang="en-US" sz="1600" smtClean="0"/>
              <a:t>15</a:t>
            </a:fld>
            <a:endParaRPr lang="zh-TW" altLang="en-US" sz="1600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4731D854-4FE0-A966-E791-FBEEB90EE004}"/>
              </a:ext>
            </a:extLst>
          </p:cNvPr>
          <p:cNvCxnSpPr>
            <a:cxnSpLocks/>
          </p:cNvCxnSpPr>
          <p:nvPr/>
        </p:nvCxnSpPr>
        <p:spPr>
          <a:xfrm>
            <a:off x="10520218" y="637308"/>
            <a:ext cx="1376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4363C94-098E-6F81-227D-4BE663543C9E}"/>
              </a:ext>
            </a:extLst>
          </p:cNvPr>
          <p:cNvSpPr txBox="1"/>
          <p:nvPr/>
        </p:nvSpPr>
        <p:spPr>
          <a:xfrm>
            <a:off x="10520217" y="249937"/>
            <a:ext cx="1376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Methods</a:t>
            </a:r>
            <a:endParaRPr lang="zh-TW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E39ED3D3-6509-B9E4-39CD-2248554AC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945675"/>
              </p:ext>
            </p:extLst>
          </p:nvPr>
        </p:nvGraphicFramePr>
        <p:xfrm>
          <a:off x="8118764" y="1901174"/>
          <a:ext cx="3629889" cy="31913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9963">
                  <a:extLst>
                    <a:ext uri="{9D8B030D-6E8A-4147-A177-3AD203B41FA5}">
                      <a16:colId xmlns:a16="http://schemas.microsoft.com/office/drawing/2014/main" val="2337867303"/>
                    </a:ext>
                  </a:extLst>
                </a:gridCol>
                <a:gridCol w="1209963">
                  <a:extLst>
                    <a:ext uri="{9D8B030D-6E8A-4147-A177-3AD203B41FA5}">
                      <a16:colId xmlns:a16="http://schemas.microsoft.com/office/drawing/2014/main" val="473245226"/>
                    </a:ext>
                  </a:extLst>
                </a:gridCol>
                <a:gridCol w="1209963">
                  <a:extLst>
                    <a:ext uri="{9D8B030D-6E8A-4147-A177-3AD203B41FA5}">
                      <a16:colId xmlns:a16="http://schemas.microsoft.com/office/drawing/2014/main" val="2060923356"/>
                    </a:ext>
                  </a:extLst>
                </a:gridCol>
              </a:tblGrid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1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9605375"/>
                  </a:ext>
                </a:extLst>
              </a:tr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4025830"/>
                  </a:ext>
                </a:extLst>
              </a:tr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9497964"/>
                  </a:ext>
                </a:extLst>
              </a:tr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585209"/>
                  </a:ext>
                </a:extLst>
              </a:tr>
              <a:tr h="638262"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zh-TW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378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1422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3301</TotalTime>
  <Words>702</Words>
  <Application>Microsoft Office PowerPoint</Application>
  <PresentationFormat>寬螢幕</PresentationFormat>
  <Paragraphs>230</Paragraphs>
  <Slides>15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1" baseType="lpstr">
      <vt:lpstr>Google Sans Text</vt:lpstr>
      <vt:lpstr>標楷體</vt:lpstr>
      <vt:lpstr>Aptos</vt:lpstr>
      <vt:lpstr>Aptos Display</vt:lpstr>
      <vt:lpstr>Arial</vt:lpstr>
      <vt:lpstr>Office Theme</vt:lpstr>
      <vt:lpstr>Fusing global attention and self-attention for better performance and interpretability on tabular data</vt:lpstr>
      <vt:lpstr>Outline</vt:lpstr>
      <vt:lpstr>Background</vt:lpstr>
      <vt:lpstr>Embedding </vt:lpstr>
      <vt:lpstr>Query, Key &amp; Value </vt:lpstr>
      <vt:lpstr>Attention (1)</vt:lpstr>
      <vt:lpstr>Attention (2)</vt:lpstr>
      <vt:lpstr>Concept</vt:lpstr>
      <vt:lpstr>Muti-Head Attention</vt:lpstr>
      <vt:lpstr>Motivation</vt:lpstr>
      <vt:lpstr>Why Deep Learning Struggles with Tabular Data</vt:lpstr>
      <vt:lpstr>The Interpretability and Robustness Gap</vt:lpstr>
      <vt:lpstr>Unifying Local and Global Perspectives</vt:lpstr>
      <vt:lpstr>Methods</vt:lpstr>
      <vt:lpstr>Feature embedding block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賴俊延</dc:creator>
  <cp:lastModifiedBy>俊延 賴</cp:lastModifiedBy>
  <cp:revision>11</cp:revision>
  <dcterms:created xsi:type="dcterms:W3CDTF">2026-09-03T04:49:20Z</dcterms:created>
  <dcterms:modified xsi:type="dcterms:W3CDTF">2026-09-12T04:48:57Z</dcterms:modified>
</cp:coreProperties>
</file>